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3" r:id="rId1"/>
  </p:sldMasterIdLst>
  <p:notesMasterIdLst>
    <p:notesMasterId r:id="rId56"/>
  </p:notesMasterIdLst>
  <p:sldIdLst>
    <p:sldId id="260" r:id="rId2"/>
    <p:sldId id="371" r:id="rId3"/>
    <p:sldId id="349" r:id="rId4"/>
    <p:sldId id="348" r:id="rId5"/>
    <p:sldId id="347" r:id="rId6"/>
    <p:sldId id="350" r:id="rId7"/>
    <p:sldId id="351" r:id="rId8"/>
    <p:sldId id="352" r:id="rId9"/>
    <p:sldId id="304" r:id="rId10"/>
    <p:sldId id="340" r:id="rId11"/>
    <p:sldId id="353" r:id="rId12"/>
    <p:sldId id="276" r:id="rId13"/>
    <p:sldId id="372" r:id="rId14"/>
    <p:sldId id="286" r:id="rId15"/>
    <p:sldId id="284" r:id="rId16"/>
    <p:sldId id="287" r:id="rId17"/>
    <p:sldId id="288" r:id="rId18"/>
    <p:sldId id="289" r:id="rId19"/>
    <p:sldId id="290" r:id="rId20"/>
    <p:sldId id="291" r:id="rId21"/>
    <p:sldId id="332" r:id="rId22"/>
    <p:sldId id="321" r:id="rId23"/>
    <p:sldId id="318" r:id="rId24"/>
    <p:sldId id="293" r:id="rId25"/>
    <p:sldId id="323" r:id="rId26"/>
    <p:sldId id="359" r:id="rId27"/>
    <p:sldId id="356" r:id="rId28"/>
    <p:sldId id="357" r:id="rId29"/>
    <p:sldId id="360" r:id="rId30"/>
    <p:sldId id="373" r:id="rId31"/>
    <p:sldId id="319" r:id="rId32"/>
    <p:sldId id="320" r:id="rId33"/>
    <p:sldId id="294" r:id="rId34"/>
    <p:sldId id="299" r:id="rId35"/>
    <p:sldId id="295" r:id="rId36"/>
    <p:sldId id="296" r:id="rId37"/>
    <p:sldId id="297" r:id="rId38"/>
    <p:sldId id="298" r:id="rId39"/>
    <p:sldId id="309" r:id="rId40"/>
    <p:sldId id="308" r:id="rId41"/>
    <p:sldId id="307" r:id="rId42"/>
    <p:sldId id="374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61" r:id="rId53"/>
    <p:sldId id="334" r:id="rId54"/>
    <p:sldId id="37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AEFF"/>
    <a:srgbClr val="D5FDA9"/>
    <a:srgbClr val="73FCD6"/>
    <a:srgbClr val="FFD8FF"/>
    <a:srgbClr val="FF80A9"/>
    <a:srgbClr val="38D3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00"/>
    <p:restoredTop sz="96327"/>
  </p:normalViewPr>
  <p:slideViewPr>
    <p:cSldViewPr snapToGrid="0">
      <p:cViewPr varScale="1">
        <p:scale>
          <a:sx n="127" d="100"/>
          <a:sy n="127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220E8-7F3B-4046-A3C2-A5856C7B74F4}" type="datetimeFigureOut">
              <a:rPr kumimoji="1" lang="zh-CN" altLang="en-US" smtClean="0"/>
              <a:t>2025/7/22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8F944-35E0-5547-8F2E-95CABEDAEC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502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077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4475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73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617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863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8960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852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68F6-2733-F34B-BC36-4BA2A4D1F2F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627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313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941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877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001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542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34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46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46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985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5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1618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1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1.png"/><Relationship Id="rId5" Type="http://schemas.openxmlformats.org/officeDocument/2006/relationships/image" Target="../media/image1510.png"/><Relationship Id="rId4" Type="http://schemas.openxmlformats.org/officeDocument/2006/relationships/image" Target="../media/image1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0.png"/><Relationship Id="rId5" Type="http://schemas.openxmlformats.org/officeDocument/2006/relationships/image" Target="../media/image16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9" Type="http://schemas.openxmlformats.org/officeDocument/2006/relationships/image" Target="../media/image30.pn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3.png"/><Relationship Id="rId9" Type="http://schemas.openxmlformats.org/officeDocument/2006/relationships/image" Target="../media/image30.pn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9" Type="http://schemas.openxmlformats.org/officeDocument/2006/relationships/image" Target="../media/image30.png"/><Relationship Id="rId1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9" Type="http://schemas.openxmlformats.org/officeDocument/2006/relationships/image" Target="../media/image35.png"/><Relationship Id="rId1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24.png"/><Relationship Id="rId7" Type="http://schemas.openxmlformats.org/officeDocument/2006/relationships/image" Target="../media/image3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0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66.png"/><Relationship Id="rId3" Type="http://schemas.openxmlformats.org/officeDocument/2006/relationships/image" Target="../media/image64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63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65.png"/><Relationship Id="rId1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67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0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69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68.png"/><Relationship Id="rId9" Type="http://schemas.openxmlformats.org/officeDocument/2006/relationships/image" Target="../media/image70.png"/><Relationship Id="rId1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71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74.png"/><Relationship Id="rId10" Type="http://schemas.openxmlformats.org/officeDocument/2006/relationships/image" Target="../media/image55.png"/><Relationship Id="rId4" Type="http://schemas.openxmlformats.org/officeDocument/2006/relationships/image" Target="../media/image72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3.png"/><Relationship Id="rId21" Type="http://schemas.openxmlformats.org/officeDocument/2006/relationships/image" Target="../media/image10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2.png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2.png"/><Relationship Id="rId21" Type="http://schemas.openxmlformats.org/officeDocument/2006/relationships/image" Target="../media/image104.png"/><Relationship Id="rId7" Type="http://schemas.openxmlformats.org/officeDocument/2006/relationships/image" Target="../media/image85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102.png"/><Relationship Id="rId16" Type="http://schemas.openxmlformats.org/officeDocument/2006/relationships/image" Target="../media/image97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92.png"/><Relationship Id="rId5" Type="http://schemas.openxmlformats.org/officeDocument/2006/relationships/image" Target="../media/image83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101.png"/><Relationship Id="rId9" Type="http://schemas.openxmlformats.org/officeDocument/2006/relationships/image" Target="../media/image87.png"/><Relationship Id="rId14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01.png"/><Relationship Id="rId21" Type="http://schemas.openxmlformats.org/officeDocument/2006/relationships/image" Target="../media/image107.png"/><Relationship Id="rId7" Type="http://schemas.openxmlformats.org/officeDocument/2006/relationships/image" Target="../media/image85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2.png"/><Relationship Id="rId16" Type="http://schemas.openxmlformats.org/officeDocument/2006/relationships/image" Target="../media/image97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92.png"/><Relationship Id="rId5" Type="http://schemas.openxmlformats.org/officeDocument/2006/relationships/image" Target="../media/image83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105.png"/><Relationship Id="rId9" Type="http://schemas.openxmlformats.org/officeDocument/2006/relationships/image" Target="../media/image87.png"/><Relationship Id="rId14" Type="http://schemas.openxmlformats.org/officeDocument/2006/relationships/image" Target="../media/image9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108.png"/><Relationship Id="rId7" Type="http://schemas.openxmlformats.org/officeDocument/2006/relationships/image" Target="../media/image86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2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3.png"/><Relationship Id="rId5" Type="http://schemas.openxmlformats.org/officeDocument/2006/relationships/image" Target="../media/image84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3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5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109.png"/><Relationship Id="rId16" Type="http://schemas.openxmlformats.org/officeDocument/2006/relationships/image" Target="../media/image99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4.png"/><Relationship Id="rId5" Type="http://schemas.openxmlformats.org/officeDocument/2006/relationships/image" Target="../media/image85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6.png"/><Relationship Id="rId4" Type="http://schemas.openxmlformats.org/officeDocument/2006/relationships/image" Target="../media/image84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5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110.png"/><Relationship Id="rId16" Type="http://schemas.openxmlformats.org/officeDocument/2006/relationships/image" Target="../media/image99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4.png"/><Relationship Id="rId5" Type="http://schemas.openxmlformats.org/officeDocument/2006/relationships/image" Target="../media/image85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6.png"/><Relationship Id="rId4" Type="http://schemas.openxmlformats.org/officeDocument/2006/relationships/image" Target="../media/image84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5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111.png"/><Relationship Id="rId16" Type="http://schemas.openxmlformats.org/officeDocument/2006/relationships/image" Target="../media/image99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4.png"/><Relationship Id="rId5" Type="http://schemas.openxmlformats.org/officeDocument/2006/relationships/image" Target="../media/image85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6.png"/><Relationship Id="rId4" Type="http://schemas.openxmlformats.org/officeDocument/2006/relationships/image" Target="../media/image84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64BAC94-E1A3-BE7A-0D92-348A35C38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8490" y="853461"/>
            <a:ext cx="10448004" cy="3592432"/>
          </a:xfrm>
        </p:spPr>
        <p:txBody>
          <a:bodyPr>
            <a:noAutofit/>
          </a:bodyPr>
          <a:lstStyle/>
          <a:p>
            <a:pPr algn="l"/>
            <a: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Parameterized</a:t>
            </a:r>
            <a:b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</a:br>
            <a: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Inapproximability for Min-CSP: </a:t>
            </a:r>
            <a:b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</a:br>
            <a: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From </a:t>
            </a:r>
            <a:r>
              <a:rPr lang="en-US" altLang="zh-CN" sz="4800" cap="none" dirty="0">
                <a:solidFill>
                  <a:srgbClr val="00B0F0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Baby PIH </a:t>
            </a:r>
            <a:r>
              <a:rPr lang="en-US" altLang="zh-CN" sz="4800" i="0" cap="none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to </a:t>
            </a:r>
            <a:r>
              <a:rPr lang="en-US" altLang="zh-CN" sz="4800" cap="none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Average Baby PIH</a:t>
            </a:r>
            <a:endParaRPr kumimoji="1" lang="zh-CN" altLang="en-US" sz="41300" cap="none" dirty="0">
              <a:solidFill>
                <a:srgbClr val="7030A0"/>
              </a:solidFill>
              <a:latin typeface="Rockwell" panose="02060603020205020403" pitchFamily="18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副标题 2">
            <a:extLst>
              <a:ext uri="{FF2B5EF4-FFF2-40B4-BE49-F238E27FC236}">
                <a16:creationId xmlns:a16="http://schemas.microsoft.com/office/drawing/2014/main" id="{D370C83C-115E-A686-2A24-AE7CE9F3EE4F}"/>
              </a:ext>
            </a:extLst>
          </p:cNvPr>
          <p:cNvSpPr txBox="1">
            <a:spLocks/>
          </p:cNvSpPr>
          <p:nvPr/>
        </p:nvSpPr>
        <p:spPr>
          <a:xfrm>
            <a:off x="973596" y="5179464"/>
            <a:ext cx="2217516" cy="108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600"/>
              </a:spcAft>
              <a:buFont typeface="Calibri" panose="020F0502020204030204" pitchFamily="34" charset="0"/>
              <a:buNone/>
            </a:pPr>
            <a:r>
              <a:rPr kumimoji="1" lang="en-US" altLang="zh-CN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Xuandi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Ren</a:t>
            </a:r>
            <a:b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cs typeface="Calibri" panose="020F0502020204030204" pitchFamily="34" charset="0"/>
              </a:rPr>
            </a:br>
            <a:r>
              <a:rPr kumimoji="1" lang="en-US" altLang="zh-CN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cs typeface="Calibri" panose="020F0502020204030204" pitchFamily="34" charset="0"/>
              </a:rPr>
              <a:t>UC Berkeley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21F49F-37DC-B428-8011-249351E25976}"/>
              </a:ext>
            </a:extLst>
          </p:cNvPr>
          <p:cNvSpPr txBox="1"/>
          <p:nvPr/>
        </p:nvSpPr>
        <p:spPr>
          <a:xfrm>
            <a:off x="3780762" y="5215095"/>
            <a:ext cx="55610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i="0" dirty="0">
                <a:solidFill>
                  <a:srgbClr val="444444"/>
                </a:solidFill>
                <a:effectLst/>
                <a:latin typeface="Cambria" panose="02040503050406030204" pitchFamily="18" charset="0"/>
              </a:rPr>
              <a:t>Workshop on Hardness of Approximation in P</a:t>
            </a:r>
          </a:p>
          <a:p>
            <a:pPr algn="ctr"/>
            <a:r>
              <a:rPr lang="en-US" altLang="zh-CN" sz="2000" b="1" dirty="0">
                <a:solidFill>
                  <a:srgbClr val="444444"/>
                </a:solidFill>
                <a:latin typeface="Cambria" panose="02040503050406030204" pitchFamily="18" charset="0"/>
              </a:rPr>
              <a:t>@DIMACS,</a:t>
            </a:r>
            <a:r>
              <a:rPr lang="zh-CN" altLang="en-US" sz="2000" b="1" dirty="0">
                <a:solidFill>
                  <a:srgbClr val="444444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b="1" dirty="0">
                <a:solidFill>
                  <a:srgbClr val="444444"/>
                </a:solidFill>
                <a:latin typeface="Cambria" panose="02040503050406030204" pitchFamily="18" charset="0"/>
              </a:rPr>
              <a:t>Rutgers</a:t>
            </a:r>
            <a:endParaRPr lang="en-US" altLang="zh-CN" sz="2000" b="1" i="0" dirty="0">
              <a:solidFill>
                <a:srgbClr val="444444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01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855D-7C83-C7EE-C190-50442905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>
                <a:latin typeface="Cambria" panose="02040503050406030204" pitchFamily="18" charset="0"/>
              </a:rPr>
              <a:t>Background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Complexity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Constraint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Satisfaction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Problem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(CSP)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Inapproximability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Hypothesis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(PIH)</a:t>
            </a:r>
          </a:p>
          <a:p>
            <a:pPr lvl="1"/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From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to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Average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</a:p>
          <a:p>
            <a:pPr marL="274320" lvl="1" indent="0">
              <a:buNone/>
            </a:pPr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Proof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Overview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Average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</p:txBody>
      </p:sp>
    </p:spTree>
    <p:extLst>
      <p:ext uri="{BB962C8B-B14F-4D97-AF65-F5344CB8AC3E}">
        <p14:creationId xmlns:p14="http://schemas.microsoft.com/office/powerpoint/2010/main" val="1902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855D-7C83-C7EE-C190-50442905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Background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Complexity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Constraint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Satisfaction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Problem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(CSP)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Inapproximability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Hypothesis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(PIH)</a:t>
            </a:r>
          </a:p>
          <a:p>
            <a:pPr lvl="1"/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From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to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Average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</a:p>
          <a:p>
            <a:pPr marL="274320" lvl="1" indent="0">
              <a:buNone/>
            </a:pPr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Proof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Overview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Average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</p:txBody>
      </p:sp>
    </p:spTree>
    <p:extLst>
      <p:ext uri="{BB962C8B-B14F-4D97-AF65-F5344CB8AC3E}">
        <p14:creationId xmlns:p14="http://schemas.microsoft.com/office/powerpoint/2010/main" val="355173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spc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Complexity</a:t>
            </a:r>
            <a:endParaRPr kumimoji="1" lang="zh-CN" altLang="en-US" sz="3600" cap="none" spc="0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B83A4B-3882-1A06-F15C-5B4AC0E91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42573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Associate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each instance </a:t>
                </a:r>
                <a14:m>
                  <m:oMath xmlns:m="http://schemas.openxmlformats.org/officeDocument/2006/math"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with a parameter </a:t>
                </a:r>
                <a14:m>
                  <m:oMath xmlns:m="http://schemas.openxmlformats.org/officeDocument/2006/math"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kumimoji="1" lang="en-US" altLang="zh-CN" sz="20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18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≪|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Measure complexity over </a:t>
                </a:r>
                <a14:m>
                  <m:oMath xmlns:m="http://schemas.openxmlformats.org/officeDocument/2006/math">
                    <m:r>
                      <a:rPr kumimoji="1" lang="en-US" altLang="zh-CN" sz="1800" i="1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b="0" i="0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18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</a:t>
                </a:r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FPT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(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ixed-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arameter 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ractable,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Analogue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of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):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Problems that</a:t>
                </a:r>
                <a:r>
                  <a:rPr kumimoji="1" lang="zh-CN" altLang="en-US" sz="18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admit </a:t>
                </a:r>
                <a14:m>
                  <m:oMath xmlns:m="http://schemas.openxmlformats.org/officeDocument/2006/math">
                    <m:r>
                      <a:rPr kumimoji="1" lang="en-US" altLang="zh-CN" sz="1800" b="0" i="1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1800" b="0" i="1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1800" b="0" i="1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sSup>
                      <m:sSupPr>
                        <m:ctrlPr>
                          <a:rPr kumimoji="1" lang="en-US" altLang="zh-CN" sz="18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18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sz="18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 algorithms for some computable function </a:t>
                </a:r>
                <a14:m>
                  <m:oMath xmlns:m="http://schemas.openxmlformats.org/officeDocument/2006/math"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kumimoji="1" lang="zh-CN" altLang="en-US" sz="1800" spc="0" dirty="0"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B83A4B-3882-1A06-F15C-5B4AC0E91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42573"/>
                <a:ext cx="10515600" cy="4251960"/>
              </a:xfrm>
              <a:blipFill>
                <a:blip r:embed="rId3"/>
                <a:stretch>
                  <a:fillRect l="-362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34972BF-67FA-E725-0187-24A07A0C336F}"/>
                  </a:ext>
                </a:extLst>
              </p:cNvPr>
              <p:cNvSpPr txBox="1"/>
              <p:nvPr/>
            </p:nvSpPr>
            <p:spPr>
              <a:xfrm>
                <a:off x="5999846" y="4739235"/>
                <a:ext cx="5693663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has an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enumeration algorithm</a:t>
                </a:r>
                <a:endParaRPr kumimoji="1" lang="zh-CN" altLang="en-US" dirty="0">
                  <a:solidFill>
                    <a:schemeClr val="tx1"/>
                  </a:solidFill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34972BF-67FA-E725-0187-24A07A0C3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46" y="4739235"/>
                <a:ext cx="5693663" cy="380810"/>
              </a:xfrm>
              <a:prstGeom prst="rect">
                <a:avLst/>
              </a:prstGeom>
              <a:blipFill>
                <a:blip r:embed="rId4"/>
                <a:stretch>
                  <a:fillRect l="-891" b="-2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A80E8844-2302-B5FA-4A2B-3C8E286E737A}"/>
              </a:ext>
            </a:extLst>
          </p:cNvPr>
          <p:cNvSpPr txBox="1"/>
          <p:nvPr/>
        </p:nvSpPr>
        <p:spPr>
          <a:xfrm>
            <a:off x="3132796" y="1886994"/>
            <a:ext cx="5338344" cy="461665"/>
          </a:xfrm>
          <a:prstGeom prst="rect">
            <a:avLst/>
          </a:prstGeom>
          <a:solidFill>
            <a:schemeClr val="bg1">
              <a:lumMod val="85000"/>
              <a:alpha val="67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How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to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cope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with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an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NP-hard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problem?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endParaRPr kumimoji="1" lang="zh-CN" altLang="en-US" sz="2400" dirty="0">
              <a:latin typeface="Cambria Math" panose="02040503050406030204" pitchFamily="18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C30C43-935B-2AFC-F236-9AF8C911F8B9}"/>
                  </a:ext>
                </a:extLst>
              </p:cNvPr>
              <p:cNvSpPr txBox="1"/>
              <p:nvPr/>
            </p:nvSpPr>
            <p:spPr>
              <a:xfrm>
                <a:off x="5475868" y="5113505"/>
                <a:ext cx="56936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Efficient</a:t>
                </a:r>
                <a:r>
                  <a:rPr kumimoji="1"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for</a:t>
                </a:r>
                <a:r>
                  <a:rPr kumimoji="1" lang="zh-CN" altLang="en-US" sz="2000" b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b="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small</a:t>
                </a:r>
                <a:r>
                  <a:rPr kumimoji="1" lang="zh-CN" altLang="en-US" sz="2000" b="0" dirty="0">
                    <a:solidFill>
                      <a:srgbClr val="00B050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!</a:t>
                </a:r>
                <a:endParaRPr kumimoji="1" lang="zh-CN" altLang="en-US" sz="2000" dirty="0">
                  <a:solidFill>
                    <a:schemeClr val="tx1"/>
                  </a:solidFill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C30C43-935B-2AFC-F236-9AF8C911F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868" y="5113505"/>
                <a:ext cx="5693663" cy="400110"/>
              </a:xfrm>
              <a:prstGeom prst="rect">
                <a:avLst/>
              </a:prstGeom>
              <a:blipFill>
                <a:blip r:embed="rId5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F9E8D54B-5242-24D7-8D8E-1ABD229E5AFB}"/>
                  </a:ext>
                </a:extLst>
              </p:cNvPr>
              <p:cNvSpPr/>
              <p:nvPr/>
            </p:nvSpPr>
            <p:spPr>
              <a:xfrm>
                <a:off x="1537301" y="4433928"/>
                <a:ext cx="3854207" cy="193585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-Vertex</a:t>
                </a:r>
                <a:r>
                  <a:rPr kumimoji="1" lang="zh-CN" altLang="en-US" sz="2000" dirty="0">
                    <a:solidFill>
                      <a:srgbClr val="0070C0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Cover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:endParaRPr lang="en-US" altLang="zh-CN" sz="1800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i="1" kern="1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and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parameter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</m:oMath>
                </a14:m>
                <a:endParaRPr lang="en-US" altLang="zh-CN" i="1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Output: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endParaRPr kumimoji="1"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covering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the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edges?</a:t>
                </a:r>
                <a:endParaRPr kumimoji="1" lang="zh-CN" altLang="en-US" dirty="0">
                  <a:solidFill>
                    <a:schemeClr val="tx1"/>
                  </a:solidFill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圆角矩形 5">
                <a:extLst>
                  <a:ext uri="{FF2B5EF4-FFF2-40B4-BE49-F238E27FC236}">
                    <a16:creationId xmlns:a16="http://schemas.microsoft.com/office/drawing/2014/main" id="{F9E8D54B-5242-24D7-8D8E-1ABD229E5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301" y="4433928"/>
                <a:ext cx="3854207" cy="193585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6">
            <a:extLst>
              <a:ext uri="{FF2B5EF4-FFF2-40B4-BE49-F238E27FC236}">
                <a16:creationId xmlns:a16="http://schemas.microsoft.com/office/drawing/2014/main" id="{F7BEC69D-8545-9A47-0AE0-935670A5D5B1}"/>
              </a:ext>
            </a:extLst>
          </p:cNvPr>
          <p:cNvSpPr/>
          <p:nvPr/>
        </p:nvSpPr>
        <p:spPr>
          <a:xfrm>
            <a:off x="7829213" y="5567130"/>
            <a:ext cx="1283854" cy="609600"/>
          </a:xfrm>
          <a:prstGeom prst="roundRect">
            <a:avLst/>
          </a:prstGeom>
          <a:solidFill>
            <a:srgbClr val="38D3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FPT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D252B54-3F5B-468A-0009-4EC1246B5EE9}"/>
                  </a:ext>
                </a:extLst>
              </p:cNvPr>
              <p:cNvSpPr txBox="1"/>
              <p:nvPr/>
            </p:nvSpPr>
            <p:spPr>
              <a:xfrm>
                <a:off x="7210728" y="5681948"/>
                <a:ext cx="44282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D252B54-3F5B-468A-0009-4EC1246B5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728" y="5681948"/>
                <a:ext cx="442823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32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4" grpId="0" animBg="1"/>
      <p:bldP spid="5" grpId="0"/>
      <p:bldP spid="6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spc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Complexity</a:t>
            </a:r>
            <a:endParaRPr kumimoji="1" lang="zh-CN" altLang="en-US" sz="3600" cap="none" spc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B83A4B-3882-1A06-F15C-5B4AC0E91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42573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Associate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each instance </a:t>
                </a:r>
                <a14:m>
                  <m:oMath xmlns:m="http://schemas.openxmlformats.org/officeDocument/2006/math"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with a parameter </a:t>
                </a:r>
                <a14:m>
                  <m:oMath xmlns:m="http://schemas.openxmlformats.org/officeDocument/2006/math"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sz="20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kumimoji="1" lang="en-US" altLang="zh-CN" sz="20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1800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≪|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8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Measure complexity over </a:t>
                </a:r>
                <a14:m>
                  <m:oMath xmlns:m="http://schemas.openxmlformats.org/officeDocument/2006/math">
                    <m:r>
                      <a:rPr kumimoji="1" lang="en-US" altLang="zh-CN" sz="1800" i="1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b="0" i="0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18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1800" spc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</a:t>
                </a:r>
                <a:r>
                  <a:rPr kumimoji="1" lang="zh-CN" altLang="en-US" sz="1800" spc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spc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W[1]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(Analogue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of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NP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):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widely believed </a:t>
                </a:r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W[1] </a:t>
                </a:r>
                <a14:m>
                  <m:oMath xmlns:m="http://schemas.openxmlformats.org/officeDocument/2006/math">
                    <m:r>
                      <a:rPr kumimoji="1" lang="en-US" altLang="zh-CN" sz="20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≠</m:t>
                    </m:r>
                  </m:oMath>
                </a14:m>
                <a:r>
                  <a:rPr kumimoji="1" lang="en-US" altLang="zh-CN" sz="2000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FPT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B83A4B-3882-1A06-F15C-5B4AC0E91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42573"/>
                <a:ext cx="10515600" cy="4251960"/>
              </a:xfr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68950C0F-4FC1-60DB-86B3-83B163C05EA0}"/>
                  </a:ext>
                </a:extLst>
              </p:cNvPr>
              <p:cNvSpPr/>
              <p:nvPr/>
            </p:nvSpPr>
            <p:spPr>
              <a:xfrm>
                <a:off x="1535504" y="4445874"/>
                <a:ext cx="3830125" cy="193585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-Clique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:endParaRPr lang="en-US" altLang="zh-CN" sz="1800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i="1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and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parameter</a:t>
                </a:r>
                <a:r>
                  <a:rPr lang="zh-CN" altLang="en-US" kern="1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</m:oMath>
                </a14:m>
                <a:endParaRPr lang="en-US" altLang="zh-CN" i="1" kern="100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Output: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endParaRPr kumimoji="1"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 </m:t>
                    </m:r>
                    <m:sSub>
                      <m:sSubPr>
                        <m:ctrlPr>
                          <a:rPr lang="zh-CN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forming a clique?</a:t>
                </a:r>
                <a:endParaRPr kumimoji="1" lang="zh-CN" altLang="en-US" dirty="0">
                  <a:solidFill>
                    <a:schemeClr val="tx1"/>
                  </a:solidFill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68950C0F-4FC1-60DB-86B3-83B163C05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504" y="4445874"/>
                <a:ext cx="3830125" cy="193585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8FFE41-6B7C-9460-5E8B-870EC40FE149}"/>
                  </a:ext>
                </a:extLst>
              </p:cNvPr>
              <p:cNvSpPr txBox="1"/>
              <p:nvPr/>
            </p:nvSpPr>
            <p:spPr>
              <a:xfrm>
                <a:off x="6434328" y="4946941"/>
                <a:ext cx="4308163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No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algorithm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known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with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runtime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𝑜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𝑘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)</m:t>
                        </m:r>
                      </m:sup>
                    </m:sSup>
                  </m:oMath>
                </a14:m>
                <a:endParaRPr kumimoji="1" lang="zh-CN" altLang="en-US" dirty="0">
                  <a:latin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08FFE41-6B7C-9460-5E8B-870EC40FE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328" y="4946941"/>
                <a:ext cx="4308163" cy="380810"/>
              </a:xfrm>
              <a:prstGeom prst="rect">
                <a:avLst/>
              </a:prstGeom>
              <a:blipFill>
                <a:blip r:embed="rId5"/>
                <a:stretch>
                  <a:fillRect l="-1176" t="-3226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313FE52-E258-FD35-84B4-42D0D515D2A5}"/>
              </a:ext>
            </a:extLst>
          </p:cNvPr>
          <p:cNvSpPr txBox="1"/>
          <p:nvPr/>
        </p:nvSpPr>
        <p:spPr>
          <a:xfrm>
            <a:off x="3132796" y="1886994"/>
            <a:ext cx="5338344" cy="461665"/>
          </a:xfrm>
          <a:prstGeom prst="rect">
            <a:avLst/>
          </a:prstGeom>
          <a:solidFill>
            <a:schemeClr val="bg1">
              <a:lumMod val="85000"/>
              <a:alpha val="67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How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to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cope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with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an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NP-hard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problem?</a:t>
            </a:r>
            <a:r>
              <a:rPr kumimoji="1" lang="zh-CN" altLang="en-US" sz="2400" b="0" dirty="0">
                <a:latin typeface="Cambria Math" panose="02040503050406030204" pitchFamily="18" charset="0"/>
                <a:cs typeface="Consolas" panose="020B0609020204030204" pitchFamily="49" charset="0"/>
              </a:rPr>
              <a:t> </a:t>
            </a:r>
            <a:endParaRPr kumimoji="1" lang="zh-CN" altLang="en-US" sz="2400" dirty="0">
              <a:latin typeface="Cambria Math" panose="02040503050406030204" pitchFamily="18" charset="0"/>
              <a:cs typeface="Consolas" panose="020B0609020204030204" pitchFamily="49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8DC01AA-D419-B0A6-094F-F0E67330F837}"/>
              </a:ext>
            </a:extLst>
          </p:cNvPr>
          <p:cNvSpPr/>
          <p:nvPr/>
        </p:nvSpPr>
        <p:spPr>
          <a:xfrm>
            <a:off x="7025749" y="5424087"/>
            <a:ext cx="1283854" cy="609600"/>
          </a:xfrm>
          <a:prstGeom prst="roundRect">
            <a:avLst/>
          </a:prstGeom>
          <a:solidFill>
            <a:srgbClr val="38D3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W[1]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2FBE35-A449-CB13-AB1A-13D45D0BF7ED}"/>
              </a:ext>
            </a:extLst>
          </p:cNvPr>
          <p:cNvSpPr txBox="1"/>
          <p:nvPr/>
        </p:nvSpPr>
        <p:spPr>
          <a:xfrm>
            <a:off x="8309603" y="5538482"/>
            <a:ext cx="1384077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-complete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E8E2A0B-E4B3-8A17-DE5B-DBEBD06D5359}"/>
                  </a:ext>
                </a:extLst>
              </p:cNvPr>
              <p:cNvSpPr txBox="1"/>
              <p:nvPr/>
            </p:nvSpPr>
            <p:spPr>
              <a:xfrm>
                <a:off x="6096000" y="4616518"/>
                <a:ext cx="4846939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Unlikely to have an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kumimoji="1" lang="en-US" altLang="zh-CN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sSup>
                      <m:sSupPr>
                        <m:ctrlP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time algorithm</a:t>
                </a:r>
                <a:endParaRPr kumimoji="1" lang="zh-CN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E8E2A0B-E4B3-8A17-DE5B-DBEBD06D5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16518"/>
                <a:ext cx="4846939" cy="380810"/>
              </a:xfrm>
              <a:prstGeom prst="rect">
                <a:avLst/>
              </a:prstGeom>
              <a:blipFill>
                <a:blip r:embed="rId6"/>
                <a:stretch>
                  <a:fillRect l="-1047" t="-3226" b="-25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66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7" grpId="0" animBg="1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2846"/>
            <a:ext cx="11073276" cy="1325563"/>
          </a:xfrm>
        </p:spPr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Approximation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707DAA5-BB09-CB1C-8BC5-ACB820AE69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9601" y="4468765"/>
                <a:ext cx="9434947" cy="1325563"/>
              </a:xfrm>
              <a:prstGeom prst="rect">
                <a:avLst/>
              </a:prstGeom>
            </p:spPr>
            <p:txBody>
              <a:bodyPr lIns="109728" tIns="109728" rIns="109728" bIns="9144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E.g.,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Can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we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f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ind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fPr>
                      <m:num>
                        <m:r>
                          <a:rPr kumimoji="1" lang="en-US" altLang="zh-CN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𝑘</m:t>
                        </m:r>
                      </m:num>
                      <m:den>
                        <m:r>
                          <a:rPr kumimoji="1"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-clique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in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graph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with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-clique?</a:t>
                </a:r>
                <a:r>
                  <a:rPr kumimoji="1" lang="zh-CN" altLang="en-US" sz="20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endParaRPr kumimoji="1"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endParaRPr kumimoji="1" lang="en-US" altLang="zh-CN" sz="20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707DAA5-BB09-CB1C-8BC5-ACB820AE6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01" y="4468765"/>
                <a:ext cx="9434947" cy="1325563"/>
              </a:xfrm>
              <a:prstGeom prst="rect">
                <a:avLst/>
              </a:prstGeom>
              <a:blipFill>
                <a:blip r:embed="rId3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FE18C49-73BB-0D87-5D9C-1A8942FD4A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9601" y="2101808"/>
                <a:ext cx="8589183" cy="973605"/>
              </a:xfrm>
              <a:prstGeom prst="rect">
                <a:avLst/>
              </a:prstGeom>
              <a:solidFill>
                <a:schemeClr val="bg1">
                  <a:lumMod val="85000"/>
                  <a:alpha val="67000"/>
                </a:schemeClr>
              </a:solidFill>
            </p:spPr>
            <p:txBody>
              <a:bodyPr lIns="109728" tIns="109728" rIns="109728" bIns="9144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Can we find a </a:t>
                </a:r>
                <a14:m>
                  <m:oMath xmlns:m="http://schemas.openxmlformats.org/officeDocument/2006/math"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𝒈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𝒌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)</m:t>
                    </m:r>
                  </m:oMath>
                </a14:m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</a:t>
                </a:r>
                <a:r>
                  <a:rPr kumimoji="1" lang="en-US" altLang="zh-CN" sz="2400" spc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approximation in </a:t>
                </a:r>
                <a14:m>
                  <m:oMath xmlns:m="http://schemas.openxmlformats.org/officeDocument/2006/math">
                    <m:r>
                      <a:rPr kumimoji="1" lang="en-US" altLang="zh-CN" sz="2400" b="1" i="1" spc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𝒇</m:t>
                    </m:r>
                    <m:d>
                      <m:dPr>
                        <m:ctrlP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𝒌</m:t>
                        </m:r>
                      </m:e>
                    </m:d>
                    <m:r>
                      <a:rPr kumimoji="1" lang="en-US" altLang="zh-CN" sz="2400" b="1" i="1" spc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⋅</m:t>
                    </m:r>
                    <m:sSup>
                      <m:sSupPr>
                        <m:ctrlP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𝒏</m:t>
                        </m:r>
                      </m:e>
                      <m:sup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𝑶</m:t>
                        </m:r>
                        <m:d>
                          <m:dPr>
                            <m:ctrlPr>
                              <a:rPr kumimoji="1" lang="en-US" altLang="zh-CN" sz="2400" b="1" i="1" spc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pc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400" spc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time, for some computable functions</a:t>
                </a:r>
                <a:r>
                  <a:rPr kumimoji="1" lang="zh-CN" altLang="en-US" sz="24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𝑓</m:t>
                    </m:r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,</m:t>
                    </m:r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𝑔</m:t>
                    </m:r>
                  </m:oMath>
                </a14:m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?</a:t>
                </a:r>
              </a:p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endParaRPr kumimoji="1" lang="en-US" altLang="zh-CN" sz="2400" spc="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FE18C49-73BB-0D87-5D9C-1A8942FD4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01" y="2101808"/>
                <a:ext cx="8589183" cy="973605"/>
              </a:xfrm>
              <a:prstGeom prst="rect">
                <a:avLst/>
              </a:prstGeom>
              <a:blipFill>
                <a:blip r:embed="rId4"/>
                <a:stretch>
                  <a:fillRect l="-886" r="-1034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92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0805E72-D6B2-A21B-C31E-3AB87C7F15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8394" y="4035254"/>
                <a:ext cx="8062761" cy="245762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lIns="109728" tIns="109728" rIns="109728" bIns="9144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kumimoji="1" lang="en-US" altLang="zh-CN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Example 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[Cohen-</a:t>
                </a:r>
                <a:r>
                  <a:rPr kumimoji="1" lang="en-US" altLang="zh-CN" sz="1700" spc="0" dirty="0" err="1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Addad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,</a:t>
                </a:r>
                <a:r>
                  <a:rPr kumimoji="1" lang="zh-CN" altLang="en-US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Gupta,</a:t>
                </a:r>
                <a:r>
                  <a:rPr kumimoji="1" lang="zh-CN" altLang="en-US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Kumar,</a:t>
                </a:r>
                <a:r>
                  <a:rPr kumimoji="1" lang="zh-CN" altLang="en-US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Lee,</a:t>
                </a:r>
                <a:r>
                  <a:rPr kumimoji="1" lang="zh-CN" altLang="en-US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7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Li’19]</a:t>
                </a:r>
                <a:r>
                  <a:rPr kumimoji="1" lang="en-US" altLang="zh-CN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2</m:t>
                            </m:r>
                          </m:num>
                          <m:den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𝑒</m:t>
                            </m:r>
                          </m:den>
                        </m:f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+</m:t>
                        </m:r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kumimoji="1" lang="en-US" altLang="zh-CN" sz="18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</a:t>
                </a:r>
                <a:r>
                  <a:rPr kumimoji="1"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approximation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algorithm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for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-Median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1+</m:t>
                        </m:r>
                        <m:f>
                          <m:fPr>
                            <m:ctrlP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8</m:t>
                            </m:r>
                          </m:num>
                          <m:den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𝑒</m:t>
                            </m:r>
                          </m:den>
                        </m:f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+</m:t>
                        </m:r>
                        <m:r>
                          <a:rPr kumimoji="1" lang="en-US" altLang="zh-CN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kumimoji="1" lang="en-US" altLang="zh-CN" sz="1800" b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</a:t>
                </a:r>
                <a:r>
                  <a:rPr kumimoji="1"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approximation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algorithm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for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sz="20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-Means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kumimoji="1" lang="en-US" altLang="zh-CN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with runtime </a:t>
                </a:r>
                <a:r>
                  <a:rPr kumimoji="1" lang="zh-CN" altLang="en-US" sz="180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𝑘</m:t>
                                </m:r>
                                <m:func>
                                  <m:funcPr>
                                    <m:ctrlPr>
                                      <a:rPr kumimoji="1"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kumimoji="1"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𝑘</m:t>
                                    </m:r>
                                  </m:e>
                                </m:func>
                              </m:num>
                              <m:den>
                                <m:sSup>
                                  <m:sSupPr>
                                    <m:ctrlPr>
                                      <a:rPr kumimoji="1"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𝜀</m:t>
                                    </m:r>
                                  </m:e>
                                  <m:sup>
                                    <m:r>
                                      <a:rPr kumimoji="1"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kumimoji="1"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𝑘</m:t>
                        </m:r>
                      </m:sup>
                    </m:sSup>
                    <m:r>
                      <a:rPr kumimoji="1"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⋅</m:t>
                    </m:r>
                    <m:sSup>
                      <m:sSupPr>
                        <m:ctrlPr>
                          <a:rPr kumimoji="1"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𝑂</m:t>
                        </m:r>
                        <m:d>
                          <m:dPr>
                            <m:ctrlPr>
                              <a:rPr kumimoji="1"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a:rPr kumimoji="1"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endParaRPr kumimoji="1" lang="en-US" altLang="zh-CN" sz="1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0805E72-D6B2-A21B-C31E-3AB87C7F1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394" y="4035254"/>
                <a:ext cx="8062761" cy="2457621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3B04A15-24C8-2463-8D3E-B0F9474417DA}"/>
                  </a:ext>
                </a:extLst>
              </p:cNvPr>
              <p:cNvSpPr txBox="1"/>
              <p:nvPr/>
            </p:nvSpPr>
            <p:spPr>
              <a:xfrm>
                <a:off x="522712" y="3232168"/>
                <a:ext cx="7414280" cy="646331"/>
              </a:xfrm>
              <a:prstGeom prst="rect">
                <a:avLst/>
              </a:prstGeom>
              <a:noFill/>
              <a:ln w="3492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Optimal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ratio in FPT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Beat polytime algorithms:</a:t>
                </a:r>
                <a:r>
                  <a:rPr kumimoji="1" lang="zh-CN" altLang="en-US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ans Serif Medium" charset="0"/>
                      </a:rPr>
                      <m:t>2.611+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ea typeface="CMU Sans Serif Medium" charset="0"/>
                        <a:cs typeface="CMU Sans Serif Medium" charset="0"/>
                      </a:rPr>
                      <m:t>𝜀</m:t>
                    </m:r>
                  </m:oMath>
                </a14:m>
                <a:r>
                  <a:rPr kumimoji="1" lang="zh-CN" altLang="en-US" dirty="0">
                    <a:latin typeface="Cambria Math" panose="02040503050406030204" pitchFamily="18" charset="0"/>
                    <a:ea typeface="CMU Sans Serif Medium" charset="0"/>
                    <a:cs typeface="CMU Sans Serif Medium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MU Sans Serif Medium" charset="0"/>
                  </a:rPr>
                  <a:t>for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MU Sans Serif Medium" charset="0"/>
                    <a:cs typeface="CMU Sans Serif Medium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-Median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ans Serif Medium" charset="0"/>
                      </a:rPr>
                      <m:t>6.357</m:t>
                    </m:r>
                  </m:oMath>
                </a14:m>
                <a:r>
                  <a:rPr kumimoji="1" lang="zh-CN" altLang="en-US" dirty="0">
                    <a:latin typeface="Cambria Math" panose="02040503050406030204" pitchFamily="18" charset="0"/>
                    <a:ea typeface="CMU Sans Serif Medium" charset="0"/>
                    <a:cs typeface="CMU Sans Serif Medium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MU Sans Serif Medium" charset="0"/>
                  </a:rPr>
                  <a:t>for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MU Sans Serif Medium" charset="0"/>
                    <a:cs typeface="CMU Sans Serif Medium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-Means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MU Sans Serif Medium" charset="0"/>
                    <a:cs typeface="CMU Sans Serif Medium" charset="0"/>
                  </a:rPr>
                  <a:t> </a:t>
                </a:r>
                <a:endParaRPr kumimoji="1" lang="zh-CN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3B04A15-24C8-2463-8D3E-B0F94744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12" y="3232168"/>
                <a:ext cx="7414280" cy="646331"/>
              </a:xfrm>
              <a:prstGeom prst="rect">
                <a:avLst/>
              </a:prstGeom>
              <a:blipFill>
                <a:blip r:embed="rId4"/>
                <a:stretch>
                  <a:fillRect l="-340" b="-10909"/>
                </a:stretch>
              </a:blipFill>
              <a:ln w="3492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DE74224B-3CE8-2631-01F9-37C2499756BF}"/>
              </a:ext>
            </a:extLst>
          </p:cNvPr>
          <p:cNvCxnSpPr>
            <a:cxnSpLocks/>
          </p:cNvCxnSpPr>
          <p:nvPr/>
        </p:nvCxnSpPr>
        <p:spPr>
          <a:xfrm>
            <a:off x="2562045" y="3878499"/>
            <a:ext cx="0" cy="66762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01171D-F3FD-EB3B-8BA5-D69B8E600E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9601" y="2101808"/>
                <a:ext cx="8589183" cy="973605"/>
              </a:xfrm>
              <a:prstGeom prst="rect">
                <a:avLst/>
              </a:prstGeom>
              <a:solidFill>
                <a:schemeClr val="bg1">
                  <a:lumMod val="85000"/>
                  <a:alpha val="67000"/>
                </a:schemeClr>
              </a:solidFill>
            </p:spPr>
            <p:txBody>
              <a:bodyPr lIns="109728" tIns="109728" rIns="109728" bIns="9144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0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 spc="15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Can we find a </a:t>
                </a:r>
                <a14:m>
                  <m:oMath xmlns:m="http://schemas.openxmlformats.org/officeDocument/2006/math"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𝒈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(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𝒌</m:t>
                    </m:r>
                    <m:r>
                      <a:rPr kumimoji="1" lang="en-US" altLang="zh-CN" sz="2400" b="1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)</m:t>
                    </m:r>
                  </m:oMath>
                </a14:m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</a:t>
                </a:r>
                <a:r>
                  <a:rPr kumimoji="1" lang="en-US" altLang="zh-CN" sz="2400" spc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approximation in </a:t>
                </a:r>
                <a14:m>
                  <m:oMath xmlns:m="http://schemas.openxmlformats.org/officeDocument/2006/math">
                    <m:r>
                      <a:rPr kumimoji="1" lang="en-US" altLang="zh-CN" sz="2400" b="1" i="1" spc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𝒇</m:t>
                    </m:r>
                    <m:d>
                      <m:dPr>
                        <m:ctrlP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dPr>
                      <m:e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𝒌</m:t>
                        </m:r>
                      </m:e>
                    </m:d>
                    <m:r>
                      <a:rPr kumimoji="1" lang="en-US" altLang="zh-CN" sz="2400" b="1" i="1" spc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⋅</m:t>
                    </m:r>
                    <m:sSup>
                      <m:sSupPr>
                        <m:ctrlP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𝒏</m:t>
                        </m:r>
                      </m:e>
                      <m:sup>
                        <m:r>
                          <a:rPr kumimoji="1" lang="en-US" altLang="zh-CN" sz="2400" b="1" i="1" spc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𝑶</m:t>
                        </m:r>
                        <m:d>
                          <m:dPr>
                            <m:ctrlPr>
                              <a:rPr kumimoji="1" lang="en-US" altLang="zh-CN" sz="2400" b="1" i="1" spc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400" b="1" i="1" spc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𝟏</m:t>
                            </m:r>
                          </m:e>
                        </m:d>
                      </m:sup>
                    </m:sSup>
                  </m:oMath>
                </a14:m>
                <a:r>
                  <a:rPr kumimoji="1" lang="zh-CN" altLang="en-US" sz="2400" spc="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time, for some computable functions</a:t>
                </a:r>
                <a:r>
                  <a:rPr kumimoji="1" lang="zh-CN" altLang="en-US" sz="24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𝑓</m:t>
                    </m:r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,</m:t>
                    </m:r>
                    <m:r>
                      <a:rPr kumimoji="1" lang="en-US" altLang="zh-CN" sz="24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𝑔</m:t>
                    </m:r>
                  </m:oMath>
                </a14:m>
                <a:r>
                  <a:rPr kumimoji="1" lang="en-US" altLang="zh-CN" sz="24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?</a:t>
                </a:r>
              </a:p>
              <a:p>
                <a:pPr marL="0" indent="0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endParaRPr kumimoji="1" lang="en-US" altLang="zh-CN" sz="2400" spc="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01171D-F3FD-EB3B-8BA5-D69B8E600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01" y="2101808"/>
                <a:ext cx="8589183" cy="973605"/>
              </a:xfrm>
              <a:prstGeom prst="rect">
                <a:avLst/>
              </a:prstGeom>
              <a:blipFill>
                <a:blip r:embed="rId5"/>
                <a:stretch>
                  <a:fillRect l="-886" r="-1034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B2D40465-B347-F68D-E48B-B462527AB4A0}"/>
              </a:ext>
            </a:extLst>
          </p:cNvPr>
          <p:cNvSpPr txBox="1">
            <a:spLocks/>
          </p:cNvSpPr>
          <p:nvPr/>
        </p:nvSpPr>
        <p:spPr>
          <a:xfrm>
            <a:off x="838200" y="582846"/>
            <a:ext cx="110732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cap="non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Approximation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9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424"/>
            <a:ext cx="11073276" cy="1325563"/>
          </a:xfrm>
        </p:spPr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Hardness of Approximation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451096"/>
              </a:xfrm>
            </p:spPr>
            <p:txBody>
              <a:bodyPr>
                <a:normAutofit fontScale="92500" lnSpcReduction="20000"/>
              </a:bodyPr>
              <a:lstStyle/>
              <a:p>
                <a:pPr marL="285750" indent="-285750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kumimoji="1" lang="en-US" altLang="zh-CN" sz="2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SetCover</a:t>
                </a:r>
                <a:endParaRPr kumimoji="1" lang="en-US" altLang="zh-CN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[Chen-Lin’18,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Lin’19,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Lin-R-Sun-Wang’23a]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via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threshold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graph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composition</a:t>
                </a:r>
                <a:endParaRPr kumimoji="1" lang="en-US" altLang="zh-CN" sz="17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[Karthik-Laekhanukit-Manurangsi’19]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via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distributed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PCP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framework</a:t>
                </a:r>
                <a:endParaRPr kumimoji="1" lang="en-US" altLang="zh-CN" sz="17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-Clique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[Lin’21,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Karthik-Khot’22,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Lin-R-Sun-Wang’23b]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via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locally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decodable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codes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[Chen-Feng-Laekhanukit-Liu’23]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via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Sidon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sets</a:t>
                </a: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 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kumimoji="1" lang="en-US" altLang="zh-CN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-Coverage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</a:t>
                </a:r>
                <a:r>
                  <a:rPr kumimoji="1" lang="en-US" altLang="zh-CN" sz="1900" spc="0" dirty="0" err="1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Manurangsi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’</a:t>
                </a:r>
                <a:r>
                  <a:rPr kumimoji="1" lang="en-US" altLang="zh-CN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20]</a:t>
                </a:r>
                <a:r>
                  <a:rPr kumimoji="1" lang="zh-CN" altLang="en-US" sz="19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via</a:t>
                </a:r>
                <a:r>
                  <a:rPr kumimoji="1" lang="zh-CN" altLang="en-US" sz="19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900" i="1" spc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</m:oMath>
                </a14:m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-wise agreement testing</a:t>
                </a:r>
                <a:endParaRPr kumimoji="1" lang="en-US" altLang="zh-CN" sz="22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19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…</a:t>
                </a: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kumimoji="1" lang="en-US" altLang="zh-CN" sz="2400" i="1" spc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Ad-hoc</a:t>
                </a:r>
                <a:r>
                  <a:rPr kumimoji="1" lang="zh-CN" altLang="en-US" sz="2400" i="1" spc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400" i="1" spc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reductions,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kumimoji="1" lang="en-US" altLang="zh-CN" sz="2400" i="1" spc="0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tailored to the specific problems!</a:t>
                </a:r>
                <a:endParaRPr kumimoji="1" lang="zh-CN" altLang="en-US" i="1" spc="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451096"/>
              </a:xfrm>
              <a:blipFill>
                <a:blip r:embed="rId3"/>
                <a:stretch>
                  <a:fillRect l="-362" t="-17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05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9F9E39-C75E-5BE4-AE7B-6F992FDD5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914" y="4341021"/>
            <a:ext cx="6733768" cy="1244919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kumimoji="1" lang="en-US" altLang="zh-CN" sz="2400" i="1" spc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Parameterized PCP-type theorem!</a:t>
            </a:r>
            <a:endParaRPr kumimoji="1" lang="zh-CN" altLang="en-US" sz="2400" i="1" spc="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7B3F74-C14D-5946-4CE5-6C5CA4C9629D}"/>
              </a:ext>
            </a:extLst>
          </p:cNvPr>
          <p:cNvSpPr txBox="1"/>
          <p:nvPr/>
        </p:nvSpPr>
        <p:spPr>
          <a:xfrm>
            <a:off x="2303813" y="2704067"/>
            <a:ext cx="6733768" cy="954107"/>
          </a:xfrm>
          <a:prstGeom prst="rect">
            <a:avLst/>
          </a:prstGeom>
          <a:solidFill>
            <a:schemeClr val="bg1">
              <a:lumMod val="85000"/>
              <a:alpha val="67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kumimoji="1" lang="en-US" altLang="zh-CN" sz="2800" spc="0" dirty="0">
                <a:latin typeface="Cambria Math" panose="02040503050406030204" pitchFamily="18" charset="0"/>
                <a:ea typeface="Cambria Math" panose="02040503050406030204" pitchFamily="18" charset="0"/>
                <a:cs typeface="Consolas" panose="020B0609020204030204" pitchFamily="49" charset="0"/>
              </a:rPr>
              <a:t>Unified and powerful machinery for parameterized inapproximability?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225513C-D585-C49B-1BCB-E72C6EAB2261}"/>
              </a:ext>
            </a:extLst>
          </p:cNvPr>
          <p:cNvSpPr txBox="1">
            <a:spLocks/>
          </p:cNvSpPr>
          <p:nvPr/>
        </p:nvSpPr>
        <p:spPr>
          <a:xfrm>
            <a:off x="838200" y="565424"/>
            <a:ext cx="110732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cap="non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Hardness of Approximation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48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Recall: PCP Theorem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716491" cy="4251960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PCP Theorem: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For any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and let </a:t>
                </a:r>
                <a14:m>
                  <m:oMath xmlns:m="http://schemas.openxmlformats.org/officeDocument/2006/math">
                    <m:r>
                      <a:rPr kumimoji="1" lang="en-US" altLang="zh-CN" sz="20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𝑛</m:t>
                    </m:r>
                    <m:r>
                      <a:rPr kumimoji="1" lang="en-US" altLang="zh-CN" sz="20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=|</m:t>
                    </m:r>
                    <m:r>
                      <a:rPr kumimoji="1" lang="en-US" altLang="zh-CN" sz="20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𝑋</m:t>
                    </m:r>
                    <m:r>
                      <a:rPr kumimoji="1" lang="en-US" altLang="zh-CN" sz="2000" b="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|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, there is 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sz="2000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000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𝑂</m:t>
                        </m:r>
                        <m:r>
                          <a:rPr kumimoji="1" lang="en-US" altLang="zh-CN" sz="2000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 algorithm for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(1 vs 0.9) gap CSP assuming P</a:t>
                </a:r>
                <a14:m>
                  <m:oMath xmlns:m="http://schemas.openxmlformats.org/officeDocument/2006/math">
                    <m:r>
                      <a:rPr kumimoji="1" lang="en-US" altLang="zh-CN" sz="2000" i="1" spc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≠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NP.</a:t>
                </a:r>
                <a:endParaRPr kumimoji="1" lang="en-US" altLang="zh-CN" sz="18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716491" cy="4251960"/>
              </a:xfrm>
              <a:blipFill>
                <a:blip r:embed="rId3"/>
                <a:stretch>
                  <a:fillRect l="-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A8A94F6F-0A4F-00FB-6428-70DBE5663E0A}"/>
                  </a:ext>
                </a:extLst>
              </p:cNvPr>
              <p:cNvSpPr/>
              <p:nvPr/>
            </p:nvSpPr>
            <p:spPr>
              <a:xfrm>
                <a:off x="901886" y="2235199"/>
                <a:ext cx="4604695" cy="194545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𝐂𝐨𝐧𝐬𝐭𝐫𝐚𝐢𝐧𝐭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𝐒𝐚𝐭𝐢𝐬𝐟𝐚𝐜𝐭𝐢𝐨𝐧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𝐏𝐫𝐨𝐛𝐥𝐞𝐦</m:t>
                      </m:r>
                    </m:oMath>
                  </m:oMathPara>
                </a14:m>
                <a:endParaRPr lang="en-US" altLang="zh-CN" sz="1400" b="1" kern="1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sz="1600" b="1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600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6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600" i="1" kern="10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:</a:t>
                </a:r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:</a:t>
                </a:r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alphabet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Φ</m:t>
                    </m:r>
                    <m:r>
                      <a:rPr lang="en-US" altLang="zh-CN" sz="1600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</a:t>
                </a:r>
              </a:p>
              <a:p>
                <a:r>
                  <a:rPr kumimoji="1" lang="en-US" altLang="zh-CN" sz="16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Output: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satisfying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all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constraints?</a:t>
                </a:r>
                <a:endParaRPr kumimoji="1" lang="zh-CN" altLang="en-US" sz="16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A8A94F6F-0A4F-00FB-6428-70DBE5663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6" y="2235199"/>
                <a:ext cx="4604695" cy="1945453"/>
              </a:xfrm>
              <a:prstGeom prst="roundRect">
                <a:avLst/>
              </a:prstGeom>
              <a:blipFill>
                <a:blip r:embed="rId4"/>
                <a:stretch>
                  <a:fillRect r="-822" b="-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23054FB1-428B-2E89-DD9C-00C2A054D25B}"/>
                  </a:ext>
                </a:extLst>
              </p:cNvPr>
              <p:cNvSpPr/>
              <p:nvPr/>
            </p:nvSpPr>
            <p:spPr>
              <a:xfrm>
                <a:off x="6140027" y="2074180"/>
                <a:ext cx="4991545" cy="784196"/>
              </a:xfrm>
              <a:prstGeom prst="roundRect">
                <a:avLst/>
              </a:prstGeom>
              <a:noFill/>
              <a:ln>
                <a:solidFill>
                  <a:srgbClr val="364E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):=max.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fraction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of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satisfied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by</a:t>
                </a:r>
                <a:r>
                  <a:rPr kumimoji="1" lang="zh-CN" altLang="en-US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some assignment</a:t>
                </a:r>
                <a:endParaRPr kumimoji="1" lang="zh-CN" altLang="en-US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23054FB1-428B-2E89-DD9C-00C2A054D2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27" y="2074180"/>
                <a:ext cx="4991545" cy="784196"/>
              </a:xfrm>
              <a:prstGeom prst="roundRect">
                <a:avLst/>
              </a:prstGeom>
              <a:blipFill>
                <a:blip r:embed="rId5"/>
                <a:stretch>
                  <a:fillRect b="-4688"/>
                </a:stretch>
              </a:blipFill>
              <a:ln>
                <a:solidFill>
                  <a:srgbClr val="364EFC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圆角矩形 3">
                <a:extLst>
                  <a:ext uri="{FF2B5EF4-FFF2-40B4-BE49-F238E27FC236}">
                    <a16:creationId xmlns:a16="http://schemas.microsoft.com/office/drawing/2014/main" id="{D8692361-A702-DCA0-5A44-2FE23B9EAB25}"/>
                  </a:ext>
                </a:extLst>
              </p:cNvPr>
              <p:cNvSpPr/>
              <p:nvPr/>
            </p:nvSpPr>
            <p:spPr>
              <a:xfrm>
                <a:off x="5767907" y="3003172"/>
                <a:ext cx="5879147" cy="119190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𝐯𝐬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kumimoji="1" lang="zh-CN" alt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𝐠𝐚𝐩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𝐂𝐒𝐏</m:t>
                      </m:r>
                    </m:oMath>
                  </m:oMathPara>
                </a14:m>
                <a:endParaRPr lang="en-US" altLang="zh-CN" sz="1400" b="1" kern="10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r>
                  <a:rPr lang="en-US" altLang="zh-CN" sz="1600" b="1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600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:r>
                  <a:rPr lang="en-US" altLang="zh-CN" sz="1600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a CSP instance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6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600" i="1" kern="10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r>
                  <a:rPr kumimoji="1" lang="en-US" altLang="zh-CN" sz="16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Goal: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distinguish </a:t>
                </a:r>
                <a:r>
                  <a:rPr kumimoji="1" lang="en-US" altLang="zh-CN" sz="1600" dirty="0" err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kumimoji="1"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onsolas" panose="020B0609020204030204" pitchFamily="49" charset="0"/>
                      </a:rPr>
                      <m:t>)=1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vs </a:t>
                </a:r>
                <a:r>
                  <a:rPr kumimoji="1" lang="en-US" altLang="zh-CN" sz="1600" dirty="0" err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kumimoji="1"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𝛿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圆角矩形 3">
                <a:extLst>
                  <a:ext uri="{FF2B5EF4-FFF2-40B4-BE49-F238E27FC236}">
                    <a16:creationId xmlns:a16="http://schemas.microsoft.com/office/drawing/2014/main" id="{D8692361-A702-DCA0-5A44-2FE23B9EA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07" y="3003172"/>
                <a:ext cx="5879147" cy="119190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8">
            <a:extLst>
              <a:ext uri="{FF2B5EF4-FFF2-40B4-BE49-F238E27FC236}">
                <a16:creationId xmlns:a16="http://schemas.microsoft.com/office/drawing/2014/main" id="{8FDE23C5-D743-5C83-CAFC-2F46B74814C7}"/>
              </a:ext>
            </a:extLst>
          </p:cNvPr>
          <p:cNvSpPr/>
          <p:nvPr/>
        </p:nvSpPr>
        <p:spPr>
          <a:xfrm>
            <a:off x="7886114" y="3729430"/>
            <a:ext cx="749685" cy="256491"/>
          </a:xfrm>
          <a:prstGeom prst="rect">
            <a:avLst/>
          </a:prstGeom>
          <a:noFill/>
          <a:ln w="19050">
            <a:solidFill>
              <a:srgbClr val="364EF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9">
            <a:extLst>
              <a:ext uri="{FF2B5EF4-FFF2-40B4-BE49-F238E27FC236}">
                <a16:creationId xmlns:a16="http://schemas.microsoft.com/office/drawing/2014/main" id="{58E35E63-348B-7165-D17C-A85AB507B48A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flipV="1">
            <a:off x="8260957" y="2858376"/>
            <a:ext cx="374843" cy="87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65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Inapproximability Hypothesis</a:t>
            </a:r>
            <a:endParaRPr kumimoji="1" lang="zh-CN" altLang="en-US" sz="32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3A6A5-EE17-29D3-A539-5F566EFDA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1886" y="4287441"/>
                <a:ext cx="9835445" cy="111333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Parameterized CSP:</a:t>
                </a:r>
              </a:p>
              <a:p>
                <a:pPr marL="742950" lvl="1" indent="-285750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=|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𝑋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|</m:t>
                    </m:r>
                  </m:oMath>
                </a14:m>
                <a:r>
                  <a:rPr kumimoji="1" lang="en-US" altLang="zh-CN" sz="2000" spc="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zh-CN" sz="2000" i="1" spc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𝑛</m:t>
                    </m:r>
                    <m:r>
                      <a:rPr kumimoji="1" lang="en-US" altLang="zh-CN" sz="2000" i="1" spc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altLang="zh-CN" sz="20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kumimoji="1" lang="en-US" altLang="zh-CN" sz="2000" i="1" spc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|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, is there an </a:t>
                </a:r>
                <a14:m>
                  <m:oMath xmlns:m="http://schemas.openxmlformats.org/officeDocument/2006/math"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00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sSup>
                      <m:sSupPr>
                        <m:ctrlPr>
                          <a:rPr kumimoji="1" lang="en-US" altLang="zh-CN" sz="20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0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sz="2000" i="1" spc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 algorithm?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Example:  </a:t>
                </a:r>
                <a:r>
                  <a:rPr kumimoji="1"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Multi-colored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𝒌</m:t>
                    </m:r>
                  </m:oMath>
                </a14:m>
                <a:r>
                  <a:rPr kumimoji="1" lang="en-US" altLang="zh-CN" sz="20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-Clique</a:t>
                </a:r>
                <a:endParaRPr kumimoji="1" lang="en-US" altLang="zh-CN" sz="20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E3A6A5-EE17-29D3-A539-5F566EFDA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1886" y="4287441"/>
                <a:ext cx="9835445" cy="1113334"/>
              </a:xfrm>
              <a:blipFill>
                <a:blip r:embed="rId3"/>
                <a:stretch>
                  <a:fillRect l="-387" t="-5618" b="-3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F66FB-C14D-E96D-A094-43858024A90A}"/>
                  </a:ext>
                </a:extLst>
              </p:cNvPr>
              <p:cNvSpPr txBox="1"/>
              <p:nvPr/>
            </p:nvSpPr>
            <p:spPr>
              <a:xfrm>
                <a:off x="838200" y="5493136"/>
                <a:ext cx="11038934" cy="72071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z="2000" b="1" u="sng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PIH (Parameterized Inapproximability Hypothesis) </a:t>
                </a:r>
                <a:r>
                  <a:rPr kumimoji="1" lang="en-US" altLang="zh-CN" sz="2000" u="sng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[Lokshtanov-Ramanujan-Saurabh-Zehavi’20]</a:t>
                </a:r>
                <a:r>
                  <a:rPr kumimoji="1" lang="en-US" altLang="zh-CN" sz="2000" u="sng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:</a:t>
                </a:r>
              </a:p>
              <a:p>
                <a:pPr indent="-285750">
                  <a:lnSpc>
                    <a:spcPct val="100000"/>
                  </a:lnSpc>
                </a:pP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1" lang="en-US" altLang="zh-CN" sz="2000" b="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𝑘</m:t>
                    </m:r>
                    <m:r>
                      <a:rPr kumimoji="1" lang="en-US" altLang="zh-CN" sz="2000" b="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=|</m:t>
                    </m:r>
                    <m:r>
                      <a:rPr kumimoji="1" lang="en-US" altLang="zh-CN" sz="2000" b="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𝑋</m:t>
                    </m:r>
                    <m:r>
                      <a:rPr kumimoji="1" lang="en-US" altLang="zh-CN" sz="2000" b="0" i="1" spc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|</m:t>
                    </m:r>
                  </m:oMath>
                </a14:m>
                <a:r>
                  <a:rPr kumimoji="1" lang="en-US" altLang="zh-CN" sz="2000" spc="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US" altLang="zh-CN" sz="2000" b="0" i="1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𝑛</m:t>
                    </m:r>
                    <m:r>
                      <a:rPr kumimoji="1" lang="en-US" altLang="zh-CN" sz="2000" b="0" i="1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altLang="zh-CN" sz="2000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kumimoji="1" lang="en-US" altLang="zh-CN" sz="2000" b="0" i="1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|</m:t>
                    </m:r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, there is 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0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sz="2000" b="0" i="1" spc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𝑓</m:t>
                        </m:r>
                        <m:r>
                          <a:rPr kumimoji="1" lang="en-US" altLang="zh-CN" sz="2000" b="0" i="1" spc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</m:t>
                        </m:r>
                        <m:r>
                          <a:rPr kumimoji="1" lang="en-US" altLang="zh-CN" sz="2000" b="0" i="1" spc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𝑘</m:t>
                        </m:r>
                        <m:r>
                          <a:rPr kumimoji="1" lang="en-US" altLang="zh-CN" sz="2000" b="0" i="1" spc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)∙</m:t>
                        </m:r>
                        <m:r>
                          <a:rPr kumimoji="1" lang="en-US" altLang="zh-CN" sz="20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0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𝑂</m:t>
                        </m:r>
                        <m:r>
                          <a:rPr kumimoji="1" lang="en-US" altLang="zh-CN" sz="2000" b="0" i="1" spc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 algorithm for (1 vs 0.9) gap</a:t>
                </a:r>
                <a:r>
                  <a:rPr kumimoji="1" lang="zh-CN" altLang="en-US" sz="2000" spc="0" dirty="0">
                    <a:latin typeface="Cambria Math" panose="02040503050406030204" pitchFamily="18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 </a:t>
                </a:r>
                <a:r>
                  <a:rPr kumimoji="1" lang="en-US" altLang="zh-CN" sz="2000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parameterized CSP.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F66FB-C14D-E96D-A094-43858024A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93136"/>
                <a:ext cx="11038934" cy="720710"/>
              </a:xfrm>
              <a:prstGeom prst="rect">
                <a:avLst/>
              </a:prstGeom>
              <a:blipFill>
                <a:blip r:embed="rId4"/>
                <a:stretch>
                  <a:fillRect l="-690" t="-3448" r="-115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DD87A34-8D85-AC96-8895-7A92C00A3E86}"/>
                  </a:ext>
                </a:extLst>
              </p:cNvPr>
              <p:cNvSpPr/>
              <p:nvPr/>
            </p:nvSpPr>
            <p:spPr>
              <a:xfrm>
                <a:off x="901886" y="2235199"/>
                <a:ext cx="4604695" cy="194545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𝐂𝐨𝐧𝐬𝐭𝐫𝐚𝐢𝐧𝐭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𝐒𝐚𝐭𝐢𝐬𝐟𝐚𝐜𝐭𝐢𝐨𝐧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𝐏𝐫𝐨𝐛𝐥𝐞𝐦</m:t>
                      </m:r>
                    </m:oMath>
                  </m:oMathPara>
                </a14:m>
                <a:endParaRPr lang="en-US" altLang="zh-CN" sz="1400" b="1" kern="1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sz="1600" b="1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600" kern="100" dirty="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6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600" i="1" kern="10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:</a:t>
                </a:r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:</a:t>
                </a:r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alphabet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Φ</m:t>
                    </m:r>
                    <m:r>
                      <a:rPr lang="en-US" altLang="zh-CN" sz="1600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kumimoji="1"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</a:t>
                </a:r>
              </a:p>
              <a:p>
                <a:r>
                  <a:rPr kumimoji="1" lang="en-US" altLang="zh-CN" sz="1600" b="1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Output: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satisfying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all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constraints?</a:t>
                </a:r>
                <a:endParaRPr kumimoji="1" lang="zh-CN" altLang="en-US" sz="16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DD87A34-8D85-AC96-8895-7A92C00A3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6" y="2235199"/>
                <a:ext cx="4604695" cy="1945453"/>
              </a:xfrm>
              <a:prstGeom prst="roundRect">
                <a:avLst/>
              </a:prstGeom>
              <a:blipFill>
                <a:blip r:embed="rId5"/>
                <a:stretch>
                  <a:fillRect r="-923" b="-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圆角矩形 4">
                <a:extLst>
                  <a:ext uri="{FF2B5EF4-FFF2-40B4-BE49-F238E27FC236}">
                    <a16:creationId xmlns:a16="http://schemas.microsoft.com/office/drawing/2014/main" id="{20D372AD-FE73-9BE0-684E-B6D22A643409}"/>
                  </a:ext>
                </a:extLst>
              </p:cNvPr>
              <p:cNvSpPr/>
              <p:nvPr/>
            </p:nvSpPr>
            <p:spPr>
              <a:xfrm>
                <a:off x="6140027" y="2074180"/>
                <a:ext cx="4991545" cy="784196"/>
              </a:xfrm>
              <a:prstGeom prst="roundRect">
                <a:avLst/>
              </a:prstGeom>
              <a:noFill/>
              <a:ln>
                <a:solidFill>
                  <a:srgbClr val="364EF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CN" dirty="0" err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):=max.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fraction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constraints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satisfied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by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some assignment</a:t>
                </a:r>
                <a:endParaRPr kumimoji="1" lang="zh-CN" alt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圆角矩形 4">
                <a:extLst>
                  <a:ext uri="{FF2B5EF4-FFF2-40B4-BE49-F238E27FC236}">
                    <a16:creationId xmlns:a16="http://schemas.microsoft.com/office/drawing/2014/main" id="{20D372AD-FE73-9BE0-684E-B6D22A643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027" y="2074180"/>
                <a:ext cx="4991545" cy="784196"/>
              </a:xfrm>
              <a:prstGeom prst="roundRect">
                <a:avLst/>
              </a:prstGeom>
              <a:blipFill>
                <a:blip r:embed="rId6"/>
                <a:stretch>
                  <a:fillRect l="-122" b="-2290"/>
                </a:stretch>
              </a:blipFill>
              <a:ln>
                <a:solidFill>
                  <a:srgbClr val="364EF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3">
                <a:extLst>
                  <a:ext uri="{FF2B5EF4-FFF2-40B4-BE49-F238E27FC236}">
                    <a16:creationId xmlns:a16="http://schemas.microsoft.com/office/drawing/2014/main" id="{F3161CF4-FF82-93C9-DF90-1310F1DEDD85}"/>
                  </a:ext>
                </a:extLst>
              </p:cNvPr>
              <p:cNvSpPr/>
              <p:nvPr/>
            </p:nvSpPr>
            <p:spPr>
              <a:xfrm>
                <a:off x="5767907" y="3003172"/>
                <a:ext cx="5879147" cy="119190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𝐯𝐬</m:t>
                          </m:r>
                          <m:r>
                            <a:rPr kumimoji="1"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d>
                      <m:r>
                        <a:rPr kumimoji="1" lang="zh-CN" alt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𝐠𝐚𝐩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𝐂𝐒𝐏</m:t>
                      </m:r>
                    </m:oMath>
                  </m:oMathPara>
                </a14:m>
                <a:endParaRPr lang="en-US" altLang="zh-CN" sz="1400" b="1" kern="10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r>
                  <a:rPr lang="en-US" altLang="zh-CN" sz="1600" b="1" kern="10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Input:</a:t>
                </a:r>
                <a:r>
                  <a:rPr lang="zh-CN" altLang="en-US" sz="1600" kern="10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 </a:t>
                </a:r>
                <a:r>
                  <a:rPr lang="en-US" altLang="zh-CN" sz="1600" kern="100">
                    <a:solidFill>
                      <a:schemeClr val="tx1"/>
                    </a:solidFill>
                    <a:effectLst/>
                    <a:latin typeface="Consolas" panose="020B0609020204030204" pitchFamily="49" charset="0"/>
                    <a:ea typeface="DengXian" panose="02010600030101010101" pitchFamily="2" charset="-122"/>
                    <a:cs typeface="Consolas" panose="020B0609020204030204" pitchFamily="49" charset="0"/>
                  </a:rPr>
                  <a:t>a CSP instance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6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6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600" i="1" kern="10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Calibri" panose="020F0502020204030204" pitchFamily="34" charset="0"/>
                  <a:cs typeface="Consolas" panose="020B0609020204030204" pitchFamily="49" charset="0"/>
                </a:endParaRPr>
              </a:p>
              <a:p>
                <a:r>
                  <a:rPr kumimoji="1" lang="en-US" altLang="zh-CN" sz="1600" b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Goal: </a:t>
                </a:r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distinguish </a:t>
                </a:r>
                <a:r>
                  <a:rPr kumimoji="1" lang="en-US" altLang="zh-CN" sz="1600" err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</a:t>
                </a:r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kumimoji="1" lang="en-US" altLang="zh-CN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onsolas" panose="020B0609020204030204" pitchFamily="49" charset="0"/>
                      </a:rPr>
                      <m:t>)=1</m:t>
                    </m:r>
                  </m:oMath>
                </a14:m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vs </a:t>
                </a:r>
                <a:r>
                  <a:rPr kumimoji="1" lang="en-US" altLang="zh-CN" sz="1600" err="1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val</a:t>
                </a:r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kumimoji="1" lang="en-US" altLang="zh-CN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𝛿</m:t>
                    </m:r>
                  </m:oMath>
                </a14:m>
                <a:r>
                  <a:rPr kumimoji="1" lang="en-US" altLang="zh-CN" sz="1600">
                    <a:solidFill>
                      <a:schemeClr val="tx1"/>
                    </a:solidFill>
                    <a:latin typeface="Consolas" panose="020B0609020204030204" pitchFamily="49" charset="0"/>
                    <a:ea typeface="Calibri" panose="020F0502020204030204" pitchFamily="34" charset="0"/>
                    <a:cs typeface="Consolas" panose="020B06090202040302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圆角矩形 3">
                <a:extLst>
                  <a:ext uri="{FF2B5EF4-FFF2-40B4-BE49-F238E27FC236}">
                    <a16:creationId xmlns:a16="http://schemas.microsoft.com/office/drawing/2014/main" id="{F3161CF4-FF82-93C9-DF90-1310F1DED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07" y="3003172"/>
                <a:ext cx="5879147" cy="11919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8">
            <a:extLst>
              <a:ext uri="{FF2B5EF4-FFF2-40B4-BE49-F238E27FC236}">
                <a16:creationId xmlns:a16="http://schemas.microsoft.com/office/drawing/2014/main" id="{9E4684CF-5D5B-A68B-40E6-F9C2A2EAC175}"/>
              </a:ext>
            </a:extLst>
          </p:cNvPr>
          <p:cNvSpPr/>
          <p:nvPr/>
        </p:nvSpPr>
        <p:spPr>
          <a:xfrm>
            <a:off x="7886114" y="3729430"/>
            <a:ext cx="749685" cy="256491"/>
          </a:xfrm>
          <a:prstGeom prst="rect">
            <a:avLst/>
          </a:prstGeom>
          <a:noFill/>
          <a:ln w="19050">
            <a:solidFill>
              <a:srgbClr val="364EF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9">
            <a:extLst>
              <a:ext uri="{FF2B5EF4-FFF2-40B4-BE49-F238E27FC236}">
                <a16:creationId xmlns:a16="http://schemas.microsoft.com/office/drawing/2014/main" id="{414DCF22-D223-4677-C4EF-14C2FC93C6BB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V="1">
            <a:off x="8260957" y="2858376"/>
            <a:ext cx="374843" cy="87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33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32289-3E15-644B-32ED-E6B4CAD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2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Parameterized Inapproximability Hypothesis</a:t>
            </a:r>
            <a:endParaRPr kumimoji="1" lang="zh-CN" altLang="en-US" sz="32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7" y="2121408"/>
                <a:ext cx="10234549" cy="4050792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The analogue of PCP theorem here is </a:t>
                </a:r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W[1]</a:t>
                </a:r>
                <a14:m>
                  <m:oMath xmlns:m="http://schemas.openxmlformats.org/officeDocument/2006/math">
                    <m:r>
                      <a:rPr kumimoji="1" lang="en-US" altLang="zh-CN" spc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≠</m:t>
                    </m:r>
                  </m:oMath>
                </a14:m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FPT </a:t>
                </a:r>
                <a14:m>
                  <m:oMath xmlns:m="http://schemas.openxmlformats.org/officeDocument/2006/math">
                    <m:r>
                      <a:rPr kumimoji="1" lang="en-US" altLang="zh-CN" spc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⇒</m:t>
                    </m:r>
                  </m:oMath>
                </a14:m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PIH</a:t>
                </a:r>
                <a:endParaRPr kumimoji="1" lang="en-US" altLang="zh-CN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It was known </a:t>
                </a:r>
                <a:r>
                  <a:rPr kumimoji="1" lang="en-US" altLang="zh-CN" sz="1600" spc="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[Dinur-Manurangsi’18] 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that </a:t>
                </a:r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Gap-ETH </a:t>
                </a:r>
                <a14:m>
                  <m:oMath xmlns:m="http://schemas.openxmlformats.org/officeDocument/2006/math">
                    <m:r>
                      <a:rPr kumimoji="1" lang="en-US" altLang="zh-CN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⇒</m:t>
                    </m:r>
                  </m:oMath>
                </a14:m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PIH</a:t>
                </a:r>
                <a:endParaRPr kumimoji="1" lang="en-US" altLang="zh-CN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b="1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Gap-ETH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: “Constant approximating Max3SAT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l-GR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Ω</m:t>
                        </m:r>
                        <m:r>
                          <a:rPr kumimoji="1" lang="en-US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</m:t>
                        </m:r>
                        <m:r>
                          <a:rPr kumimoji="1" lang="en-US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  <m:r>
                          <a:rPr kumimoji="1" lang="en-US" altLang="zh-CN" b="0" i="1" spc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time”</a:t>
                </a:r>
              </a:p>
              <a:p>
                <a:pPr marL="742950" lvl="1" indent="-285750">
                  <a:lnSpc>
                    <a:spcPct val="100000"/>
                  </a:lnSpc>
                </a:pPr>
                <a:endParaRPr kumimoji="1" lang="en-US" altLang="zh-CN" sz="1600" spc="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285750" indent="-285750">
                  <a:lnSpc>
                    <a:spcPct val="100000"/>
                  </a:lnSpc>
                </a:pP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Recently,</a:t>
                </a:r>
                <a:r>
                  <a:rPr kumimoji="1" lang="zh-CN" altLang="en-US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it</a:t>
                </a:r>
                <a:r>
                  <a:rPr kumimoji="1" lang="zh-CN" altLang="en-US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was</a:t>
                </a:r>
                <a:r>
                  <a:rPr kumimoji="1" lang="zh-CN" altLang="en-US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proven</a:t>
                </a:r>
                <a:r>
                  <a:rPr kumimoji="1" lang="zh-CN" altLang="en-US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[Guruswami-Lin-R-Sun-Wu’24]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that</a:t>
                </a:r>
                <a:r>
                  <a:rPr kumimoji="1" lang="en-US" altLang="zh-CN" spc="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ETH </a:t>
                </a:r>
                <a14:m>
                  <m:oMath xmlns:m="http://schemas.openxmlformats.org/officeDocument/2006/math">
                    <m:r>
                      <a:rPr kumimoji="1" lang="en-US" altLang="zh-CN" spc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⇒</m:t>
                    </m:r>
                  </m:oMath>
                </a14:m>
                <a:r>
                  <a:rPr kumimoji="1" lang="en-US" altLang="zh-CN" spc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PIH</a:t>
                </a:r>
                <a:endParaRPr kumimoji="1" lang="en-US" altLang="zh-CN" sz="1600" spc="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b="1" spc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ETH</a:t>
                </a:r>
                <a:r>
                  <a:rPr kumimoji="1" lang="en-US" altLang="zh-CN" spc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: “3SAT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kumimoji="1" lang="en-US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1" lang="el-GR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Ω</m:t>
                        </m:r>
                        <m:r>
                          <a:rPr kumimoji="1" lang="en-US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(</m:t>
                        </m:r>
                        <m:r>
                          <a:rPr kumimoji="1" lang="en-US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𝑛</m:t>
                        </m:r>
                        <m:r>
                          <a:rPr kumimoji="1" lang="en-US" altLang="zh-CN" b="0" i="1" spc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nsolas" panose="020B0609020204030204" pitchFamily="49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US" altLang="zh-CN" spc="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time”</a:t>
                </a:r>
                <a:endParaRPr kumimoji="1" lang="en-US" altLang="zh-CN" sz="1600" dirty="0">
                  <a:latin typeface="Cambria Math" panose="02040503050406030204" pitchFamily="18" charset="0"/>
                  <a:ea typeface="Cambria Math" panose="02040503050406030204" pitchFamily="18" charset="0"/>
                  <a:cs typeface="Consolas" panose="020B0609020204030204" pitchFamily="49" charset="0"/>
                </a:endParaRPr>
              </a:p>
              <a:p>
                <a:pPr marL="742950" lvl="1" indent="-285750">
                  <a:lnSpc>
                    <a:spcPct val="100000"/>
                  </a:lnSpc>
                </a:pP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Further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improved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by</a:t>
                </a:r>
                <a:r>
                  <a:rPr kumimoji="1"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[Bafna-Minzer-Karthik’25,</a:t>
                </a:r>
                <a:r>
                  <a:rPr kumimoji="1" lang="zh-CN" altLang="en-US" sz="160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sz="160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Guruswami-Lin-R-Sun-Wu’25]</a:t>
                </a:r>
                <a:r>
                  <a:rPr kumimoji="1" lang="zh-CN" altLang="en-US" sz="2000" dirty="0">
                    <a:solidFill>
                      <a:srgbClr val="2F559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in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terms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of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smaller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parameter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blow</a:t>
                </a:r>
                <a:r>
                  <a:rPr kumimoji="1"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  <a:cs typeface="Consolas" panose="020B0609020204030204" pitchFamily="49" charset="0"/>
                  </a:rPr>
                  <a:t>up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99F9E39-C75E-5BE4-AE7B-6F992FDD5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7" y="2121408"/>
                <a:ext cx="10234549" cy="4050792"/>
              </a:xfrm>
              <a:blipFill>
                <a:blip r:embed="rId3"/>
                <a:stretch>
                  <a:fillRect l="-372" t="-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31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855D-7C83-C7EE-C190-50442905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>
                <a:latin typeface="Cambria" panose="02040503050406030204" pitchFamily="18" charset="0"/>
              </a:rPr>
              <a:t>Background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Complexity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Constraint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Satisfaction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Problem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(CSP)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Inapproximability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Hypothesis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(PIH)</a:t>
            </a:r>
          </a:p>
          <a:p>
            <a:pPr lvl="1"/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From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PIH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to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Average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mbria" panose="02040503050406030204" pitchFamily="18" charset="0"/>
              </a:rPr>
              <a:t>PIH</a:t>
            </a:r>
          </a:p>
          <a:p>
            <a:pPr marL="274320" lvl="1" indent="0">
              <a:buNone/>
            </a:pPr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Proof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Overview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Average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</p:txBody>
      </p:sp>
    </p:spTree>
    <p:extLst>
      <p:ext uri="{BB962C8B-B14F-4D97-AF65-F5344CB8AC3E}">
        <p14:creationId xmlns:p14="http://schemas.microsoft.com/office/powerpoint/2010/main" val="358554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977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/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blipFill>
                <a:blip r:embed="rId5"/>
                <a:stretch>
                  <a:fillRect l="-2058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/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blipFill>
                <a:blip r:embed="rId6"/>
                <a:stretch>
                  <a:fillRect l="-27273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/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blipFill>
                <a:blip r:embed="rId7"/>
                <a:stretch>
                  <a:fillRect l="-2352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B21F939-A564-07C0-2B41-4651CE3E2D75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202049" y="4523406"/>
            <a:ext cx="807867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/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ACCE4B2-A42B-FA54-DE0A-34B34785E023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97639" y="4523406"/>
            <a:ext cx="822392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/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7390DFF-6CCB-0C0E-0CC7-7500E4C4F51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156047" y="5700131"/>
            <a:ext cx="179546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/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blipFill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/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CN" sz="1400" b="0" i="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={0,1,2,3}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blipFill>
                <a:blip r:embed="rId1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E332F251-2C77-4576-6329-9F2BF88F2736}"/>
              </a:ext>
            </a:extLst>
          </p:cNvPr>
          <p:cNvSpPr/>
          <p:nvPr/>
        </p:nvSpPr>
        <p:spPr>
          <a:xfrm>
            <a:off x="2697480" y="4050792"/>
            <a:ext cx="6702552" cy="2093976"/>
          </a:xfrm>
          <a:prstGeom prst="rect">
            <a:avLst/>
          </a:prstGeom>
          <a:solidFill>
            <a:schemeClr val="bg1">
              <a:alpha val="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22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/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blipFill>
                <a:blip r:embed="rId5"/>
                <a:stretch>
                  <a:fillRect l="-2058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/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blipFill>
                <a:blip r:embed="rId6"/>
                <a:stretch>
                  <a:fillRect l="-27273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/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blipFill>
                <a:blip r:embed="rId7"/>
                <a:stretch>
                  <a:fillRect l="-2352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B21F939-A564-07C0-2B41-4651CE3E2D75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202049" y="4523406"/>
            <a:ext cx="807867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/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ACCE4B2-A42B-FA54-DE0A-34B34785E023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97639" y="4523406"/>
            <a:ext cx="822392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/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7390DFF-6CCB-0C0E-0CC7-7500E4C4F51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156047" y="5700131"/>
            <a:ext cx="179546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/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blipFill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/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CN" sz="1400" b="0" i="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={0,1,2,3}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blipFill>
                <a:blip r:embed="rId1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E332F251-2C77-4576-6329-9F2BF88F2736}"/>
              </a:ext>
            </a:extLst>
          </p:cNvPr>
          <p:cNvSpPr/>
          <p:nvPr/>
        </p:nvSpPr>
        <p:spPr>
          <a:xfrm>
            <a:off x="2697480" y="4050792"/>
            <a:ext cx="6702552" cy="2093976"/>
          </a:xfrm>
          <a:prstGeom prst="rect">
            <a:avLst/>
          </a:prstGeom>
          <a:solidFill>
            <a:schemeClr val="bg1">
              <a:alpha val="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C74BD1-2388-3249-F424-E7FDC878B6B8}"/>
              </a:ext>
            </a:extLst>
          </p:cNvPr>
          <p:cNvSpPr txBox="1"/>
          <p:nvPr/>
        </p:nvSpPr>
        <p:spPr>
          <a:xfrm>
            <a:off x="6346818" y="421206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E63D51-28A4-D24B-17D7-B9374B1A93DA}"/>
              </a:ext>
            </a:extLst>
          </p:cNvPr>
          <p:cNvSpPr txBox="1"/>
          <p:nvPr/>
        </p:nvSpPr>
        <p:spPr>
          <a:xfrm>
            <a:off x="7350342" y="552400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[1,2]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5E2EC2-FDC5-803A-90BD-E99D7BA056BB}"/>
              </a:ext>
            </a:extLst>
          </p:cNvPr>
          <p:cNvSpPr txBox="1"/>
          <p:nvPr/>
        </p:nvSpPr>
        <p:spPr>
          <a:xfrm>
            <a:off x="4288132" y="551546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40471523-84F4-0DDC-C30D-C79D00187461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40471523-84F4-0DDC-C30D-C79D00187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1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0D10189A-24BD-1478-82FF-F3D7FBE8B664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0D10189A-24BD-1478-82FF-F3D7FBE8B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2A980A-07E3-0330-4232-C51DEB7C57C7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2A980A-07E3-0330-4232-C51DEB7C5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1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75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332F251-2C77-4576-6329-9F2BF88F2736}"/>
              </a:ext>
            </a:extLst>
          </p:cNvPr>
          <p:cNvSpPr/>
          <p:nvPr/>
        </p:nvSpPr>
        <p:spPr>
          <a:xfrm>
            <a:off x="2697480" y="4050792"/>
            <a:ext cx="6702552" cy="2093976"/>
          </a:xfrm>
          <a:prstGeom prst="rect">
            <a:avLst/>
          </a:prstGeom>
          <a:solidFill>
            <a:schemeClr val="bg1">
              <a:alpha val="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/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blipFill>
                <a:blip r:embed="rId5"/>
                <a:stretch>
                  <a:fillRect l="-2058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/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blipFill>
                <a:blip r:embed="rId6"/>
                <a:stretch>
                  <a:fillRect l="-27273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/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blipFill>
                <a:blip r:embed="rId7"/>
                <a:stretch>
                  <a:fillRect l="-2352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B21F939-A564-07C0-2B41-4651CE3E2D75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202049" y="4523406"/>
            <a:ext cx="807867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/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ACCE4B2-A42B-FA54-DE0A-34B34785E023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97639" y="4523406"/>
            <a:ext cx="822392" cy="103227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/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7390DFF-6CCB-0C0E-0CC7-7500E4C4F51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156047" y="5700131"/>
            <a:ext cx="179546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/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blipFill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/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CN" sz="1400" b="0" i="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={0,1,2,3}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blipFill>
                <a:blip r:embed="rId1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8C74BD1-2388-3249-F424-E7FDC878B6B8}"/>
              </a:ext>
            </a:extLst>
          </p:cNvPr>
          <p:cNvSpPr txBox="1"/>
          <p:nvPr/>
        </p:nvSpPr>
        <p:spPr>
          <a:xfrm>
            <a:off x="6346818" y="421206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1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E63D51-28A4-D24B-17D7-B9374B1A93DA}"/>
              </a:ext>
            </a:extLst>
          </p:cNvPr>
          <p:cNvSpPr txBox="1"/>
          <p:nvPr/>
        </p:nvSpPr>
        <p:spPr>
          <a:xfrm>
            <a:off x="7350342" y="552400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[1,2]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5E2EC2-FDC5-803A-90BD-E99D7BA056BB}"/>
              </a:ext>
            </a:extLst>
          </p:cNvPr>
          <p:cNvSpPr txBox="1"/>
          <p:nvPr/>
        </p:nvSpPr>
        <p:spPr>
          <a:xfrm>
            <a:off x="4288132" y="551546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1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CACA9E90-6325-B0A0-1E68-52806DB27F6B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CACA9E90-6325-B0A0-1E68-52806DB27F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1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326C106F-2233-CF30-8959-DA4EF7252F19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326C106F-2233-CF30-8959-DA4EF7252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0189B4F-78A7-38A4-3FE7-490EA9D9EE85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0189B4F-78A7-38A4-3FE7-490EA9D9E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1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359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332F251-2C77-4576-6329-9F2BF88F2736}"/>
              </a:ext>
            </a:extLst>
          </p:cNvPr>
          <p:cNvSpPr/>
          <p:nvPr/>
        </p:nvSpPr>
        <p:spPr>
          <a:xfrm>
            <a:off x="2697480" y="4050792"/>
            <a:ext cx="6702552" cy="2093976"/>
          </a:xfrm>
          <a:prstGeom prst="rect">
            <a:avLst/>
          </a:prstGeom>
          <a:solidFill>
            <a:schemeClr val="bg1">
              <a:alpha val="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C74BD1-2388-3249-F424-E7FDC878B6B8}"/>
              </a:ext>
            </a:extLst>
          </p:cNvPr>
          <p:cNvSpPr txBox="1"/>
          <p:nvPr/>
        </p:nvSpPr>
        <p:spPr>
          <a:xfrm>
            <a:off x="6346818" y="421206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1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/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blipFill>
                <a:blip r:embed="rId5"/>
                <a:stretch>
                  <a:fillRect l="-2058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/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blipFill>
                <a:blip r:embed="rId6"/>
                <a:stretch>
                  <a:fillRect l="-27273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/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blipFill>
                <a:blip r:embed="rId7"/>
                <a:stretch>
                  <a:fillRect l="-2352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B21F939-A564-07C0-2B41-4651CE3E2D75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202049" y="4523406"/>
            <a:ext cx="807867" cy="103227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/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ACCE4B2-A42B-FA54-DE0A-34B34785E023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97639" y="4523406"/>
            <a:ext cx="822392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/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7390DFF-6CCB-0C0E-0CC7-7500E4C4F51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156047" y="5700131"/>
            <a:ext cx="179546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/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blipFill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/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CN" sz="1400" b="0" i="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={0,1,2,3}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blipFill>
                <a:blip r:embed="rId1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F3E63D51-28A4-D24B-17D7-B9374B1A93DA}"/>
              </a:ext>
            </a:extLst>
          </p:cNvPr>
          <p:cNvSpPr txBox="1"/>
          <p:nvPr/>
        </p:nvSpPr>
        <p:spPr>
          <a:xfrm>
            <a:off x="7350342" y="552400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1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,2]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5E2EC2-FDC5-803A-90BD-E99D7BA056BB}"/>
              </a:ext>
            </a:extLst>
          </p:cNvPr>
          <p:cNvSpPr txBox="1"/>
          <p:nvPr/>
        </p:nvSpPr>
        <p:spPr>
          <a:xfrm>
            <a:off x="4288132" y="551546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DC26CD83-D2E7-E520-6C68-5447B40C2248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DC26CD83-D2E7-E520-6C68-5447B40C2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1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27702E1F-5CA6-C94C-FD49-EB3F3C5DBC3B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27702E1F-5CA6-C94C-FD49-EB3F3C5DBC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CD0C13-D641-31F2-6008-AC912968476D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3CD0C13-D641-31F2-6008-AC9129684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1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11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332F251-2C77-4576-6329-9F2BF88F2736}"/>
              </a:ext>
            </a:extLst>
          </p:cNvPr>
          <p:cNvSpPr/>
          <p:nvPr/>
        </p:nvSpPr>
        <p:spPr>
          <a:xfrm>
            <a:off x="2697480" y="4050792"/>
            <a:ext cx="6702552" cy="2093976"/>
          </a:xfrm>
          <a:prstGeom prst="rect">
            <a:avLst/>
          </a:prstGeom>
          <a:solidFill>
            <a:schemeClr val="bg1">
              <a:alpha val="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/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2A9EB06-AF08-DDF7-F9CF-0AD7B9EFE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13" y="5495850"/>
                <a:ext cx="398834" cy="408562"/>
              </a:xfrm>
              <a:prstGeom prst="ellipse">
                <a:avLst/>
              </a:prstGeom>
              <a:blipFill>
                <a:blip r:embed="rId5"/>
                <a:stretch>
                  <a:fillRect l="-2058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/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E16D3CF2-BAE6-553F-E806-B4EF7E660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623" y="4174677"/>
                <a:ext cx="398834" cy="408562"/>
              </a:xfrm>
              <a:prstGeom prst="ellipse">
                <a:avLst/>
              </a:prstGeom>
              <a:blipFill>
                <a:blip r:embed="rId6"/>
                <a:stretch>
                  <a:fillRect l="-27273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/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C6DF7A47-6CB1-F65F-291F-FB98873F6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08" y="5495850"/>
                <a:ext cx="398834" cy="408562"/>
              </a:xfrm>
              <a:prstGeom prst="ellipse">
                <a:avLst/>
              </a:prstGeom>
              <a:blipFill>
                <a:blip r:embed="rId7"/>
                <a:stretch>
                  <a:fillRect l="-23529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B21F939-A564-07C0-2B41-4651CE3E2D75}"/>
              </a:ext>
            </a:extLst>
          </p:cNvPr>
          <p:cNvCxnSpPr>
            <a:cxnSpLocks/>
            <a:stCxn id="5" idx="5"/>
            <a:endCxn id="6" idx="1"/>
          </p:cNvCxnSpPr>
          <p:nvPr/>
        </p:nvCxnSpPr>
        <p:spPr>
          <a:xfrm>
            <a:off x="6202049" y="4523406"/>
            <a:ext cx="807867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/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7B6784-3CEF-BD94-1A0D-6F2CE38B2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280" y="4725842"/>
                <a:ext cx="1650580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ACCE4B2-A42B-FA54-DE0A-34B34785E023}"/>
              </a:ext>
            </a:extLst>
          </p:cNvPr>
          <p:cNvCxnSpPr>
            <a:cxnSpLocks/>
            <a:stCxn id="3" idx="7"/>
            <a:endCxn id="5" idx="3"/>
          </p:cNvCxnSpPr>
          <p:nvPr/>
        </p:nvCxnSpPr>
        <p:spPr>
          <a:xfrm flipV="1">
            <a:off x="5097639" y="4523406"/>
            <a:ext cx="822392" cy="1032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/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zh-CN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8E3695B-9E25-B9D4-AA17-DB604DCA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82" y="5720166"/>
                <a:ext cx="15923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37390DFF-6CCB-0C0E-0CC7-7500E4C4F51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5156047" y="5700131"/>
            <a:ext cx="1795461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/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C93F0B5-FE9E-D53B-1B55-B41888BF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00" y="4705157"/>
                <a:ext cx="1331070" cy="307777"/>
              </a:xfrm>
              <a:prstGeom prst="rect">
                <a:avLst/>
              </a:prstGeom>
              <a:blipFill>
                <a:blip r:embed="rId1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/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CN" sz="1400" b="0" i="0" kern="100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={0,1,2,3}</m:t>
                      </m:r>
                    </m:oMath>
                  </m:oMathPara>
                </a14:m>
                <a:endParaRPr lang="zh-CN" altLang="zh-CN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8D38957-452E-2FFE-1F42-BA509E53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119" y="4168335"/>
                <a:ext cx="1174666" cy="307777"/>
              </a:xfrm>
              <a:prstGeom prst="rect">
                <a:avLst/>
              </a:prstGeom>
              <a:blipFill>
                <a:blip r:embed="rId11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88C74BD1-2388-3249-F424-E7FDC878B6B8}"/>
              </a:ext>
            </a:extLst>
          </p:cNvPr>
          <p:cNvSpPr txBox="1"/>
          <p:nvPr/>
        </p:nvSpPr>
        <p:spPr>
          <a:xfrm>
            <a:off x="6346818" y="421206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E63D51-28A4-D24B-17D7-B9374B1A93DA}"/>
              </a:ext>
            </a:extLst>
          </p:cNvPr>
          <p:cNvSpPr txBox="1"/>
          <p:nvPr/>
        </p:nvSpPr>
        <p:spPr>
          <a:xfrm>
            <a:off x="7350342" y="552400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[1,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2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5E2EC2-FDC5-803A-90BD-E99D7BA056BB}"/>
              </a:ext>
            </a:extLst>
          </p:cNvPr>
          <p:cNvSpPr txBox="1"/>
          <p:nvPr/>
        </p:nvSpPr>
        <p:spPr>
          <a:xfrm>
            <a:off x="4288132" y="551546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[</a:t>
            </a:r>
            <a:r>
              <a:rPr kumimoji="1" lang="en-US" altLang="zh-CN" dirty="0">
                <a:solidFill>
                  <a:srgbClr val="FF0000"/>
                </a:solidFill>
                <a:latin typeface="Palatino" pitchFamily="2" charset="0"/>
                <a:ea typeface="Palatino" pitchFamily="2" charset="0"/>
              </a:rPr>
              <a:t>1</a:t>
            </a:r>
            <a:r>
              <a:rPr kumimoji="1" lang="en-US" altLang="zh-CN" dirty="0">
                <a:latin typeface="Palatino" pitchFamily="2" charset="0"/>
                <a:ea typeface="Palatino" pitchFamily="2" charset="0"/>
              </a:rPr>
              <a:t>]</a:t>
            </a:r>
            <a:endParaRPr kumimoji="1" lang="zh-CN" altLang="en-US" dirty="0">
              <a:latin typeface="Palatino" pitchFamily="2" charset="0"/>
              <a:ea typeface="Palatino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D56F5A81-6843-A89B-182D-5AB37FAC81E9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D56F5A81-6843-A89B-182D-5AB37FAC81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1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8F45A91C-3EE6-D096-5672-AA0C2DEF9603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8F45A91C-3EE6-D096-5672-AA0C2DEF9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455C7E-77E9-4400-B18A-258DE89D7B62}"/>
                  </a:ext>
                </a:extLst>
              </p:cNvPr>
              <p:cNvSpPr txBox="1"/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constraint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list-satisfied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s.t.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satisfies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this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constraint.</a:t>
                </a:r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455C7E-77E9-4400-B18A-258DE89D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518496"/>
                <a:ext cx="10539327" cy="400110"/>
              </a:xfrm>
              <a:prstGeom prst="rect">
                <a:avLst/>
              </a:prstGeom>
              <a:blipFill>
                <a:blip r:embed="rId14"/>
                <a:stretch>
                  <a:fillRect l="-482" t="-606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008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E286EE-CDF1-976A-E7C9-5C6EBC906C2E}"/>
                  </a:ext>
                </a:extLst>
              </p:cNvPr>
              <p:cNvSpPr txBox="1"/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2-CSP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all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constraints.</a:t>
                </a:r>
                <a:endParaRPr lang="zh-CN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E286EE-CDF1-976A-E7C9-5C6EBC906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blipFill>
                <a:blip r:embed="rId4"/>
                <a:stretch>
                  <a:fillRect l="-463" t="-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E18369B8-5E99-521D-6FF7-5135D9583356}"/>
              </a:ext>
            </a:extLst>
          </p:cNvPr>
          <p:cNvSpPr txBox="1"/>
          <p:nvPr/>
        </p:nvSpPr>
        <p:spPr>
          <a:xfrm>
            <a:off x="740775" y="3918606"/>
            <a:ext cx="1095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6290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Satisfiability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E286EE-CDF1-976A-E7C9-5C6EBC906C2E}"/>
                  </a:ext>
                </a:extLst>
              </p:cNvPr>
              <p:cNvSpPr txBox="1"/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2-CSP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all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constraints.</a:t>
                </a:r>
                <a:endParaRPr lang="zh-CN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E286EE-CDF1-976A-E7C9-5C6EBC906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blipFill>
                <a:blip r:embed="rId4"/>
                <a:stretch>
                  <a:fillRect l="-463" t="-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8369B8-5E99-521D-6FF7-5135D9583356}"/>
                  </a:ext>
                </a:extLst>
              </p:cNvPr>
              <p:cNvSpPr txBox="1"/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Value=1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1-list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≥1/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8369B8-5E99-521D-6FF7-5135D9583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blipFill>
                <a:blip r:embed="rId5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605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/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2-CSP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all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constraints.</a:t>
                </a:r>
                <a:endParaRPr lang="zh-CN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blipFill>
                <a:blip r:embed="rId4"/>
                <a:stretch>
                  <a:fillRect l="-463" t="-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980BE1-68BC-269A-486E-831378B33B16}"/>
                  </a:ext>
                </a:extLst>
              </p:cNvPr>
              <p:cNvSpPr txBox="1"/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Value=1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1-list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≥1/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980BE1-68BC-269A-486E-831378B33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blipFill>
                <a:blip r:embed="rId5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40775" y="4853520"/>
                <a:ext cx="1144736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It’s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NP-hard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dirty="0">
                    <a:latin typeface="Cambria" panose="02040503050406030204" pitchFamily="18" charset="0"/>
                  </a:rPr>
                  <a:t>]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dirty="0">
                    <a:latin typeface="Cambria" panose="02040503050406030204" pitchFamily="18" charset="0"/>
                  </a:rPr>
                  <a:t>].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4853520"/>
                <a:ext cx="11447362" cy="677108"/>
              </a:xfrm>
              <a:prstGeom prst="rect">
                <a:avLst/>
              </a:prstGeom>
              <a:blipFill>
                <a:blip r:embed="rId6"/>
                <a:stretch>
                  <a:fillRect l="-443" t="-5556"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591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/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Input:</a:t>
                </a:r>
                <a:r>
                  <a:rPr lang="zh-CN" altLang="en-US" sz="1800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Output: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all</a:t>
                </a:r>
                <a:r>
                  <a:rPr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constraints?</a:t>
                </a:r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F2FA0649-866F-7FE4-A905-36ED2F31C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280" y="1909152"/>
                <a:ext cx="4325371" cy="1519848"/>
              </a:xfrm>
              <a:prstGeom prst="roundRect">
                <a:avLst/>
              </a:prstGeom>
              <a:blipFill>
                <a:blip r:embed="rId2"/>
                <a:stretch>
                  <a:fillRect t="-813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/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Value</a:t>
                </a:r>
              </a:p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max.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size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list-satisfying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multi-assignment</a:t>
                </a:r>
                <a:r>
                  <a:rPr kumimoji="1" lang="zh-CN" altLang="en-US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</m:sup>
                    </m:sSup>
                  </m:oMath>
                </a14:m>
                <a:endParaRPr kumimoji="1" lang="zh-CN" altLang="en-US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27562670-C8F4-08C5-17B2-5F97B2D4A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75727"/>
                <a:ext cx="3501957" cy="118669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/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2-CSP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 err="1">
                    <a:latin typeface="Cambria" panose="02040503050406030204" pitchFamily="18" charset="0"/>
                  </a:rPr>
                  <a:t>iff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all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constraints.</a:t>
                </a:r>
                <a:endParaRPr lang="zh-CN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38F5280-AADB-7CCD-0BF9-2BB4804C6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518496"/>
                <a:ext cx="10954512" cy="494944"/>
              </a:xfrm>
              <a:prstGeom prst="rect">
                <a:avLst/>
              </a:prstGeom>
              <a:blipFill>
                <a:blip r:embed="rId4"/>
                <a:stretch>
                  <a:fillRect l="-463" t="-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980BE1-68BC-269A-486E-831378B33B16}"/>
                  </a:ext>
                </a:extLst>
              </p:cNvPr>
              <p:cNvSpPr txBox="1"/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Value=1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1-list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Value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≥1/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980BE1-68BC-269A-486E-831378B33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3918606"/>
                <a:ext cx="10954512" cy="646331"/>
              </a:xfrm>
              <a:prstGeom prst="rect">
                <a:avLst/>
              </a:prstGeom>
              <a:blipFill>
                <a:blip r:embed="rId5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40775" y="4853520"/>
                <a:ext cx="11447362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It’s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NP-hard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dirty="0">
                    <a:latin typeface="Cambria" panose="02040503050406030204" pitchFamily="18" charset="0"/>
                  </a:rPr>
                  <a:t>]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dirty="0">
                    <a:latin typeface="Cambria" panose="02040503050406030204" pitchFamily="18" charset="0"/>
                  </a:rPr>
                  <a:t>].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⇐</m:t>
                    </m:r>
                  </m:oMath>
                </a14:m>
                <a:r>
                  <a:rPr lang="zh-CN" altLang="en-US" sz="2000" kern="100" dirty="0">
                    <a:latin typeface="Cambria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,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It’s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NP-hard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Value</a:t>
                </a:r>
                <a:r>
                  <a:rPr lang="zh-CN" altLang="en-US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=1</a:t>
                </a:r>
                <a:r>
                  <a:rPr lang="en-US" altLang="zh-CN" dirty="0">
                    <a:latin typeface="Cambria" panose="02040503050406030204" pitchFamily="18" charset="0"/>
                  </a:rPr>
                  <a:t>]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[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CSP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Value</a:t>
                </a:r>
                <a:r>
                  <a:rPr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&lt;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Cambria" panose="02040503050406030204" pitchFamily="18" charset="0"/>
                  </a:rPr>
                  <a:t>].</a:t>
                </a:r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endParaRPr lang="en-US" altLang="zh-CN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5" y="4853520"/>
                <a:ext cx="11447362" cy="1261884"/>
              </a:xfrm>
              <a:prstGeom prst="rect">
                <a:avLst/>
              </a:prstGeom>
              <a:blipFill>
                <a:blip r:embed="rId6"/>
                <a:stretch>
                  <a:fillRect l="-443" t="-3000" b="-7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BF4512-123C-9240-44C4-D31C0854FE95}"/>
                  </a:ext>
                </a:extLst>
              </p:cNvPr>
              <p:cNvSpPr txBox="1"/>
              <p:nvPr/>
            </p:nvSpPr>
            <p:spPr>
              <a:xfrm rot="5400000">
                <a:off x="7523286" y="5462124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⇐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BF4512-123C-9240-44C4-D31C0854F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523286" y="5462124"/>
                <a:ext cx="4427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BDCDE37-6197-DB7B-2E9E-FBE930D1FD9B}"/>
                  </a:ext>
                </a:extLst>
              </p:cNvPr>
              <p:cNvSpPr txBox="1"/>
              <p:nvPr/>
            </p:nvSpPr>
            <p:spPr>
              <a:xfrm rot="5400000">
                <a:off x="9561248" y="5460186"/>
                <a:ext cx="442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⇐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BDCDE37-6197-DB7B-2E9E-FBE930D1F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561248" y="5460186"/>
                <a:ext cx="4427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D5D6C6-79AC-9905-C9A1-66D9832DED26}"/>
                  </a:ext>
                </a:extLst>
              </p:cNvPr>
              <p:cNvSpPr txBox="1"/>
              <p:nvPr/>
            </p:nvSpPr>
            <p:spPr>
              <a:xfrm>
                <a:off x="9782623" y="5482524"/>
                <a:ext cx="14922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ambria" panose="02040503050406030204" pitchFamily="18" charset="0"/>
                  </a:rPr>
                  <a:t>(when</a:t>
                </a:r>
                <a:r>
                  <a:rPr lang="zh-CN" altLang="en-US" sz="14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&lt;1/</m:t>
                    </m:r>
                    <m:sSup>
                      <m:sSup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>
                    <a:latin typeface="Cambria" panose="02040503050406030204" pitchFamily="18" charset="0"/>
                  </a:rPr>
                  <a:t>)</a:t>
                </a:r>
                <a:endParaRPr kumimoji="1" lang="zh-CN" altLang="en-US" sz="14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D5D6C6-79AC-9905-C9A1-66D9832DE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623" y="5482524"/>
                <a:ext cx="1492203" cy="307777"/>
              </a:xfrm>
              <a:prstGeom prst="rect">
                <a:avLst/>
              </a:prstGeom>
              <a:blipFill>
                <a:blip r:embed="rId9"/>
                <a:stretch>
                  <a:fillRect l="-168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844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PCP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16502" y="1762003"/>
                <a:ext cx="1111054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P,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&gt;1, 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lvl="2"/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combinatorial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proof)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NP-hardness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PCSPs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(e.g.,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(2+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-SAT))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1762003"/>
                <a:ext cx="11110540" cy="1938992"/>
              </a:xfrm>
              <a:prstGeom prst="rect">
                <a:avLst/>
              </a:prstGeom>
              <a:blipFill>
                <a:blip r:embed="rId2"/>
                <a:stretch>
                  <a:fillRect l="-457" t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291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16502" y="1762003"/>
                <a:ext cx="1111054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P,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&gt;1, 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lvl="2"/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combinatorial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proof)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NP-hardness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PCSPs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(e.g.,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(2+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-SAT))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[Guruswami-R-Sandeep’24]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W[1</a:t>
                </a:r>
                <a:r>
                  <a:rPr lang="en-US" altLang="zh-CN" sz="2000" dirty="0">
                    <a:latin typeface="Cambria" panose="02040503050406030204" pitchFamily="18" charset="0"/>
                    <a:ea typeface="Cambria Math" panose="02040503050406030204" pitchFamily="18" charset="0"/>
                  </a:rPr>
                  <a:t>]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FPT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…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itself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interesting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inapproximability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result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list-satisfiability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CSP)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step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towards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get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applications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PIH?)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1762003"/>
                <a:ext cx="11110540" cy="3477875"/>
              </a:xfrm>
              <a:prstGeom prst="rect">
                <a:avLst/>
              </a:prstGeom>
              <a:blipFill>
                <a:blip r:embed="rId2"/>
                <a:stretch>
                  <a:fillRect l="-457" t="-727" b="-2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544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16502" y="1762003"/>
                <a:ext cx="1111054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P,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&gt;1, 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lvl="2"/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combinatorial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proof)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NP-hardness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PCSPs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(e.g.,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(2+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-SAT))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[Guruswami-R-Sandeep’24]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W[1</a:t>
                </a:r>
                <a:r>
                  <a:rPr lang="en-US" altLang="zh-CN" sz="2000" dirty="0">
                    <a:latin typeface="Cambria" panose="02040503050406030204" pitchFamily="18" charset="0"/>
                    <a:ea typeface="Cambria Math" panose="02040503050406030204" pitchFamily="18" charset="0"/>
                  </a:rPr>
                  <a:t>]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FPT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…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itself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interesting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inapproximability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result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list-satisfiability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CSP)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step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towards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[Liu-Chen-Li-Lin-Zheng’25]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get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applications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!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1762003"/>
                <a:ext cx="11110540" cy="4093428"/>
              </a:xfrm>
              <a:prstGeom prst="rect">
                <a:avLst/>
              </a:prstGeom>
              <a:blipFill>
                <a:blip r:embed="rId2"/>
                <a:stretch>
                  <a:fillRect l="-457" t="-617" b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671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中度可信度描述已自动生成">
            <a:extLst>
              <a:ext uri="{FF2B5EF4-FFF2-40B4-BE49-F238E27FC236}">
                <a16:creationId xmlns:a16="http://schemas.microsoft.com/office/drawing/2014/main" id="{C8AE3BDC-8365-4EA0-C8C5-38B79C8D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7" y="0"/>
            <a:ext cx="12153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41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D9FD5B08-1E20-31D5-F922-01D44DCAC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5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8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716502" y="1762003"/>
                <a:ext cx="1111054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[Barto-Kozik’22]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P,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&gt;1, 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lvl="2"/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combinatorial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proof)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(Enough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NP-hardness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PCSPs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(e.g.,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(2+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-SAT))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[Guruswami-R-Sandeep’24]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Assuming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W[1</a:t>
                </a:r>
                <a:r>
                  <a:rPr lang="en-US" altLang="zh-CN" sz="2000" dirty="0">
                    <a:latin typeface="Cambria" panose="02040503050406030204" pitchFamily="18" charset="0"/>
                    <a:ea typeface="Cambria Math" panose="02040503050406030204" pitchFamily="18" charset="0"/>
                  </a:rPr>
                  <a:t>]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FPT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…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cannot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" panose="02040503050406030204" pitchFamily="18" charset="0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</a:rPr>
                  <a:t>time.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itself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interesting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inapproximability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result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list-satisfiability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CSP)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step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towards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[Liu-Chen-Li-Lin-Zheng’25]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constant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 err="1">
                    <a:latin typeface="Cambria" panose="02040503050406030204" pitchFamily="18" charset="0"/>
                    <a:ea typeface="Palatino" pitchFamily="2" charset="0"/>
                  </a:rPr>
                  <a:t>inapprox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.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Palatino" pitchFamily="2" charset="0"/>
                      </a:rPr>
                      <m:t>𝒌</m:t>
                    </m:r>
                  </m:oMath>
                </a14:m>
                <a:r>
                  <a:rPr lang="en-US" altLang="zh-CN" sz="2000" b="1" dirty="0">
                    <a:latin typeface="Cambria" panose="02040503050406030204" pitchFamily="18" charset="0"/>
                    <a:ea typeface="Palatino" pitchFamily="2" charset="0"/>
                  </a:rPr>
                  <a:t>-</a:t>
                </a:r>
                <a:r>
                  <a:rPr lang="en-US" altLang="zh-CN" sz="2000" b="1" dirty="0" err="1">
                    <a:latin typeface="Cambria" panose="02040503050406030204" pitchFamily="18" charset="0"/>
                    <a:ea typeface="Palatino" pitchFamily="2" charset="0"/>
                  </a:rPr>
                  <a:t>ExactCover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Palatino" pitchFamily="2" charset="0"/>
                      </a:rPr>
                      <m:t>𝒌</m:t>
                    </m:r>
                  </m:oMath>
                </a14:m>
                <a:r>
                  <a:rPr lang="en-US" altLang="zh-CN" sz="2000" b="1" dirty="0">
                    <a:latin typeface="Cambria" panose="02040503050406030204" pitchFamily="18" charset="0"/>
                    <a:ea typeface="Palatino" pitchFamily="2" charset="0"/>
                  </a:rPr>
                  <a:t>-Nearest</a:t>
                </a:r>
                <a:r>
                  <a:rPr lang="zh-CN" altLang="en-US" sz="2000" b="1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b="1" dirty="0">
                    <a:latin typeface="Cambria" panose="02040503050406030204" pitchFamily="18" charset="0"/>
                    <a:ea typeface="Palatino" pitchFamily="2" charset="0"/>
                  </a:rPr>
                  <a:t>Codeword</a:t>
                </a:r>
                <a:r>
                  <a:rPr lang="zh-CN" altLang="en-US" sz="2000" b="1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b="1" dirty="0">
                    <a:latin typeface="Cambria" panose="02040503050406030204" pitchFamily="18" charset="0"/>
                    <a:ea typeface="Palatino" pitchFamily="2" charset="0"/>
                  </a:rPr>
                  <a:t>Problem</a:t>
                </a:r>
                <a:r>
                  <a:rPr lang="zh-CN" altLang="en-US" sz="2000" b="1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  <a:ea typeface="Palatino" pitchFamily="2" charset="0"/>
                  </a:rPr>
                  <a:t>under</a:t>
                </a:r>
                <a:r>
                  <a:rPr lang="zh-CN" altLang="en-US" sz="2000" dirty="0"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W[1</a:t>
                </a:r>
                <a:r>
                  <a:rPr lang="en-US" altLang="zh-CN" sz="2000" dirty="0">
                    <a:latin typeface="Cambria" panose="02040503050406030204" pitchFamily="18" charset="0"/>
                    <a:ea typeface="Cambria Math" panose="02040503050406030204" pitchFamily="18" charset="0"/>
                  </a:rPr>
                  <a:t>]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FPT</a:t>
                </a:r>
                <a:endParaRPr lang="en-US" altLang="zh-CN" sz="2000" dirty="0">
                  <a:latin typeface="Cambria" panose="02040503050406030204" pitchFamily="18" charset="0"/>
                  <a:ea typeface="Palatino" pitchFamily="2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PIH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PIH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PIH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1762003"/>
                <a:ext cx="11110540" cy="4401205"/>
              </a:xfrm>
              <a:prstGeom prst="rect">
                <a:avLst/>
              </a:prstGeom>
              <a:blipFill>
                <a:blip r:embed="rId2"/>
                <a:stretch>
                  <a:fillRect l="-457" t="-575" r="-114" b="-1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853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855D-7C83-C7EE-C190-50442905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>
                <a:latin typeface="Cambria" panose="02040503050406030204" pitchFamily="18" charset="0"/>
              </a:rPr>
              <a:t>Background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Complexity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Constraint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Satisfaction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Problem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(CSP)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Inapproximability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Hypothesis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(PIH)</a:t>
            </a:r>
          </a:p>
          <a:p>
            <a:pPr lvl="1"/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From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to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Average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</a:p>
          <a:p>
            <a:pPr marL="274320" lvl="1" indent="0">
              <a:buNone/>
            </a:pPr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Proof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Overview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ambria" panose="02040503050406030204" pitchFamily="18" charset="0"/>
              </a:rPr>
              <a:t>PIH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Average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</p:txBody>
      </p:sp>
    </p:spTree>
    <p:extLst>
      <p:ext uri="{BB962C8B-B14F-4D97-AF65-F5344CB8AC3E}">
        <p14:creationId xmlns:p14="http://schemas.microsoft.com/office/powerpoint/2010/main" val="323122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8E903-12CA-01DE-F0CD-C69C5077CF6B}"/>
              </a:ext>
            </a:extLst>
          </p:cNvPr>
          <p:cNvSpPr txBox="1"/>
          <p:nvPr/>
        </p:nvSpPr>
        <p:spPr>
          <a:xfrm>
            <a:off x="716502" y="1762003"/>
            <a:ext cx="107540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pitchFamily="18" charset="0"/>
              </a:rPr>
              <a:t>Follows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from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and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extends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FF3399"/>
                </a:solidFill>
                <a:latin typeface="Cambria" panose="02040503050406030204" pitchFamily="18" charset="0"/>
                <a:ea typeface="Palatino" pitchFamily="2" charset="0"/>
              </a:rPr>
              <a:t>[Barto-Kozik’22]</a:t>
            </a:r>
            <a:r>
              <a:rPr lang="en-US" altLang="zh-CN" sz="2000" dirty="0">
                <a:latin typeface="Cambria" panose="02040503050406030204" pitchFamily="18" charset="0"/>
              </a:rPr>
              <a:t>’s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proof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Baby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PCP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Direct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Product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3185103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8A3E6A8C-3C12-ACBE-0D17-8CA614E09E9B}"/>
              </a:ext>
            </a:extLst>
          </p:cNvPr>
          <p:cNvSpPr/>
          <p:nvPr/>
        </p:nvSpPr>
        <p:spPr>
          <a:xfrm>
            <a:off x="6532859" y="3777485"/>
            <a:ext cx="3385458" cy="605700"/>
          </a:xfrm>
          <a:prstGeom prst="wedgeRoundRectCallout">
            <a:avLst>
              <a:gd name="adj1" fmla="val 13298"/>
              <a:gd name="adj2" fmla="val -9279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partial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satisfying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assignments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endParaRPr kumimoji="1" lang="en-US" altLang="zh-CN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for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set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of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variables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0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8E903-12CA-01DE-F0CD-C69C5077CF6B}"/>
              </a:ext>
            </a:extLst>
          </p:cNvPr>
          <p:cNvSpPr txBox="1"/>
          <p:nvPr/>
        </p:nvSpPr>
        <p:spPr>
          <a:xfrm>
            <a:off x="716502" y="1762003"/>
            <a:ext cx="107540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pitchFamily="18" charset="0"/>
              </a:rPr>
              <a:t>Follows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from and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extends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FF3399"/>
                </a:solidFill>
                <a:latin typeface="Cambria" panose="02040503050406030204" pitchFamily="18" charset="0"/>
                <a:ea typeface="Palatino" pitchFamily="2" charset="0"/>
              </a:rPr>
              <a:t>[Barto-Kozik’22]</a:t>
            </a:r>
            <a:r>
              <a:rPr lang="en-US" altLang="zh-CN" sz="2000" dirty="0">
                <a:latin typeface="Cambria" panose="02040503050406030204" pitchFamily="18" charset="0"/>
              </a:rPr>
              <a:t>’s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proof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Baby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PCP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Direct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Product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3185103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圆角矩形标注 9">
            <a:extLst>
              <a:ext uri="{FF2B5EF4-FFF2-40B4-BE49-F238E27FC236}">
                <a16:creationId xmlns:a16="http://schemas.microsoft.com/office/drawing/2014/main" id="{F64A26B7-FCD4-C4DD-3651-32784D46A4F2}"/>
              </a:ext>
            </a:extLst>
          </p:cNvPr>
          <p:cNvSpPr/>
          <p:nvPr/>
        </p:nvSpPr>
        <p:spPr>
          <a:xfrm>
            <a:off x="7529187" y="3793328"/>
            <a:ext cx="2344441" cy="398316"/>
          </a:xfrm>
          <a:prstGeom prst="wedgeRoundRectCallout">
            <a:avLst>
              <a:gd name="adj1" fmla="val 14190"/>
              <a:gd name="adj2" fmla="val -12514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consistency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checks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570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8E903-12CA-01DE-F0CD-C69C5077CF6B}"/>
              </a:ext>
            </a:extLst>
          </p:cNvPr>
          <p:cNvSpPr txBox="1"/>
          <p:nvPr/>
        </p:nvSpPr>
        <p:spPr>
          <a:xfrm>
            <a:off x="716502" y="1762003"/>
            <a:ext cx="107540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pitchFamily="18" charset="0"/>
              </a:rPr>
              <a:t>Follows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from and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extends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FF3399"/>
                </a:solidFill>
                <a:latin typeface="Cambria" panose="02040503050406030204" pitchFamily="18" charset="0"/>
                <a:ea typeface="Palatino" pitchFamily="2" charset="0"/>
              </a:rPr>
              <a:t>[Barto-Kozik’22]</a:t>
            </a:r>
            <a:r>
              <a:rPr lang="en-US" altLang="zh-CN" sz="2000" dirty="0">
                <a:latin typeface="Cambria" panose="02040503050406030204" pitchFamily="18" charset="0"/>
              </a:rPr>
              <a:t>’s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proof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Baby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PCP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Direct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Product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3185103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8A3E6A8C-3C12-ACBE-0D17-8CA614E09E9B}"/>
              </a:ext>
            </a:extLst>
          </p:cNvPr>
          <p:cNvSpPr/>
          <p:nvPr/>
        </p:nvSpPr>
        <p:spPr>
          <a:xfrm>
            <a:off x="5341733" y="3793328"/>
            <a:ext cx="3385458" cy="605700"/>
          </a:xfrm>
          <a:prstGeom prst="wedgeRoundRectCallout">
            <a:avLst>
              <a:gd name="adj1" fmla="val 49192"/>
              <a:gd name="adj2" fmla="val -947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partial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satisfying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assignments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endParaRPr kumimoji="1" lang="en-US" altLang="zh-CN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for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set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of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variables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圆角矩形标注 8">
            <a:extLst>
              <a:ext uri="{FF2B5EF4-FFF2-40B4-BE49-F238E27FC236}">
                <a16:creationId xmlns:a16="http://schemas.microsoft.com/office/drawing/2014/main" id="{0127E166-C73C-2E46-2853-1A55E6006763}"/>
              </a:ext>
            </a:extLst>
          </p:cNvPr>
          <p:cNvSpPr/>
          <p:nvPr/>
        </p:nvSpPr>
        <p:spPr>
          <a:xfrm>
            <a:off x="8926630" y="3772645"/>
            <a:ext cx="2344441" cy="398316"/>
          </a:xfrm>
          <a:prstGeom prst="wedgeRoundRectCallout">
            <a:avLst>
              <a:gd name="adj1" fmla="val -48933"/>
              <a:gd name="adj2" fmla="val -11608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consistency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checks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3080DF2-E24E-9D73-FC30-4A30F9D782C4}"/>
                  </a:ext>
                </a:extLst>
              </p:cNvPr>
              <p:cNvSpPr txBox="1"/>
              <p:nvPr/>
            </p:nvSpPr>
            <p:spPr>
              <a:xfrm>
                <a:off x="716502" y="4271613"/>
                <a:ext cx="10754009" cy="1656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(Want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show):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there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exists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depending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such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every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(Completeness)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	If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000">
                            <a:latin typeface="Cambria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(Soundness)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000">
                            <a:latin typeface="Cambria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3080DF2-E24E-9D73-FC30-4A30F9D7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4271613"/>
                <a:ext cx="10754009" cy="1656864"/>
              </a:xfrm>
              <a:prstGeom prst="rect">
                <a:avLst/>
              </a:prstGeom>
              <a:blipFill>
                <a:blip r:embed="rId4"/>
                <a:stretch>
                  <a:fillRect l="-472" t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023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98E903-12CA-01DE-F0CD-C69C5077CF6B}"/>
              </a:ext>
            </a:extLst>
          </p:cNvPr>
          <p:cNvSpPr txBox="1"/>
          <p:nvPr/>
        </p:nvSpPr>
        <p:spPr>
          <a:xfrm>
            <a:off x="716502" y="1762003"/>
            <a:ext cx="107540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pitchFamily="18" charset="0"/>
              </a:rPr>
              <a:t>Follows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from and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extends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FF3399"/>
                </a:solidFill>
                <a:latin typeface="Cambria" panose="02040503050406030204" pitchFamily="18" charset="0"/>
                <a:ea typeface="Palatino" pitchFamily="2" charset="0"/>
              </a:rPr>
              <a:t>[Barto-Kozik’22]</a:t>
            </a:r>
            <a:r>
              <a:rPr lang="en-US" altLang="zh-CN" sz="2000" dirty="0">
                <a:latin typeface="Cambria" panose="02040503050406030204" pitchFamily="18" charset="0"/>
              </a:rPr>
              <a:t>’s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proof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of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Baby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PCP</a:t>
            </a:r>
            <a:r>
              <a:rPr lang="zh-CN" altLang="en-US" sz="2000" dirty="0"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latin typeface="Cambria" panose="02040503050406030204" pitchFamily="18" charset="0"/>
              </a:rPr>
              <a:t>Theorem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Direct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Product</a:t>
            </a:r>
            <a:r>
              <a:rPr lang="zh-CN" altLang="en-US" sz="2000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ambria" panose="02040503050406030204" pitchFamily="18" charset="0"/>
              </a:rPr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2777666"/>
                <a:ext cx="1997443" cy="75992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15957"/>
                <a:ext cx="4259176" cy="12773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3185103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2F5300-498A-B943-C0AD-03F52A2A76A1}"/>
                  </a:ext>
                </a:extLst>
              </p:cNvPr>
              <p:cNvSpPr txBox="1"/>
              <p:nvPr/>
            </p:nvSpPr>
            <p:spPr>
              <a:xfrm>
                <a:off x="716502" y="4271613"/>
                <a:ext cx="10754009" cy="2285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(Want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show):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there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exists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depending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such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every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(Completeness)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	If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000">
                            <a:latin typeface="Cambria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(Soundness)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	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000">
                            <a:latin typeface="Cambria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Reduction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time: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where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unified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both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PCP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PIH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12F5300-498A-B943-C0AD-03F52A2A7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02" y="4271613"/>
                <a:ext cx="10754009" cy="2285241"/>
              </a:xfrm>
              <a:prstGeom prst="rect">
                <a:avLst/>
              </a:prstGeom>
              <a:blipFill>
                <a:blip r:embed="rId4"/>
                <a:stretch>
                  <a:fillRect l="-472" t="-1657" b="-3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F46440C3-1AB2-2679-EC14-ACD0D2FC7988}"/>
              </a:ext>
            </a:extLst>
          </p:cNvPr>
          <p:cNvSpPr/>
          <p:nvPr/>
        </p:nvSpPr>
        <p:spPr>
          <a:xfrm>
            <a:off x="5341733" y="3793328"/>
            <a:ext cx="3385458" cy="605700"/>
          </a:xfrm>
          <a:prstGeom prst="wedgeRoundRectCallout">
            <a:avLst>
              <a:gd name="adj1" fmla="val 49192"/>
              <a:gd name="adj2" fmla="val -94780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partial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satisfying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assignments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endParaRPr kumimoji="1" lang="en-US" altLang="zh-CN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for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set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of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variables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9" name="圆角矩形标注 8">
            <a:extLst>
              <a:ext uri="{FF2B5EF4-FFF2-40B4-BE49-F238E27FC236}">
                <a16:creationId xmlns:a16="http://schemas.microsoft.com/office/drawing/2014/main" id="{D929382A-240C-09A6-4246-14304440FD63}"/>
              </a:ext>
            </a:extLst>
          </p:cNvPr>
          <p:cNvSpPr/>
          <p:nvPr/>
        </p:nvSpPr>
        <p:spPr>
          <a:xfrm>
            <a:off x="8926630" y="3772645"/>
            <a:ext cx="2344441" cy="398316"/>
          </a:xfrm>
          <a:prstGeom prst="wedgeRoundRectCallout">
            <a:avLst>
              <a:gd name="adj1" fmla="val -48933"/>
              <a:gd name="adj2" fmla="val -11608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consistency</a:t>
            </a:r>
            <a:r>
              <a:rPr kumimoji="1" lang="zh-CN" altLang="en-US" i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i="1" dirty="0">
                <a:solidFill>
                  <a:schemeClr val="tx1"/>
                </a:solidFill>
                <a:latin typeface="Cambria" panose="02040503050406030204" pitchFamily="18" charset="0"/>
              </a:rPr>
              <a:t>checks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7528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/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/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/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2880B74E-126D-247A-8B08-C77B54968E7D}"/>
              </a:ext>
            </a:extLst>
          </p:cNvPr>
          <p:cNvSpPr/>
          <p:nvPr/>
        </p:nvSpPr>
        <p:spPr>
          <a:xfrm>
            <a:off x="3655191" y="3325358"/>
            <a:ext cx="1886673" cy="556627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and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so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on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…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792A43-BC42-741B-7E70-FC3E4A4EAD69}"/>
              </a:ext>
            </a:extLst>
          </p:cNvPr>
          <p:cNvGrpSpPr/>
          <p:nvPr/>
        </p:nvGrpSpPr>
        <p:grpSpPr>
          <a:xfrm>
            <a:off x="7892006" y="3024434"/>
            <a:ext cx="1818187" cy="1161307"/>
            <a:chOff x="4899951" y="3244334"/>
            <a:chExt cx="1818187" cy="1161307"/>
          </a:xfrm>
        </p:grpSpPr>
        <p:sp>
          <p:nvSpPr>
            <p:cNvPr id="20" name="左大括号 19">
              <a:extLst>
                <a:ext uri="{FF2B5EF4-FFF2-40B4-BE49-F238E27FC236}">
                  <a16:creationId xmlns:a16="http://schemas.microsoft.com/office/drawing/2014/main" id="{232B234F-30BE-9131-664D-74BB5D98B463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(2,2,3,3)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(1,1,3,1)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DFD376-15FB-AB22-E8D6-5D4C80B3099A}"/>
              </a:ext>
            </a:extLst>
          </p:cNvPr>
          <p:cNvGrpSpPr/>
          <p:nvPr/>
        </p:nvGrpSpPr>
        <p:grpSpPr>
          <a:xfrm>
            <a:off x="7881394" y="1792116"/>
            <a:ext cx="1818187" cy="1160345"/>
            <a:chOff x="4899951" y="3244334"/>
            <a:chExt cx="1818187" cy="1160345"/>
          </a:xfrm>
        </p:grpSpPr>
        <p:sp>
          <p:nvSpPr>
            <p:cNvPr id="28" name="左大括号 27">
              <a:extLst>
                <a:ext uri="{FF2B5EF4-FFF2-40B4-BE49-F238E27FC236}">
                  <a16:creationId xmlns:a16="http://schemas.microsoft.com/office/drawing/2014/main" id="{2D34E7A1-0654-1C2F-06EC-11B43A27F3AA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(1,1,1,2)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(2,1,2,3)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(3,1,2,2)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7CBF066-8D9E-1EC4-9D1E-B8344C1D3D39}"/>
              </a:ext>
            </a:extLst>
          </p:cNvPr>
          <p:cNvSpPr/>
          <p:nvPr/>
        </p:nvSpPr>
        <p:spPr>
          <a:xfrm rot="10800000">
            <a:off x="3017748" y="1911395"/>
            <a:ext cx="200630" cy="92597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/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(1,3,1,2)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/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(3,3,2,1)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/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(2,2,3,1)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/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A0D514AD-59F6-ABF9-7B61-9CCBF65A729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541864" y="2372290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B4F9F131-9BFF-3301-BC7E-DC0BFA846CD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459852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866B1F8A-FC49-A460-D6D2-54991A29130A}"/>
              </a:ext>
            </a:extLst>
          </p:cNvPr>
          <p:cNvCxnSpPr>
            <a:cxnSpLocks/>
          </p:cNvCxnSpPr>
          <p:nvPr/>
        </p:nvCxnSpPr>
        <p:spPr>
          <a:xfrm>
            <a:off x="5541864" y="2612924"/>
            <a:ext cx="477936" cy="712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5EC0D81-4A3E-648E-5F7C-E452FD20436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93805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54FE39E-9985-FF7F-A2DD-08F59A115E8B}"/>
              </a:ext>
            </a:extLst>
          </p:cNvPr>
          <p:cNvCxnSpPr>
            <a:cxnSpLocks/>
          </p:cNvCxnSpPr>
          <p:nvPr/>
        </p:nvCxnSpPr>
        <p:spPr>
          <a:xfrm flipH="1">
            <a:off x="5514975" y="2612924"/>
            <a:ext cx="479746" cy="7524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092555D-71BA-4299-F2B4-949733D4CB38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5541864" y="3603672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/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3-list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satisfying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assignment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kumimoji="1" lang="en-US" altLang="zh-CN" b="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blipFill>
                <a:blip r:embed="rId17"/>
                <a:stretch>
                  <a:fillRect l="-1159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440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/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/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/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2880B74E-126D-247A-8B08-C77B54968E7D}"/>
              </a:ext>
            </a:extLst>
          </p:cNvPr>
          <p:cNvSpPr/>
          <p:nvPr/>
        </p:nvSpPr>
        <p:spPr>
          <a:xfrm>
            <a:off x="3655191" y="3325358"/>
            <a:ext cx="1886673" cy="556627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and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so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on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…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792A43-BC42-741B-7E70-FC3E4A4EAD69}"/>
              </a:ext>
            </a:extLst>
          </p:cNvPr>
          <p:cNvGrpSpPr/>
          <p:nvPr/>
        </p:nvGrpSpPr>
        <p:grpSpPr>
          <a:xfrm>
            <a:off x="7892006" y="3024434"/>
            <a:ext cx="1818187" cy="1161307"/>
            <a:chOff x="4899951" y="3244334"/>
            <a:chExt cx="1818187" cy="1161307"/>
          </a:xfrm>
        </p:grpSpPr>
        <p:sp>
          <p:nvSpPr>
            <p:cNvPr id="20" name="左大括号 19">
              <a:extLst>
                <a:ext uri="{FF2B5EF4-FFF2-40B4-BE49-F238E27FC236}">
                  <a16:creationId xmlns:a16="http://schemas.microsoft.com/office/drawing/2014/main" id="{232B234F-30BE-9131-664D-74BB5D98B463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(2,2,3,3)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(1,1,3,1)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DFD376-15FB-AB22-E8D6-5D4C80B3099A}"/>
              </a:ext>
            </a:extLst>
          </p:cNvPr>
          <p:cNvGrpSpPr/>
          <p:nvPr/>
        </p:nvGrpSpPr>
        <p:grpSpPr>
          <a:xfrm>
            <a:off x="7881394" y="1792116"/>
            <a:ext cx="1818187" cy="1160345"/>
            <a:chOff x="4899951" y="3244334"/>
            <a:chExt cx="1818187" cy="1160345"/>
          </a:xfrm>
        </p:grpSpPr>
        <p:sp>
          <p:nvSpPr>
            <p:cNvPr id="28" name="左大括号 27">
              <a:extLst>
                <a:ext uri="{FF2B5EF4-FFF2-40B4-BE49-F238E27FC236}">
                  <a16:creationId xmlns:a16="http://schemas.microsoft.com/office/drawing/2014/main" id="{2D34E7A1-0654-1C2F-06EC-11B43A27F3AA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,1,1,2)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(2,1,2,3)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(3,1,2,2)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7CBF066-8D9E-1EC4-9D1E-B8344C1D3D39}"/>
              </a:ext>
            </a:extLst>
          </p:cNvPr>
          <p:cNvSpPr/>
          <p:nvPr/>
        </p:nvSpPr>
        <p:spPr>
          <a:xfrm rot="10800000">
            <a:off x="3017748" y="1911395"/>
            <a:ext cx="200630" cy="92597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/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,3,1,2)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/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(3,3,2,1)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/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(2,2,3,1)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/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A0D514AD-59F6-ABF9-7B61-9CCBF65A729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541864" y="2372290"/>
            <a:ext cx="452857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B4F9F131-9BFF-3301-BC7E-DC0BFA846CD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459852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866B1F8A-FC49-A460-D6D2-54991A29130A}"/>
              </a:ext>
            </a:extLst>
          </p:cNvPr>
          <p:cNvCxnSpPr>
            <a:cxnSpLocks/>
          </p:cNvCxnSpPr>
          <p:nvPr/>
        </p:nvCxnSpPr>
        <p:spPr>
          <a:xfrm>
            <a:off x="5541864" y="2612924"/>
            <a:ext cx="477936" cy="712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5EC0D81-4A3E-648E-5F7C-E452FD20436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93805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54FE39E-9985-FF7F-A2DD-08F59A115E8B}"/>
              </a:ext>
            </a:extLst>
          </p:cNvPr>
          <p:cNvCxnSpPr>
            <a:cxnSpLocks/>
          </p:cNvCxnSpPr>
          <p:nvPr/>
        </p:nvCxnSpPr>
        <p:spPr>
          <a:xfrm flipH="1">
            <a:off x="5514975" y="2612924"/>
            <a:ext cx="479746" cy="7524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092555D-71BA-4299-F2B4-949733D4CB38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5541864" y="3603672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/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3-list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satisfying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assignment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kumimoji="1" lang="en-US" altLang="zh-CN" b="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blipFill>
                <a:blip r:embed="rId17"/>
                <a:stretch>
                  <a:fillRect l="-1159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204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/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/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/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2880B74E-126D-247A-8B08-C77B54968E7D}"/>
              </a:ext>
            </a:extLst>
          </p:cNvPr>
          <p:cNvSpPr/>
          <p:nvPr/>
        </p:nvSpPr>
        <p:spPr>
          <a:xfrm>
            <a:off x="3655191" y="3325358"/>
            <a:ext cx="1886673" cy="556627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and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so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on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…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792A43-BC42-741B-7E70-FC3E4A4EAD69}"/>
              </a:ext>
            </a:extLst>
          </p:cNvPr>
          <p:cNvGrpSpPr/>
          <p:nvPr/>
        </p:nvGrpSpPr>
        <p:grpSpPr>
          <a:xfrm>
            <a:off x="7892006" y="3024434"/>
            <a:ext cx="1818187" cy="1161307"/>
            <a:chOff x="4899951" y="3244334"/>
            <a:chExt cx="1818187" cy="1161307"/>
          </a:xfrm>
        </p:grpSpPr>
        <p:sp>
          <p:nvSpPr>
            <p:cNvPr id="20" name="左大括号 19">
              <a:extLst>
                <a:ext uri="{FF2B5EF4-FFF2-40B4-BE49-F238E27FC236}">
                  <a16:creationId xmlns:a16="http://schemas.microsoft.com/office/drawing/2014/main" id="{232B234F-30BE-9131-664D-74BB5D98B463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,3,2)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(2,2,3,3)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(1,1,3,1)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DFD376-15FB-AB22-E8D6-5D4C80B3099A}"/>
              </a:ext>
            </a:extLst>
          </p:cNvPr>
          <p:cNvGrpSpPr/>
          <p:nvPr/>
        </p:nvGrpSpPr>
        <p:grpSpPr>
          <a:xfrm>
            <a:off x="7881394" y="1792116"/>
            <a:ext cx="1818187" cy="1160345"/>
            <a:chOff x="4899951" y="3244334"/>
            <a:chExt cx="1818187" cy="1160345"/>
          </a:xfrm>
        </p:grpSpPr>
        <p:sp>
          <p:nvSpPr>
            <p:cNvPr id="28" name="左大括号 27">
              <a:extLst>
                <a:ext uri="{FF2B5EF4-FFF2-40B4-BE49-F238E27FC236}">
                  <a16:creationId xmlns:a16="http://schemas.microsoft.com/office/drawing/2014/main" id="{2D34E7A1-0654-1C2F-06EC-11B43A27F3AA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,1,2)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(2,1,2,3)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(3,1,2,2)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7CBF066-8D9E-1EC4-9D1E-B8344C1D3D39}"/>
              </a:ext>
            </a:extLst>
          </p:cNvPr>
          <p:cNvSpPr/>
          <p:nvPr/>
        </p:nvSpPr>
        <p:spPr>
          <a:xfrm rot="10800000">
            <a:off x="3017748" y="1911395"/>
            <a:ext cx="200630" cy="92597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/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(1,3,1,2)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/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(3,3,2,1)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/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(2,2,3,1)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/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A0D514AD-59F6-ABF9-7B61-9CCBF65A729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541864" y="2372290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B4F9F131-9BFF-3301-BC7E-DC0BFA846CD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459852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866B1F8A-FC49-A460-D6D2-54991A29130A}"/>
              </a:ext>
            </a:extLst>
          </p:cNvPr>
          <p:cNvCxnSpPr>
            <a:cxnSpLocks/>
          </p:cNvCxnSpPr>
          <p:nvPr/>
        </p:nvCxnSpPr>
        <p:spPr>
          <a:xfrm>
            <a:off x="5541864" y="2612924"/>
            <a:ext cx="477936" cy="712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5EC0D81-4A3E-648E-5F7C-E452FD20436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938058" y="2650603"/>
            <a:ext cx="0" cy="67475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54FE39E-9985-FF7F-A2DD-08F59A115E8B}"/>
              </a:ext>
            </a:extLst>
          </p:cNvPr>
          <p:cNvCxnSpPr>
            <a:cxnSpLocks/>
          </p:cNvCxnSpPr>
          <p:nvPr/>
        </p:nvCxnSpPr>
        <p:spPr>
          <a:xfrm flipH="1">
            <a:off x="5514975" y="2612924"/>
            <a:ext cx="479746" cy="7524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092555D-71BA-4299-F2B4-949733D4CB38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5541864" y="3603672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/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3-list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satisfying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assignment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kumimoji="1" lang="en-US" altLang="zh-CN" b="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blipFill>
                <a:blip r:embed="rId17"/>
                <a:stretch>
                  <a:fillRect l="-1159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8954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/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FE9170F3-97AB-7DC6-AAD0-587EE1060F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191" y="2093976"/>
                <a:ext cx="1886673" cy="5566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/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042857BB-6680-0B5F-2B30-AFE931209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2093976"/>
                <a:ext cx="1886673" cy="55662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/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solidFill>
                <a:srgbClr val="D5FDA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3ECA9B4D-D94D-E8BF-CB65-B47411FA8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721" y="3325358"/>
                <a:ext cx="1886673" cy="55662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2880B74E-126D-247A-8B08-C77B54968E7D}"/>
              </a:ext>
            </a:extLst>
          </p:cNvPr>
          <p:cNvSpPr/>
          <p:nvPr/>
        </p:nvSpPr>
        <p:spPr>
          <a:xfrm>
            <a:off x="3655191" y="3325358"/>
            <a:ext cx="1886673" cy="556627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and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so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on</a:t>
            </a:r>
            <a:r>
              <a:rPr kumimoji="1" lang="zh-CN" altLang="en-US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latin typeface="Cambria" panose="02040503050406030204" pitchFamily="18" charset="0"/>
              </a:rPr>
              <a:t>…</a:t>
            </a:r>
            <a:endParaRPr kumimoji="1" lang="zh-CN" altLang="en-US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D792A43-BC42-741B-7E70-FC3E4A4EAD69}"/>
              </a:ext>
            </a:extLst>
          </p:cNvPr>
          <p:cNvGrpSpPr/>
          <p:nvPr/>
        </p:nvGrpSpPr>
        <p:grpSpPr>
          <a:xfrm>
            <a:off x="7892006" y="3024434"/>
            <a:ext cx="1818187" cy="1161307"/>
            <a:chOff x="4899951" y="3244334"/>
            <a:chExt cx="1818187" cy="1161307"/>
          </a:xfrm>
        </p:grpSpPr>
        <p:sp>
          <p:nvSpPr>
            <p:cNvPr id="20" name="左大括号 19">
              <a:extLst>
                <a:ext uri="{FF2B5EF4-FFF2-40B4-BE49-F238E27FC236}">
                  <a16:creationId xmlns:a16="http://schemas.microsoft.com/office/drawing/2014/main" id="{232B234F-30BE-9131-664D-74BB5D98B463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D75818-F40E-EB8A-0533-B5EDE111E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,2,</m:t>
                        </m:r>
                        <m:r>
                          <a:rPr kumimoji="1"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B23FA7B-01F2-9061-93EF-4116616DA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(1,1,3,1)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645AB09-068C-7CC5-62A6-68CFE2A38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70294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FEDA7C5-53ED-AFF3-8EBB-D28953E52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2DFD376-15FB-AB22-E8D6-5D4C80B3099A}"/>
              </a:ext>
            </a:extLst>
          </p:cNvPr>
          <p:cNvGrpSpPr/>
          <p:nvPr/>
        </p:nvGrpSpPr>
        <p:grpSpPr>
          <a:xfrm>
            <a:off x="7881394" y="1792116"/>
            <a:ext cx="1818187" cy="1160345"/>
            <a:chOff x="4899951" y="3244334"/>
            <a:chExt cx="1818187" cy="1160345"/>
          </a:xfrm>
        </p:grpSpPr>
        <p:sp>
          <p:nvSpPr>
            <p:cNvPr id="28" name="左大括号 27">
              <a:extLst>
                <a:ext uri="{FF2B5EF4-FFF2-40B4-BE49-F238E27FC236}">
                  <a16:creationId xmlns:a16="http://schemas.microsoft.com/office/drawing/2014/main" id="{2D34E7A1-0654-1C2F-06EC-11B43A27F3AA}"/>
                </a:ext>
              </a:extLst>
            </p:cNvPr>
            <p:cNvSpPr/>
            <p:nvPr/>
          </p:nvSpPr>
          <p:spPr>
            <a:xfrm>
              <a:off x="5273232" y="3388187"/>
              <a:ext cx="200630" cy="925974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/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(1,1,1,2)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35E903B-AB88-4571-6ACA-CEDB92C97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862" y="3244334"/>
                  <a:ext cx="124427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/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(2,1,2,3)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518F22B-4694-DBC3-8FD2-461B5A02CC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3639840"/>
                  <a:ext cx="1244276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/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(3,1,2,2)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1239151-F7A5-D6AA-1978-D3BF46201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0969" y="4035347"/>
                  <a:ext cx="1244276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/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BCE0AE1-834C-F675-AB2C-A5659A0A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9951" y="3638905"/>
                  <a:ext cx="3742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7CBF066-8D9E-1EC4-9D1E-B8344C1D3D39}"/>
              </a:ext>
            </a:extLst>
          </p:cNvPr>
          <p:cNvSpPr/>
          <p:nvPr/>
        </p:nvSpPr>
        <p:spPr>
          <a:xfrm rot="10800000">
            <a:off x="3017748" y="1911395"/>
            <a:ext cx="200630" cy="92597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/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(1,3,1,2)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2C721D-6AAB-CBC6-1DEC-2D20E18F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87" y="1770433"/>
                <a:ext cx="124427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/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(3,3,2,1)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791FE33-14A2-05BC-E28F-707640B9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165939"/>
                <a:ext cx="1244276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/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,2,</m:t>
                      </m:r>
                      <m:r>
                        <a:rPr kumimoji="1"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026E51-93A4-2C36-8721-48A762D6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94" y="2561446"/>
                <a:ext cx="1244276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/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8EBC43E-EF1D-1F49-A975-34ED611F8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3268405" y="2186686"/>
                <a:ext cx="37425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A0D514AD-59F6-ABF9-7B61-9CCBF65A729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541864" y="2372290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B4F9F131-9BFF-3301-BC7E-DC0BFA846CD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459852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866B1F8A-FC49-A460-D6D2-54991A29130A}"/>
              </a:ext>
            </a:extLst>
          </p:cNvPr>
          <p:cNvCxnSpPr>
            <a:cxnSpLocks/>
          </p:cNvCxnSpPr>
          <p:nvPr/>
        </p:nvCxnSpPr>
        <p:spPr>
          <a:xfrm>
            <a:off x="5541864" y="2612924"/>
            <a:ext cx="477936" cy="712434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5EC0D81-4A3E-648E-5F7C-E452FD20436E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6938058" y="2650603"/>
            <a:ext cx="0" cy="6747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A54FE39E-9985-FF7F-A2DD-08F59A115E8B}"/>
              </a:ext>
            </a:extLst>
          </p:cNvPr>
          <p:cNvCxnSpPr>
            <a:cxnSpLocks/>
          </p:cNvCxnSpPr>
          <p:nvPr/>
        </p:nvCxnSpPr>
        <p:spPr>
          <a:xfrm flipH="1">
            <a:off x="5514975" y="2612924"/>
            <a:ext cx="479746" cy="75247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092555D-71BA-4299-F2B4-949733D4CB38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5541864" y="3603672"/>
            <a:ext cx="45285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/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0" dirty="0">
                    <a:latin typeface="Cambria" panose="02040503050406030204" pitchFamily="18" charset="0"/>
                  </a:rPr>
                  <a:t>A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3-list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satisfying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assignment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b="0" dirty="0">
                    <a:latin typeface="Cambria" panose="02040503050406030204" pitchFamily="18" charset="0"/>
                  </a:rPr>
                  <a:t>for</a:t>
                </a:r>
                <a:r>
                  <a:rPr kumimoji="1" lang="zh-CN" altLang="en-US" b="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kumimoji="1" lang="en-US" altLang="zh-CN" b="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6CEC4484-D538-261E-FF41-1A1E105AA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41" y="4058237"/>
                <a:ext cx="4373234" cy="380810"/>
              </a:xfrm>
              <a:prstGeom prst="rect">
                <a:avLst/>
              </a:prstGeom>
              <a:blipFill>
                <a:blip r:embed="rId17"/>
                <a:stretch>
                  <a:fillRect l="-1159"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69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814473" y="2975542"/>
                <a:ext cx="11159813" cy="1993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sufficiently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large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want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construct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73" y="2975542"/>
                <a:ext cx="11159813" cy="1993879"/>
              </a:xfrm>
              <a:prstGeom prst="rect">
                <a:avLst/>
              </a:prstGeom>
              <a:blipFill>
                <a:blip r:embed="rId2"/>
                <a:stretch>
                  <a:fillRect l="-455" t="-1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2382249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546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814473" y="2975542"/>
                <a:ext cx="11159813" cy="2346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sufficiently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large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want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construct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If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up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(≥2)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are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done!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73" y="2975542"/>
                <a:ext cx="11159813" cy="2346861"/>
              </a:xfrm>
              <a:prstGeom prst="rect">
                <a:avLst/>
              </a:prstGeom>
              <a:blipFill>
                <a:blip r:embed="rId2"/>
                <a:stretch>
                  <a:fillRect l="-455" t="-1613" b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2382249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900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/>
              <p:nvPr/>
            </p:nvSpPr>
            <p:spPr>
              <a:xfrm>
                <a:off x="814473" y="2975542"/>
                <a:ext cx="11257784" cy="2346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sufficiently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large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want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construct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multi-assignment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⊙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some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each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set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sz="1800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zh-CN" altLang="zh-CN" sz="1800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zh-CN" altLang="zh-CN" sz="18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8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sz="18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choose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set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inherited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from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hope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decreasing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size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1)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If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up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satisfiability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⊙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(≥2)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are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done!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A98E903-12CA-01DE-F0CD-C69C5077C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73" y="2975542"/>
                <a:ext cx="11257784" cy="2346861"/>
              </a:xfrm>
              <a:prstGeom prst="rect">
                <a:avLst/>
              </a:prstGeom>
              <a:blipFill>
                <a:blip r:embed="rId2"/>
                <a:stretch>
                  <a:fillRect l="-451" t="-1613" b="-3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/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圆角矩形 3">
                <a:extLst>
                  <a:ext uri="{FF2B5EF4-FFF2-40B4-BE49-F238E27FC236}">
                    <a16:creationId xmlns:a16="http://schemas.microsoft.com/office/drawing/2014/main" id="{9322B47F-941F-2E9B-CA7B-7A6463F3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70" y="1974812"/>
                <a:ext cx="1997443" cy="7599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/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-wise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Direct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Product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2-CSP</a:t>
                </a:r>
                <a:endParaRPr lang="en-US" altLang="zh-CN" sz="2000" kern="1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</a:rPr>
                            <m:t> </m:t>
                          </m:r>
                          <m:r>
                            <a:rPr lang="en-US" altLang="zh-CN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Φ</m:t>
                          </m:r>
                          <m:r>
                            <a:rPr lang="en-US" altLang="zh-CN" sz="18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altLang="zh-CN" sz="18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圆角矩形 4">
                <a:extLst>
                  <a:ext uri="{FF2B5EF4-FFF2-40B4-BE49-F238E27FC236}">
                    <a16:creationId xmlns:a16="http://schemas.microsoft.com/office/drawing/2014/main" id="{DF50ED5A-A5A0-A61B-8DDB-542387B3E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13103"/>
                <a:ext cx="4259176" cy="127737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379002B9-0642-0CAE-D521-1DF90F8CD120}"/>
              </a:ext>
            </a:extLst>
          </p:cNvPr>
          <p:cNvCxnSpPr>
            <a:cxnSpLocks/>
          </p:cNvCxnSpPr>
          <p:nvPr/>
        </p:nvCxnSpPr>
        <p:spPr>
          <a:xfrm>
            <a:off x="4567377" y="2382249"/>
            <a:ext cx="1070259" cy="2525"/>
          </a:xfrm>
          <a:prstGeom prst="straightConnector1">
            <a:avLst/>
          </a:prstGeom>
          <a:ln w="12700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511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Outline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855D-7C83-C7EE-C190-50442905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>
                <a:latin typeface="Cambria" panose="02040503050406030204" pitchFamily="18" charset="0"/>
              </a:rPr>
              <a:t>Background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Complexity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Constraint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Satisfaction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Problem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(CSP)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Parameterized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Inapproximability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Hypothesis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(PIH)</a:t>
            </a:r>
          </a:p>
          <a:p>
            <a:pPr lvl="1"/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From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to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Average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Baby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PIH</a:t>
            </a:r>
          </a:p>
          <a:p>
            <a:pPr marL="274320" lvl="1" indent="0">
              <a:buNone/>
            </a:pPr>
            <a:endParaRPr kumimoji="1" lang="en-US" altLang="zh-CN" dirty="0">
              <a:latin typeface="Cambria" panose="02040503050406030204" pitchFamily="18" charset="0"/>
            </a:endParaRPr>
          </a:p>
          <a:p>
            <a:r>
              <a:rPr kumimoji="1" lang="en-US" altLang="zh-CN" sz="2400" dirty="0">
                <a:latin typeface="Cambria" panose="02040503050406030204" pitchFamily="18" charset="0"/>
              </a:rPr>
              <a:t>Proof</a:t>
            </a:r>
            <a:r>
              <a:rPr kumimoji="1" lang="zh-CN" altLang="en-US" sz="2400" dirty="0">
                <a:latin typeface="Cambria" panose="02040503050406030204" pitchFamily="18" charset="0"/>
              </a:rPr>
              <a:t> </a:t>
            </a:r>
            <a:r>
              <a:rPr kumimoji="1" lang="en-US" altLang="zh-CN" sz="2400" dirty="0">
                <a:latin typeface="Cambria" panose="02040503050406030204" pitchFamily="18" charset="0"/>
              </a:rPr>
              <a:t>Overview</a:t>
            </a:r>
          </a:p>
          <a:p>
            <a:pPr lvl="1"/>
            <a:r>
              <a:rPr kumimoji="1" lang="en-US" altLang="zh-CN" dirty="0"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latin typeface="Cambria" panose="02040503050406030204" pitchFamily="18" charset="0"/>
              </a:rPr>
              <a:t>PIH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  <a:latin typeface="Cambria" panose="02040503050406030204" pitchFamily="18" charset="0"/>
              </a:rPr>
              <a:t>Average</a:t>
            </a:r>
            <a:r>
              <a:rPr kumimoji="1" lang="zh-CN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ambria" panose="02040503050406030204" pitchFamily="18" charset="0"/>
              </a:rPr>
              <a:t>Baby</a:t>
            </a:r>
            <a:r>
              <a:rPr kumimoji="1" lang="zh-CN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ambria" panose="02040503050406030204" pitchFamily="18" charset="0"/>
              </a:rPr>
              <a:t>PIH</a:t>
            </a:r>
          </a:p>
        </p:txBody>
      </p:sp>
    </p:spTree>
    <p:extLst>
      <p:ext uri="{BB962C8B-B14F-4D97-AF65-F5344CB8AC3E}">
        <p14:creationId xmlns:p14="http://schemas.microsoft.com/office/powerpoint/2010/main" val="3773557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949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b="1" u="sng" dirty="0">
                    <a:latin typeface="Cambria" panose="02040503050406030204" pitchFamily="18" charset="0"/>
                  </a:rPr>
                  <a:t>Lemma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[Karthik-Navon’21,</a:t>
                </a:r>
                <a:r>
                  <a:rPr lang="zh-CN" altLang="en-US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 </a:t>
                </a:r>
                <a:r>
                  <a:rPr lang="en-US" altLang="zh-CN" sz="2000" dirty="0">
                    <a:solidFill>
                      <a:srgbClr val="FF3399"/>
                    </a:solidFill>
                    <a:latin typeface="Cambria" panose="02040503050406030204" pitchFamily="18" charset="0"/>
                    <a:ea typeface="Palatino" pitchFamily="2" charset="0"/>
                  </a:rPr>
                  <a:t>Lin-R-Sun-Wang’23]: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relative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subset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codewords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“collides”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positions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must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have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size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num>
                          <m:den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Proof: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Simple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counting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argument.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949765"/>
              </a:xfrm>
              <a:prstGeom prst="rect">
                <a:avLst/>
              </a:prstGeom>
              <a:blipFill>
                <a:blip r:embed="rId2"/>
                <a:stretch>
                  <a:fillRect l="-450" t="-1948"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246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734240"/>
              </a:xfrm>
              <a:prstGeom prst="rect">
                <a:avLst/>
              </a:prstGeom>
              <a:blipFill>
                <a:blip r:embed="rId2"/>
                <a:stretch>
                  <a:fillRect l="-450" t="-5172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083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Variables: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blipFill>
                <a:blip r:embed="rId2"/>
                <a:stretch>
                  <a:fillRect l="-450" t="-3571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C3C82C0-3A7D-DCF8-89BF-82B0960C6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176518"/>
              </p:ext>
            </p:extLst>
          </p:nvPr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1AC386-A72C-7380-238F-54E2186099B1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1AC386-A72C-7380-238F-54E218609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E1DE0-48ED-71F1-AE04-07C140220F87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E1DE0-48ED-71F1-AE04-07C14022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4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4CF094-EF5A-4B9E-2415-A7F9A72C2266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4CF094-EF5A-4B9E-2415-A7F9A72C2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E1C3AD-5081-C78F-38A8-E3468FF251C8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E1C3AD-5081-C78F-38A8-E3468FF25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ADF38A0-A0B0-87A6-FE34-821107990402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ADF38A0-A0B0-87A6-FE34-821107990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F42706-EE18-834E-5BC7-622BCE4F247D}"/>
                  </a:ext>
                </a:extLst>
              </p:cNvPr>
              <p:cNvSpPr txBox="1"/>
              <p:nvPr/>
            </p:nvSpPr>
            <p:spPr>
              <a:xfrm>
                <a:off x="1891321" y="4507399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F42706-EE18-834E-5BC7-622BCE4F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321" y="4507399"/>
                <a:ext cx="2301541" cy="642868"/>
              </a:xfrm>
              <a:prstGeom prst="rect">
                <a:avLst/>
              </a:prstGeom>
              <a:blipFill>
                <a:blip r:embed="rId8"/>
                <a:stretch>
                  <a:fillRect l="-2732" t="-11538" r="-3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7FD00E33-2785-3D5F-1FC3-64D1B6461597}"/>
                  </a:ext>
                </a:extLst>
              </p:cNvPr>
              <p:cNvSpPr/>
              <p:nvPr/>
            </p:nvSpPr>
            <p:spPr>
              <a:xfrm>
                <a:off x="5067513" y="4324656"/>
                <a:ext cx="4101857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7FD00E33-2785-3D5F-1FC3-64D1B6461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513" y="4324656"/>
                <a:ext cx="4101857" cy="340360"/>
              </a:xfrm>
              <a:prstGeom prst="roundRect">
                <a:avLst/>
              </a:prstGeom>
              <a:blipFill>
                <a:blip r:embed="rId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0900042A-D4BF-B76C-CBEC-590E381605D1}"/>
                  </a:ext>
                </a:extLst>
              </p:cNvPr>
              <p:cNvSpPr/>
              <p:nvPr/>
            </p:nvSpPr>
            <p:spPr>
              <a:xfrm>
                <a:off x="5067513" y="5061006"/>
                <a:ext cx="4101857" cy="369066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0900042A-D4BF-B76C-CBEC-590E38160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513" y="5061006"/>
                <a:ext cx="4101857" cy="369066"/>
              </a:xfrm>
              <a:prstGeom prst="round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DEB8118-13BF-F956-4677-5CA28FFD352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232093" y="4494836"/>
            <a:ext cx="835420" cy="2330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C159071-B8C8-87F3-A10E-C91E2F33E143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232093" y="4727845"/>
            <a:ext cx="835420" cy="5176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F93CCAD-F1D5-3BAF-51AF-63A0C2D20789}"/>
              </a:ext>
            </a:extLst>
          </p:cNvPr>
          <p:cNvSpPr/>
          <p:nvPr/>
        </p:nvSpPr>
        <p:spPr>
          <a:xfrm>
            <a:off x="2731226" y="2785524"/>
            <a:ext cx="1461636" cy="367628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AEF09AC9-9DBD-C22E-33A3-98C99C791CC9}"/>
              </a:ext>
            </a:extLst>
          </p:cNvPr>
          <p:cNvSpPr/>
          <p:nvPr/>
        </p:nvSpPr>
        <p:spPr>
          <a:xfrm>
            <a:off x="1865891" y="4521738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AC1B129-E198-1989-61A0-297626BB8EB8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AECEA1B-04B7-6B85-2497-FE993DBD407C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AECEA1B-04B7-6B85-2497-FE993DBD40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48507F5-22C5-C89A-3BCD-B6083165BD61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48507F5-22C5-C89A-3BCD-B6083165B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81ECB5D-0460-F09D-E665-0A95F73E8ADC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81ECB5D-0460-F09D-E665-0A95F73E8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3B75C803-554C-24D9-B4F1-892FD55495AC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3B75C803-554C-24D9-B4F1-892FD5549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CD20B31-0D1E-8546-A698-FEE8203013EE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CD20B31-0D1E-8546-A698-FEE820301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1F6B7B0-271D-73A0-1BD7-A99FD53A8DA3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1F6B7B0-271D-73A0-1BD7-A99FD53A8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92A36D9-6111-D7FA-4A59-8347C81F0CE3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92A36D9-6111-D7FA-4A59-8347C81F0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13125A4-8F09-B85B-6E5D-01A8AB965771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913125A4-8F09-B85B-6E5D-01A8AB965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C06607D-385B-E289-4EC0-E036A71D1A57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C06607D-385B-E289-4EC0-E036A71D1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D15E905-4ED2-EFD6-3BC8-65B50D921563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D15E905-4ED2-EFD6-3BC8-65B50D9215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96BF4ED-C6EF-D24A-3E78-A5649DEBE2F2}"/>
              </a:ext>
            </a:extLst>
          </p:cNvPr>
          <p:cNvGrpSpPr/>
          <p:nvPr/>
        </p:nvGrpSpPr>
        <p:grpSpPr>
          <a:xfrm>
            <a:off x="2663086" y="3271574"/>
            <a:ext cx="1624047" cy="364577"/>
            <a:chOff x="2657785" y="3171103"/>
            <a:chExt cx="1624047" cy="364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4B699DD-115B-76EB-4138-B4F3202979B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dirty="0">
                      <a:latin typeface="Cambria" panose="02040503050406030204" pitchFamily="18" charset="0"/>
                    </a:rPr>
                    <a:t>Alphabet: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𝔽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zh-CN" altLang="en-US" sz="2000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34B699DD-115B-76EB-4138-B4F3202979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blipFill>
                  <a:blip r:embed="rId21"/>
                  <a:stretch>
                    <a:fillRect l="-11017" t="-19231" r="-2542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48309744-3F57-C18C-E350-F4609F82DA9E}"/>
                </a:ext>
              </a:extLst>
            </p:cNvPr>
            <p:cNvSpPr>
              <a:spLocks/>
            </p:cNvSpPr>
            <p:nvPr/>
          </p:nvSpPr>
          <p:spPr>
            <a:xfrm>
              <a:off x="2657785" y="3171103"/>
              <a:ext cx="1624047" cy="364577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02772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F42706-EE18-834E-5BC7-622BCE4F247D}"/>
                  </a:ext>
                </a:extLst>
              </p:cNvPr>
              <p:cNvSpPr txBox="1"/>
              <p:nvPr/>
            </p:nvSpPr>
            <p:spPr>
              <a:xfrm>
                <a:off x="1873130" y="4878796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2F42706-EE18-834E-5BC7-622BCE4F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130" y="4878796"/>
                <a:ext cx="2301541" cy="642868"/>
              </a:xfrm>
              <a:prstGeom prst="rect">
                <a:avLst/>
              </a:prstGeom>
              <a:blipFill>
                <a:blip r:embed="rId2"/>
                <a:stretch>
                  <a:fillRect l="-2747" t="-13725" r="-4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圆角矩形 20">
            <a:extLst>
              <a:ext uri="{FF2B5EF4-FFF2-40B4-BE49-F238E27FC236}">
                <a16:creationId xmlns:a16="http://schemas.microsoft.com/office/drawing/2014/main" id="{AEF09AC9-9DBD-C22E-33A3-98C99C791CC9}"/>
              </a:ext>
            </a:extLst>
          </p:cNvPr>
          <p:cNvSpPr/>
          <p:nvPr/>
        </p:nvSpPr>
        <p:spPr>
          <a:xfrm>
            <a:off x="1847700" y="4878796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Variables: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blipFill>
                <a:blip r:embed="rId3"/>
                <a:stretch>
                  <a:fillRect l="-450" t="-3571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DEB8118-13BF-F956-4677-5CA28FFD352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232093" y="4819974"/>
            <a:ext cx="841285" cy="26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C159071-B8C8-87F3-A10E-C91E2F33E143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232093" y="5094834"/>
            <a:ext cx="841285" cy="8493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F93CCAD-F1D5-3BAF-51AF-63A0C2D20789}"/>
              </a:ext>
            </a:extLst>
          </p:cNvPr>
          <p:cNvSpPr/>
          <p:nvPr/>
        </p:nvSpPr>
        <p:spPr>
          <a:xfrm>
            <a:off x="2770457" y="2754499"/>
            <a:ext cx="1461636" cy="367628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6BC05A7-374D-6C43-B0CB-0C22714F2143}"/>
              </a:ext>
            </a:extLst>
          </p:cNvPr>
          <p:cNvGrpSpPr/>
          <p:nvPr/>
        </p:nvGrpSpPr>
        <p:grpSpPr>
          <a:xfrm>
            <a:off x="2663086" y="3271574"/>
            <a:ext cx="1624047" cy="364577"/>
            <a:chOff x="2657785" y="3171103"/>
            <a:chExt cx="1624047" cy="364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B44D4BB-D8F7-7F79-7ADC-4E65E844617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dirty="0">
                      <a:latin typeface="Cambria" panose="02040503050406030204" pitchFamily="18" charset="0"/>
                    </a:rPr>
                    <a:t>Alphabet: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𝔽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zh-CN" altLang="en-US" sz="2000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B44D4BB-D8F7-7F79-7ADC-4E65E8446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blipFill>
                  <a:blip r:embed="rId4"/>
                  <a:stretch>
                    <a:fillRect l="-11017" t="-19231" r="-2542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FBE5055D-EB25-50AB-BD4E-817F6272E4D7}"/>
                </a:ext>
              </a:extLst>
            </p:cNvPr>
            <p:cNvSpPr>
              <a:spLocks/>
            </p:cNvSpPr>
            <p:nvPr/>
          </p:nvSpPr>
          <p:spPr>
            <a:xfrm>
              <a:off x="2657785" y="3171103"/>
              <a:ext cx="1624047" cy="364577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75D2DDF2-F406-9EA6-DB33-A79E7591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926405"/>
              </p:ext>
            </p:extLst>
          </p:nvPr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BBE271-572D-A51B-B311-ACF38D71F79A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BBE271-572D-A51B-B311-ACF38D71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31A8957-1737-09A8-C96D-8B9C2016AFD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31A8957-1737-09A8-C96D-8B9C2016A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8FDCE45-D553-CC86-084B-45079D9FDAF7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C8FDCE45-D553-CC86-084B-45079D9F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3BF90-0463-699B-0E7D-FD6C26761B54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E783BF90-0463-699B-0E7D-FD6C26761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8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73B72BB-1E25-543B-C67E-F642D2150200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73B72BB-1E25-543B-C67E-F642D2150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9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CFC617-4E34-3BA2-B6BD-9CE5FD2911A0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224EFB2-3238-1A87-8A36-4F0C56D1884D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224EFB2-3238-1A87-8A36-4F0C56D18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C717CED-10F7-CBF4-7038-729AB645B8F1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C717CED-10F7-CBF4-7038-729AB645B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DA43C35-6B73-D0F5-386C-9EC6384C4B97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DA43C35-6B73-D0F5-386C-9EC6384C4B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CC2E2EC-71CB-500D-EA71-6831A0A05627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6CC2E2EC-71CB-500D-EA71-6831A0A05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F1FF6F3-433B-BB60-AE54-6A34FB1879D5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F1FF6F3-433B-BB60-AE54-6A34FB187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366045-868C-FB2E-CCEA-BE6B3178B576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366045-868C-FB2E-CCEA-BE6B3178B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915D9CE-D5D9-E5A2-0201-B80815D936B6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915D9CE-D5D9-E5A2-0201-B80815D93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8CE6787A-E625-B8C1-A9C0-4E910FBA1BAE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8CE6787A-E625-B8C1-A9C0-4E910FBA1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02B5DB2-77EC-8622-7923-A19E391C4FC6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02B5DB2-77EC-8622-7923-A19E391C4F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F281A95-E4A6-FFB5-FB4E-A6A305FF157B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F281A95-E4A6-FFB5-FB4E-A6A305FF1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7FD00E33-2785-3D5F-1FC3-64D1B6461597}"/>
                  </a:ext>
                </a:extLst>
              </p:cNvPr>
              <p:cNvSpPr/>
              <p:nvPr/>
            </p:nvSpPr>
            <p:spPr>
              <a:xfrm>
                <a:off x="5073378" y="4649794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7FD00E33-2785-3D5F-1FC3-64D1B6461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378" y="4649794"/>
                <a:ext cx="4095992" cy="340360"/>
              </a:xfrm>
              <a:prstGeom prst="roundRect">
                <a:avLst/>
              </a:prstGeom>
              <a:blipFill>
                <a:blip r:embed="rId20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0900042A-D4BF-B76C-CBEC-590E381605D1}"/>
                  </a:ext>
                </a:extLst>
              </p:cNvPr>
              <p:cNvSpPr/>
              <p:nvPr/>
            </p:nvSpPr>
            <p:spPr>
              <a:xfrm>
                <a:off x="5073378" y="5773960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0900042A-D4BF-B76C-CBEC-590E38160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378" y="5773960"/>
                <a:ext cx="4095992" cy="340360"/>
              </a:xfrm>
              <a:prstGeom prst="roundRect">
                <a:avLst/>
              </a:prstGeom>
              <a:blipFill>
                <a:blip r:embed="rId21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1482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Variables: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blipFill>
                <a:blip r:embed="rId2"/>
                <a:stretch>
                  <a:fillRect l="-450" t="-3571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圆角矩形 19">
            <a:extLst>
              <a:ext uri="{FF2B5EF4-FFF2-40B4-BE49-F238E27FC236}">
                <a16:creationId xmlns:a16="http://schemas.microsoft.com/office/drawing/2014/main" id="{5F93CCAD-F1D5-3BAF-51AF-63A0C2D20789}"/>
              </a:ext>
            </a:extLst>
          </p:cNvPr>
          <p:cNvSpPr/>
          <p:nvPr/>
        </p:nvSpPr>
        <p:spPr>
          <a:xfrm>
            <a:off x="2770457" y="2754499"/>
            <a:ext cx="1461636" cy="367628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8868B2-23B8-8D20-D51D-9009C5B124E2}"/>
              </a:ext>
            </a:extLst>
          </p:cNvPr>
          <p:cNvGrpSpPr/>
          <p:nvPr/>
        </p:nvGrpSpPr>
        <p:grpSpPr>
          <a:xfrm>
            <a:off x="2663086" y="3271574"/>
            <a:ext cx="1624047" cy="364577"/>
            <a:chOff x="2657785" y="3171103"/>
            <a:chExt cx="1624047" cy="364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F0663B2-9091-3C8F-EFF3-3A6750C3603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dirty="0">
                      <a:latin typeface="Cambria" panose="02040503050406030204" pitchFamily="18" charset="0"/>
                    </a:rPr>
                    <a:t>Alphabet: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𝔽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zh-CN" altLang="en-US" sz="2000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F0663B2-9091-3C8F-EFF3-3A6750C36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5465" y="3197938"/>
                  <a:ext cx="1496628" cy="314766"/>
                </a:xfrm>
                <a:prstGeom prst="rect">
                  <a:avLst/>
                </a:prstGeom>
                <a:blipFill>
                  <a:blip r:embed="rId3"/>
                  <a:stretch>
                    <a:fillRect l="-11017" t="-19231" r="-2542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2F9B330-1502-7E30-E810-A9B1B2B7F4AA}"/>
                </a:ext>
              </a:extLst>
            </p:cNvPr>
            <p:cNvSpPr>
              <a:spLocks/>
            </p:cNvSpPr>
            <p:nvPr/>
          </p:nvSpPr>
          <p:spPr>
            <a:xfrm>
              <a:off x="2657785" y="3171103"/>
              <a:ext cx="1624047" cy="364577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65610EE-F8CD-96A2-A08B-B173F27EC7E7}"/>
                  </a:ext>
                </a:extLst>
              </p:cNvPr>
              <p:cNvSpPr txBox="1"/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65610EE-F8CD-96A2-A08B-B173F27EC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blipFill>
                <a:blip r:embed="rId4"/>
                <a:stretch>
                  <a:fillRect l="-2747" t="-11538" r="-4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圆角矩形 35">
            <a:extLst>
              <a:ext uri="{FF2B5EF4-FFF2-40B4-BE49-F238E27FC236}">
                <a16:creationId xmlns:a16="http://schemas.microsoft.com/office/drawing/2014/main" id="{356D6BC1-E3FC-2760-CAD7-4FC5DD800501}"/>
              </a:ext>
            </a:extLst>
          </p:cNvPr>
          <p:cNvSpPr/>
          <p:nvPr/>
        </p:nvSpPr>
        <p:spPr>
          <a:xfrm>
            <a:off x="1821094" y="5260668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30BEF81A-C802-1256-1473-AB801206C810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4218008" y="5201643"/>
            <a:ext cx="841285" cy="26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328C1FAE-C250-B191-1E3B-9394087CDA20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4232093" y="5461226"/>
            <a:ext cx="827200" cy="1269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EE4F25DB-CABD-90E2-F673-F3D6A9B2F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586846"/>
              </p:ext>
            </p:extLst>
          </p:nvPr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8E24E33-3C61-C5AB-2CB3-1EBE108D7225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8E24E33-3C61-C5AB-2CB3-1EBE108D7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181DADF-9B77-C7E2-5093-6D07C67BCA1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181DADF-9B77-C7E2-5093-6D07C67BC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33E76CA-E47A-24D0-F367-5EFDF0C2C799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33E76CA-E47A-24D0-F367-5EFDF0C2C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669E843-2D84-41E7-93EA-2835E16ADB9F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669E843-2D84-41E7-93EA-2835E16AD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8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5FAACDE-A67F-B661-7E02-F880587BF4D6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5FAACDE-A67F-B661-7E02-F880587BF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9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A5B72109-8F03-05C8-98E6-6D40A413C544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7274499-6C12-0D00-9094-34B64264BE52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7274499-6C12-0D00-9094-34B64264B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AC423729-6393-83D1-C4A2-F2165A134833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AC423729-6393-83D1-C4A2-F2165A134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8B1DB125-BAAC-D70D-E2F0-F7AD82BCF713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8B1DB125-BAAC-D70D-E2F0-F7AD82BCF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BABDBD6-A921-FEA2-0109-C2EEA3CBDD2E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BABDBD6-A921-FEA2-0109-C2EEA3CBD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0CE453F-A819-7C6C-665D-CEF88B80EDDD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F0CE453F-A819-7C6C-665D-CEF88B80E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38BAA4-97A2-ADB6-B3E6-1B6DAA1F59E9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38BAA4-97A2-ADB6-B3E6-1B6DAA1F5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7E6A5F0-6C40-9329-703D-33E108C8B15C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C7E6A5F0-6C40-9329-703D-33E108C8B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07D15F-EBF8-E139-EB56-6D8F0DE57810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07D15F-EBF8-E139-EB56-6D8F0DE57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0F419F6-7118-A3B1-AD7D-C13C31BDA6AD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0F419F6-7118-A3B1-AD7D-C13C31BDA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6C3D8F1-295C-1E5D-5AF1-54964BF98338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6C3D8F1-295C-1E5D-5AF1-54964BF983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圆角矩形 55">
                <a:extLst>
                  <a:ext uri="{FF2B5EF4-FFF2-40B4-BE49-F238E27FC236}">
                    <a16:creationId xmlns:a16="http://schemas.microsoft.com/office/drawing/2014/main" id="{15ADC43D-D494-4B55-3BD2-A0D6C7C12641}"/>
                  </a:ext>
                </a:extLst>
              </p:cNvPr>
              <p:cNvSpPr/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圆角矩形 55">
                <a:extLst>
                  <a:ext uri="{FF2B5EF4-FFF2-40B4-BE49-F238E27FC236}">
                    <a16:creationId xmlns:a16="http://schemas.microsoft.com/office/drawing/2014/main" id="{15ADC43D-D494-4B55-3BD2-A0D6C7C12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blipFill>
                <a:blip r:embed="rId20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圆角矩形 56">
                <a:extLst>
                  <a:ext uri="{FF2B5EF4-FFF2-40B4-BE49-F238E27FC236}">
                    <a16:creationId xmlns:a16="http://schemas.microsoft.com/office/drawing/2014/main" id="{23E61483-1DE3-3DC7-9DA0-192CFCC4547A}"/>
                  </a:ext>
                </a:extLst>
              </p:cNvPr>
              <p:cNvSpPr/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圆角矩形 56">
                <a:extLst>
                  <a:ext uri="{FF2B5EF4-FFF2-40B4-BE49-F238E27FC236}">
                    <a16:creationId xmlns:a16="http://schemas.microsoft.com/office/drawing/2014/main" id="{23E61483-1DE3-3DC7-9DA0-192CFCC454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blipFill>
                <a:blip r:embed="rId21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84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Variables: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064330"/>
              </a:xfrm>
              <a:prstGeom prst="rect">
                <a:avLst/>
              </a:prstGeom>
              <a:blipFill>
                <a:blip r:embed="rId2"/>
                <a:stretch>
                  <a:fillRect l="-450" t="-3571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8868B2-23B8-8D20-D51D-9009C5B124E2}"/>
              </a:ext>
            </a:extLst>
          </p:cNvPr>
          <p:cNvGrpSpPr/>
          <p:nvPr/>
        </p:nvGrpSpPr>
        <p:grpSpPr>
          <a:xfrm>
            <a:off x="4262400" y="3254902"/>
            <a:ext cx="1624047" cy="364577"/>
            <a:chOff x="2657785" y="3171103"/>
            <a:chExt cx="1624047" cy="364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F0663B2-9091-3C8F-EFF3-3A6750C3603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35465" y="3197938"/>
                  <a:ext cx="1392432" cy="3215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dirty="0">
                      <a:latin typeface="Cambria" panose="02040503050406030204" pitchFamily="18" charset="0"/>
                    </a:rPr>
                    <a:t>Alphabet: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𝔽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a14:m>
                  <a:endParaRPr lang="zh-CN" altLang="en-US" sz="2000" dirty="0">
                    <a:latin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5F0663B2-9091-3C8F-EFF3-3A6750C36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5465" y="3197938"/>
                  <a:ext cx="1392432" cy="321563"/>
                </a:xfrm>
                <a:prstGeom prst="rect">
                  <a:avLst/>
                </a:prstGeom>
                <a:blipFill>
                  <a:blip r:embed="rId3"/>
                  <a:stretch>
                    <a:fillRect l="-10811" t="-23077" r="-2703" b="-461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2F9B330-1502-7E30-E810-A9B1B2B7F4AA}"/>
                </a:ext>
              </a:extLst>
            </p:cNvPr>
            <p:cNvSpPr>
              <a:spLocks/>
            </p:cNvSpPr>
            <p:nvPr/>
          </p:nvSpPr>
          <p:spPr>
            <a:xfrm>
              <a:off x="2657785" y="3171103"/>
              <a:ext cx="1624047" cy="364577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9" name="圆角矩形 8">
            <a:extLst>
              <a:ext uri="{FF2B5EF4-FFF2-40B4-BE49-F238E27FC236}">
                <a16:creationId xmlns:a16="http://schemas.microsoft.com/office/drawing/2014/main" id="{3000E3C6-1720-11D8-E1F3-FBC055D1C57C}"/>
              </a:ext>
            </a:extLst>
          </p:cNvPr>
          <p:cNvSpPr/>
          <p:nvPr/>
        </p:nvSpPr>
        <p:spPr>
          <a:xfrm>
            <a:off x="4479568" y="2785822"/>
            <a:ext cx="1189712" cy="367628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4E644002-3BC3-189C-AE0F-A6B7C20ED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31948"/>
              </p:ext>
            </p:extLst>
          </p:nvPr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8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9D1B29-31E0-B23F-2E75-323D0CF96231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DB5C0FC-918C-B4E7-954F-08267BBDA820}"/>
              </a:ext>
            </a:extLst>
          </p:cNvPr>
          <p:cNvSpPr/>
          <p:nvPr/>
        </p:nvSpPr>
        <p:spPr>
          <a:xfrm>
            <a:off x="5936476" y="387520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B97EECE1-8F47-2A90-CD72-0690330F3195}"/>
              </a:ext>
            </a:extLst>
          </p:cNvPr>
          <p:cNvSpPr/>
          <p:nvPr/>
        </p:nvSpPr>
        <p:spPr>
          <a:xfrm>
            <a:off x="5886447" y="428974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3E485652-017C-203B-3E0F-22221D625472}"/>
              </a:ext>
            </a:extLst>
          </p:cNvPr>
          <p:cNvSpPr/>
          <p:nvPr/>
        </p:nvSpPr>
        <p:spPr>
          <a:xfrm>
            <a:off x="7556259" y="389341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110AA3A-CFA7-33AE-C627-742A85F68501}"/>
              </a:ext>
            </a:extLst>
          </p:cNvPr>
          <p:cNvSpPr/>
          <p:nvPr/>
        </p:nvSpPr>
        <p:spPr>
          <a:xfrm>
            <a:off x="8370712" y="3883512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CCD898F-D9AD-6900-8EDB-39E6C96D01B2}"/>
              </a:ext>
            </a:extLst>
          </p:cNvPr>
          <p:cNvSpPr/>
          <p:nvPr/>
        </p:nvSpPr>
        <p:spPr>
          <a:xfrm>
            <a:off x="7520240" y="4295163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D1F54E4-909B-787C-C7EB-6C950394FB15}"/>
              </a:ext>
            </a:extLst>
          </p:cNvPr>
          <p:cNvSpPr/>
          <p:nvPr/>
        </p:nvSpPr>
        <p:spPr>
          <a:xfrm>
            <a:off x="8336953" y="428840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5821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37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code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kern="1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𝔽</m:t>
                        </m:r>
                      </m:e>
                      <m:sup>
                        <m:r>
                          <a:rPr lang="en-US" altLang="zh-CN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Cambria" panose="020405030504060302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Given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2CSP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instance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0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Σ</m:t>
                        </m:r>
                        <m:r>
                          <a:rPr lang="en-US" altLang="zh-CN" sz="20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that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(2r)-list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satisfiable,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Variables: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0" dirty="0">
                  <a:latin typeface="Cambria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Constraints: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row-column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consistency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check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372107"/>
              </a:xfrm>
              <a:prstGeom prst="rect">
                <a:avLst/>
              </a:prstGeom>
              <a:blipFill>
                <a:blip r:embed="rId2"/>
                <a:stretch>
                  <a:fillRect l="-450" t="-2752" b="-6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4E644002-3BC3-189C-AE0F-A6B7C20EDA24}"/>
              </a:ext>
            </a:extLst>
          </p:cNvPr>
          <p:cNvGraphicFramePr>
            <a:graphicFrameLocks noGrp="1"/>
          </p:cNvGraphicFramePr>
          <p:nvPr/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4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9D1B29-31E0-B23F-2E75-323D0CF96231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DB5C0FC-918C-B4E7-954F-08267BBDA820}"/>
              </a:ext>
            </a:extLst>
          </p:cNvPr>
          <p:cNvSpPr/>
          <p:nvPr/>
        </p:nvSpPr>
        <p:spPr>
          <a:xfrm>
            <a:off x="5936476" y="387520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3E485652-017C-203B-3E0F-22221D625472}"/>
              </a:ext>
            </a:extLst>
          </p:cNvPr>
          <p:cNvSpPr/>
          <p:nvPr/>
        </p:nvSpPr>
        <p:spPr>
          <a:xfrm>
            <a:off x="7556259" y="389341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110AA3A-CFA7-33AE-C627-742A85F68501}"/>
              </a:ext>
            </a:extLst>
          </p:cNvPr>
          <p:cNvSpPr/>
          <p:nvPr/>
        </p:nvSpPr>
        <p:spPr>
          <a:xfrm>
            <a:off x="8370712" y="3883512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/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blipFill>
                <a:blip r:embed="rId18"/>
                <a:stretch>
                  <a:fillRect l="-2747" t="-11538" r="-4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87ACF2A0-667E-3F04-FC91-039AEA774B73}"/>
              </a:ext>
            </a:extLst>
          </p:cNvPr>
          <p:cNvSpPr/>
          <p:nvPr/>
        </p:nvSpPr>
        <p:spPr>
          <a:xfrm>
            <a:off x="1821094" y="5260668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C2DF7C73-3B2F-8657-7887-A4B8B4C75B5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218008" y="5201643"/>
            <a:ext cx="841285" cy="26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4F962D8-7F48-2D21-FB9D-91A7EE29E83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232093" y="5461226"/>
            <a:ext cx="827200" cy="1269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/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blipFill>
                <a:blip r:embed="rId1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/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blipFill>
                <a:blip r:embed="rId20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圆角矩形 55">
            <a:extLst>
              <a:ext uri="{FF2B5EF4-FFF2-40B4-BE49-F238E27FC236}">
                <a16:creationId xmlns:a16="http://schemas.microsoft.com/office/drawing/2014/main" id="{B97EECE1-8F47-2A90-CD72-0690330F3195}"/>
              </a:ext>
            </a:extLst>
          </p:cNvPr>
          <p:cNvSpPr/>
          <p:nvPr/>
        </p:nvSpPr>
        <p:spPr>
          <a:xfrm>
            <a:off x="5886447" y="428974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CCD898F-D9AD-6900-8EDB-39E6C96D01B2}"/>
              </a:ext>
            </a:extLst>
          </p:cNvPr>
          <p:cNvSpPr/>
          <p:nvPr/>
        </p:nvSpPr>
        <p:spPr>
          <a:xfrm>
            <a:off x="7520240" y="4295163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D1F54E4-909B-787C-C7EB-6C950394FB15}"/>
              </a:ext>
            </a:extLst>
          </p:cNvPr>
          <p:cNvSpPr/>
          <p:nvPr/>
        </p:nvSpPr>
        <p:spPr>
          <a:xfrm>
            <a:off x="8336953" y="428840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344241-6CAC-6147-CBD8-F0195C30F439}"/>
              </a:ext>
            </a:extLst>
          </p:cNvPr>
          <p:cNvSpPr/>
          <p:nvPr/>
        </p:nvSpPr>
        <p:spPr>
          <a:xfrm>
            <a:off x="5926665" y="5047986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92FF04F-2D09-378A-7F00-B83A970C61BB}"/>
              </a:ext>
            </a:extLst>
          </p:cNvPr>
          <p:cNvSpPr/>
          <p:nvPr/>
        </p:nvSpPr>
        <p:spPr>
          <a:xfrm>
            <a:off x="5926665" y="5436819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25D60BA-838E-7A24-BCF1-D5892AEDB26A}"/>
              </a:ext>
            </a:extLst>
          </p:cNvPr>
          <p:cNvSpPr/>
          <p:nvPr/>
        </p:nvSpPr>
        <p:spPr>
          <a:xfrm>
            <a:off x="7575177" y="50397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C9469D-9B09-8C53-B8DA-21779B40AFFF}"/>
              </a:ext>
            </a:extLst>
          </p:cNvPr>
          <p:cNvSpPr/>
          <p:nvPr/>
        </p:nvSpPr>
        <p:spPr>
          <a:xfrm>
            <a:off x="7575177" y="54285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AD11AC8-E8C5-DFC2-C751-8582C3961C20}"/>
              </a:ext>
            </a:extLst>
          </p:cNvPr>
          <p:cNvSpPr/>
          <p:nvPr/>
        </p:nvSpPr>
        <p:spPr>
          <a:xfrm>
            <a:off x="8389092" y="50304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08C58E4-9213-6810-175B-29E300619D5E}"/>
              </a:ext>
            </a:extLst>
          </p:cNvPr>
          <p:cNvSpPr/>
          <p:nvPr/>
        </p:nvSpPr>
        <p:spPr>
          <a:xfrm>
            <a:off x="8389092" y="54192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2454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405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Completeness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easy.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Soundness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idea: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assignment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argue: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either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≥(1−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fraction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of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contains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values;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zh-CN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Φ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super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large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405641"/>
              </a:xfrm>
              <a:prstGeom prst="rect">
                <a:avLst/>
              </a:prstGeom>
              <a:blipFill>
                <a:blip r:embed="rId2"/>
                <a:stretch>
                  <a:fillRect l="-450" t="-2703" b="-38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4E644002-3BC3-189C-AE0F-A6B7C20EDA24}"/>
              </a:ext>
            </a:extLst>
          </p:cNvPr>
          <p:cNvGraphicFramePr>
            <a:graphicFrameLocks noGrp="1"/>
          </p:cNvGraphicFramePr>
          <p:nvPr/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4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9D1B29-31E0-B23F-2E75-323D0CF96231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DB5C0FC-918C-B4E7-954F-08267BBDA820}"/>
              </a:ext>
            </a:extLst>
          </p:cNvPr>
          <p:cNvSpPr/>
          <p:nvPr/>
        </p:nvSpPr>
        <p:spPr>
          <a:xfrm>
            <a:off x="5936476" y="387520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3E485652-017C-203B-3E0F-22221D625472}"/>
              </a:ext>
            </a:extLst>
          </p:cNvPr>
          <p:cNvSpPr/>
          <p:nvPr/>
        </p:nvSpPr>
        <p:spPr>
          <a:xfrm>
            <a:off x="7556259" y="389341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110AA3A-CFA7-33AE-C627-742A85F68501}"/>
              </a:ext>
            </a:extLst>
          </p:cNvPr>
          <p:cNvSpPr/>
          <p:nvPr/>
        </p:nvSpPr>
        <p:spPr>
          <a:xfrm>
            <a:off x="8370712" y="3883512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/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blipFill>
                <a:blip r:embed="rId18"/>
                <a:stretch>
                  <a:fillRect l="-2747" t="-11538" r="-4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87ACF2A0-667E-3F04-FC91-039AEA774B73}"/>
              </a:ext>
            </a:extLst>
          </p:cNvPr>
          <p:cNvSpPr/>
          <p:nvPr/>
        </p:nvSpPr>
        <p:spPr>
          <a:xfrm>
            <a:off x="1821094" y="5260668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C2DF7C73-3B2F-8657-7887-A4B8B4C75B5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218008" y="5201643"/>
            <a:ext cx="841285" cy="26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4F962D8-7F48-2D21-FB9D-91A7EE29E83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232093" y="5461226"/>
            <a:ext cx="827200" cy="1269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/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blipFill>
                <a:blip r:embed="rId1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/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blipFill>
                <a:blip r:embed="rId20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圆角矩形 55">
            <a:extLst>
              <a:ext uri="{FF2B5EF4-FFF2-40B4-BE49-F238E27FC236}">
                <a16:creationId xmlns:a16="http://schemas.microsoft.com/office/drawing/2014/main" id="{B97EECE1-8F47-2A90-CD72-0690330F3195}"/>
              </a:ext>
            </a:extLst>
          </p:cNvPr>
          <p:cNvSpPr/>
          <p:nvPr/>
        </p:nvSpPr>
        <p:spPr>
          <a:xfrm>
            <a:off x="5886447" y="428974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CCD898F-D9AD-6900-8EDB-39E6C96D01B2}"/>
              </a:ext>
            </a:extLst>
          </p:cNvPr>
          <p:cNvSpPr/>
          <p:nvPr/>
        </p:nvSpPr>
        <p:spPr>
          <a:xfrm>
            <a:off x="7520240" y="4295163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D1F54E4-909B-787C-C7EB-6C950394FB15}"/>
              </a:ext>
            </a:extLst>
          </p:cNvPr>
          <p:cNvSpPr/>
          <p:nvPr/>
        </p:nvSpPr>
        <p:spPr>
          <a:xfrm>
            <a:off x="8336953" y="428840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344241-6CAC-6147-CBD8-F0195C30F439}"/>
              </a:ext>
            </a:extLst>
          </p:cNvPr>
          <p:cNvSpPr/>
          <p:nvPr/>
        </p:nvSpPr>
        <p:spPr>
          <a:xfrm>
            <a:off x="5926665" y="5047986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92FF04F-2D09-378A-7F00-B83A970C61BB}"/>
              </a:ext>
            </a:extLst>
          </p:cNvPr>
          <p:cNvSpPr/>
          <p:nvPr/>
        </p:nvSpPr>
        <p:spPr>
          <a:xfrm>
            <a:off x="5926665" y="5436819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25D60BA-838E-7A24-BCF1-D5892AEDB26A}"/>
              </a:ext>
            </a:extLst>
          </p:cNvPr>
          <p:cNvSpPr/>
          <p:nvPr/>
        </p:nvSpPr>
        <p:spPr>
          <a:xfrm>
            <a:off x="7575177" y="50397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C9469D-9B09-8C53-B8DA-21779B40AFFF}"/>
              </a:ext>
            </a:extLst>
          </p:cNvPr>
          <p:cNvSpPr/>
          <p:nvPr/>
        </p:nvSpPr>
        <p:spPr>
          <a:xfrm>
            <a:off x="7575177" y="54285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AD11AC8-E8C5-DFC2-C751-8582C3961C20}"/>
              </a:ext>
            </a:extLst>
          </p:cNvPr>
          <p:cNvSpPr/>
          <p:nvPr/>
        </p:nvSpPr>
        <p:spPr>
          <a:xfrm>
            <a:off x="8389092" y="50304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08C58E4-9213-6810-175B-29E300619D5E}"/>
              </a:ext>
            </a:extLst>
          </p:cNvPr>
          <p:cNvSpPr/>
          <p:nvPr/>
        </p:nvSpPr>
        <p:spPr>
          <a:xfrm>
            <a:off x="8389092" y="54192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2348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Proof</a:t>
            </a:r>
            <a:r>
              <a:rPr kumimoji="1" lang="zh-CN" altLang="en-US" sz="3600" cap="none" dirty="0"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Overview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Baby</a:t>
            </a:r>
            <a:r>
              <a:rPr kumimoji="1" lang="zh-CN" altLang="en-US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PIH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/>
              <p:nvPr/>
            </p:nvSpPr>
            <p:spPr>
              <a:xfrm>
                <a:off x="824521" y="2093976"/>
                <a:ext cx="11257784" cy="1405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ambria" panose="02040503050406030204" pitchFamily="18" charset="0"/>
                  </a:rPr>
                  <a:t>Completeness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is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easy.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Soundness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idea: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fix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any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satisfying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assignment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argue: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suppose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contradiction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that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positions,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contains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values;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zh-CN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Φ</m:t>
                            </m:r>
                          </m:sub>
                          <m:sup/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has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a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collision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position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solidFill>
                    <a:schemeClr val="tx1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EDC4C-FFFB-DAA5-AF0E-CCAFA1A56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21" y="2093976"/>
                <a:ext cx="11257784" cy="1405641"/>
              </a:xfrm>
              <a:prstGeom prst="rect">
                <a:avLst/>
              </a:prstGeom>
              <a:blipFill>
                <a:blip r:embed="rId2"/>
                <a:stretch>
                  <a:fillRect l="-450" t="-2703" b="-38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4E644002-3BC3-189C-AE0F-A6B7C20EDA24}"/>
              </a:ext>
            </a:extLst>
          </p:cNvPr>
          <p:cNvGraphicFramePr>
            <a:graphicFrameLocks noGrp="1"/>
          </p:cNvGraphicFramePr>
          <p:nvPr/>
        </p:nvGraphicFramePr>
        <p:xfrm>
          <a:off x="5130800" y="4273130"/>
          <a:ext cx="406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840229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4851065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63118249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15008986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14206443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2099386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58471006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411041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72151492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59022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D8FF"/>
                        </a:highligh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58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48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63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09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/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78BBBD-F6AB-DBAA-40B2-B8EFE9192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005" y="4280666"/>
                <a:ext cx="280910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/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33605E6-1688-993F-5736-F7AA1AB6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4646151"/>
                <a:ext cx="286232" cy="276999"/>
              </a:xfrm>
              <a:prstGeom prst="rect">
                <a:avLst/>
              </a:prstGeom>
              <a:blipFill>
                <a:blip r:embed="rId4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/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6BB80D0-38E1-113B-EC68-428D4CD5B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011768"/>
                <a:ext cx="286232" cy="276999"/>
              </a:xfrm>
              <a:prstGeom prst="rect">
                <a:avLst/>
              </a:prstGeom>
              <a:blipFill>
                <a:blip r:embed="rId5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/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05D8322-54D2-4A48-4529-11E79DD19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385080"/>
                <a:ext cx="286232" cy="276999"/>
              </a:xfrm>
              <a:prstGeom prst="rect">
                <a:avLst/>
              </a:prstGeom>
              <a:blipFill>
                <a:blip r:embed="rId6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/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7D69592-339E-B178-8F3F-899F42103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83" y="5758392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8333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89D1B29-31E0-B23F-2E75-323D0CF96231}"/>
              </a:ext>
            </a:extLst>
          </p:cNvPr>
          <p:cNvGrpSpPr/>
          <p:nvPr/>
        </p:nvGrpSpPr>
        <p:grpSpPr>
          <a:xfrm>
            <a:off x="5130800" y="3860411"/>
            <a:ext cx="4024485" cy="385944"/>
            <a:chOff x="5130800" y="3202866"/>
            <a:chExt cx="4024485" cy="385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/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F4351A07-E2F9-8201-2435-BFF35D098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800" y="3209832"/>
                  <a:ext cx="41204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/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A29757F9-E663-4B9A-FBD3-5351DDE1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844" y="3209832"/>
                  <a:ext cx="41204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/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CE35EA2-D03D-4A0E-DDE7-05EA1A628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665" y="3209832"/>
                  <a:ext cx="41204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/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77092B-200B-F1DA-F83B-B8C6FF788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8709" y="3209832"/>
                  <a:ext cx="41204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/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F7F25BE-11BB-6BDB-B2A9-38E991018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0756" y="3219478"/>
                  <a:ext cx="41204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/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0092004-65D3-DAD0-692E-7480B3FC8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511" y="3202866"/>
                  <a:ext cx="41204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/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4D4F7887-A1D9-84BA-763F-47D605912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5" y="3202866"/>
                  <a:ext cx="41204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/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B33A44A-3905-85E9-E783-31863C4CF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376" y="3202866"/>
                  <a:ext cx="412044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/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F4ACE26-D2FD-8E2C-A3AB-8960938D3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420" y="3202866"/>
                  <a:ext cx="41204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/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DD5578B-4279-30D8-C8A2-51CEED14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3241" y="3219478"/>
                  <a:ext cx="412044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DB5C0FC-918C-B4E7-954F-08267BBDA820}"/>
              </a:ext>
            </a:extLst>
          </p:cNvPr>
          <p:cNvSpPr/>
          <p:nvPr/>
        </p:nvSpPr>
        <p:spPr>
          <a:xfrm>
            <a:off x="5936476" y="387520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3E485652-017C-203B-3E0F-22221D625472}"/>
              </a:ext>
            </a:extLst>
          </p:cNvPr>
          <p:cNvSpPr/>
          <p:nvPr/>
        </p:nvSpPr>
        <p:spPr>
          <a:xfrm>
            <a:off x="7556259" y="3893416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110AA3A-CFA7-33AE-C627-742A85F68501}"/>
              </a:ext>
            </a:extLst>
          </p:cNvPr>
          <p:cNvSpPr/>
          <p:nvPr/>
        </p:nvSpPr>
        <p:spPr>
          <a:xfrm>
            <a:off x="8370712" y="3883512"/>
            <a:ext cx="374010" cy="354537"/>
          </a:xfrm>
          <a:prstGeom prst="roundRect">
            <a:avLst/>
          </a:prstGeom>
          <a:solidFill>
            <a:srgbClr val="73FCD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/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for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Cambria" panose="02040503050406030204" pitchFamily="18" charset="0"/>
                </a:endParaRPr>
              </a:p>
              <a:p>
                <a:endParaRPr lang="zh-CN" altLang="en-US" sz="20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3CE97C3-8DD0-9321-CB06-D9D484835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609" y="5280207"/>
                <a:ext cx="2301541" cy="642868"/>
              </a:xfrm>
              <a:prstGeom prst="rect">
                <a:avLst/>
              </a:prstGeom>
              <a:blipFill>
                <a:blip r:embed="rId18"/>
                <a:stretch>
                  <a:fillRect l="-2747" t="-11538" r="-4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>
            <a:extLst>
              <a:ext uri="{FF2B5EF4-FFF2-40B4-BE49-F238E27FC236}">
                <a16:creationId xmlns:a16="http://schemas.microsoft.com/office/drawing/2014/main" id="{87ACF2A0-667E-3F04-FC91-039AEA774B73}"/>
              </a:ext>
            </a:extLst>
          </p:cNvPr>
          <p:cNvSpPr/>
          <p:nvPr/>
        </p:nvSpPr>
        <p:spPr>
          <a:xfrm>
            <a:off x="1821094" y="5260668"/>
            <a:ext cx="427858" cy="401411"/>
          </a:xfrm>
          <a:prstGeom prst="roundRect">
            <a:avLst/>
          </a:prstGeom>
          <a:solidFill>
            <a:srgbClr val="D7AE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C2DF7C73-3B2F-8657-7887-A4B8B4C75B5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218008" y="5201643"/>
            <a:ext cx="841285" cy="266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4F962D8-7F48-2D21-FB9D-91A7EE29E83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232093" y="5461226"/>
            <a:ext cx="827200" cy="1269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/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圆角矩形 7">
                <a:extLst>
                  <a:ext uri="{FF2B5EF4-FFF2-40B4-BE49-F238E27FC236}">
                    <a16:creationId xmlns:a16="http://schemas.microsoft.com/office/drawing/2014/main" id="{BE7BCCA4-A599-8FF9-8B2C-A592F40270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031463"/>
                <a:ext cx="4095992" cy="340360"/>
              </a:xfrm>
              <a:prstGeom prst="roundRect">
                <a:avLst/>
              </a:prstGeom>
              <a:blipFill>
                <a:blip r:embed="rId19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/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solidFill>
                <a:srgbClr val="FFD8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7B5A5748-8547-3A68-DDB9-1BAEB74D4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93" y="5418032"/>
                <a:ext cx="4095992" cy="340360"/>
              </a:xfrm>
              <a:prstGeom prst="roundRect">
                <a:avLst/>
              </a:prstGeom>
              <a:blipFill>
                <a:blip r:embed="rId20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圆角矩形 55">
            <a:extLst>
              <a:ext uri="{FF2B5EF4-FFF2-40B4-BE49-F238E27FC236}">
                <a16:creationId xmlns:a16="http://schemas.microsoft.com/office/drawing/2014/main" id="{B97EECE1-8F47-2A90-CD72-0690330F3195}"/>
              </a:ext>
            </a:extLst>
          </p:cNvPr>
          <p:cNvSpPr/>
          <p:nvPr/>
        </p:nvSpPr>
        <p:spPr>
          <a:xfrm>
            <a:off x="5886447" y="428974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7CCD898F-D9AD-6900-8EDB-39E6C96D01B2}"/>
              </a:ext>
            </a:extLst>
          </p:cNvPr>
          <p:cNvSpPr/>
          <p:nvPr/>
        </p:nvSpPr>
        <p:spPr>
          <a:xfrm>
            <a:off x="7520240" y="4295163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AD1F54E4-909B-787C-C7EB-6C950394FB15}"/>
              </a:ext>
            </a:extLst>
          </p:cNvPr>
          <p:cNvSpPr/>
          <p:nvPr/>
        </p:nvSpPr>
        <p:spPr>
          <a:xfrm>
            <a:off x="8336953" y="4288402"/>
            <a:ext cx="424039" cy="1874009"/>
          </a:xfrm>
          <a:prstGeom prst="roundRect">
            <a:avLst/>
          </a:prstGeom>
          <a:solidFill>
            <a:srgbClr val="D5F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344241-6CAC-6147-CBD8-F0195C30F439}"/>
              </a:ext>
            </a:extLst>
          </p:cNvPr>
          <p:cNvSpPr/>
          <p:nvPr/>
        </p:nvSpPr>
        <p:spPr>
          <a:xfrm>
            <a:off x="5926665" y="5047986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92FF04F-2D09-378A-7F00-B83A970C61BB}"/>
              </a:ext>
            </a:extLst>
          </p:cNvPr>
          <p:cNvSpPr/>
          <p:nvPr/>
        </p:nvSpPr>
        <p:spPr>
          <a:xfrm>
            <a:off x="5926665" y="5436819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25D60BA-838E-7A24-BCF1-D5892AEDB26A}"/>
              </a:ext>
            </a:extLst>
          </p:cNvPr>
          <p:cNvSpPr/>
          <p:nvPr/>
        </p:nvSpPr>
        <p:spPr>
          <a:xfrm>
            <a:off x="7575177" y="50397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BC9469D-9B09-8C53-B8DA-21779B40AFFF}"/>
              </a:ext>
            </a:extLst>
          </p:cNvPr>
          <p:cNvSpPr/>
          <p:nvPr/>
        </p:nvSpPr>
        <p:spPr>
          <a:xfrm>
            <a:off x="7575177" y="54285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AD11AC8-E8C5-DFC2-C751-8582C3961C20}"/>
              </a:ext>
            </a:extLst>
          </p:cNvPr>
          <p:cNvSpPr/>
          <p:nvPr/>
        </p:nvSpPr>
        <p:spPr>
          <a:xfrm>
            <a:off x="8389092" y="5030425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08C58E4-9213-6810-175B-29E300619D5E}"/>
              </a:ext>
            </a:extLst>
          </p:cNvPr>
          <p:cNvSpPr/>
          <p:nvPr/>
        </p:nvSpPr>
        <p:spPr>
          <a:xfrm>
            <a:off x="8389092" y="5419258"/>
            <a:ext cx="327968" cy="32157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500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Takeaway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I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H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ypothesis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analog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PCP</a:t>
                </a:r>
              </a:p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PIH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list-satisfiability</a:t>
                </a:r>
                <a:r>
                  <a:rPr kumimoji="1"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(parameterized)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2CSP</a:t>
                </a:r>
              </a:p>
              <a:p>
                <a:pPr lvl="1"/>
                <a:r>
                  <a:rPr lang="en-US" altLang="zh-CN" sz="2000" dirty="0">
                    <a:latin typeface="Cambria" panose="02040503050406030204" pitchFamily="18" charset="0"/>
                  </a:rPr>
                  <a:t>W[1]-hard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Idea: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induction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size</a:t>
                </a:r>
              </a:p>
              <a:p>
                <a:pPr marL="0" indent="0">
                  <a:buNone/>
                </a:pPr>
                <a:endParaRPr kumimoji="1" lang="en-US" altLang="zh-CN" sz="2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  <a:blipFill>
                <a:blip r:embed="rId2"/>
                <a:stretch>
                  <a:fillRect l="-232" t="-1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0011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Takeaway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I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H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ypothesis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analog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PCP</a:t>
                </a:r>
              </a:p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PIH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list-satisfiability</a:t>
                </a:r>
                <a:r>
                  <a:rPr kumimoji="1"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(parameterized)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2CSP</a:t>
                </a:r>
              </a:p>
              <a:p>
                <a:pPr lvl="1"/>
                <a:r>
                  <a:rPr lang="en-US" altLang="zh-CN" sz="2000" dirty="0">
                    <a:latin typeface="Cambria" panose="02040503050406030204" pitchFamily="18" charset="0"/>
                  </a:rPr>
                  <a:t>W[1]-hard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Idea: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induction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size</a:t>
                </a:r>
              </a:p>
              <a:p>
                <a:pPr lvl="1"/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kumimoji="1" lang="zh-CN" altLang="en-US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PIH</a:t>
                </a:r>
              </a:p>
              <a:p>
                <a:pPr lvl="1"/>
                <a:r>
                  <a:rPr lang="en-US" altLang="zh-CN" sz="2000" dirty="0">
                    <a:latin typeface="Cambria" panose="02040503050406030204" pitchFamily="18" charset="0"/>
                  </a:rPr>
                  <a:t>W[1]-hard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i="1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Idea: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using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codes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large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collision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numbers</a:t>
                </a: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Average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-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ExactCover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-Nearest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Codeword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Problem</a:t>
                </a:r>
              </a:p>
              <a:p>
                <a:pPr lvl="1"/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sz="2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  <a:blipFill>
                <a:blip r:embed="rId2"/>
                <a:stretch>
                  <a:fillRect l="-348" t="-1246" r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4714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F150-DFD5-0ADB-9372-48924D62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600" cap="non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Takeaway</a:t>
            </a:r>
            <a:endParaRPr kumimoji="1" lang="zh-CN" altLang="en-US" sz="3600" cap="none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I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H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ypothesis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parameterized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analog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PCP</a:t>
                </a:r>
              </a:p>
              <a:p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PIH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–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list-satisfiability</a:t>
                </a:r>
                <a:r>
                  <a:rPr kumimoji="1" lang="zh-CN" altLang="en-US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(parameterized)</a:t>
                </a:r>
                <a:r>
                  <a:rPr kumimoji="1" lang="zh-CN" altLang="en-US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dirty="0">
                    <a:latin typeface="Cambria" panose="02040503050406030204" pitchFamily="18" charset="0"/>
                  </a:rPr>
                  <a:t>2CSP</a:t>
                </a:r>
              </a:p>
              <a:p>
                <a:pPr lvl="1"/>
                <a:r>
                  <a:rPr lang="en-US" altLang="zh-CN" sz="2000" dirty="0">
                    <a:latin typeface="Cambria" panose="02040503050406030204" pitchFamily="18" charset="0"/>
                  </a:rPr>
                  <a:t>W[1]-hard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Idea: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induction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the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list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size</a:t>
                </a:r>
              </a:p>
              <a:p>
                <a:pPr lvl="1"/>
                <a:endParaRPr kumimoji="1" lang="en-US" altLang="zh-CN" sz="2000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kumimoji="1" lang="zh-CN" altLang="en-US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200" dirty="0">
                    <a:solidFill>
                      <a:srgbClr val="7030A0"/>
                    </a:solidFill>
                    <a:latin typeface="Cambria" panose="02040503050406030204" pitchFamily="18" charset="0"/>
                  </a:rPr>
                  <a:t>PIH</a:t>
                </a:r>
              </a:p>
              <a:p>
                <a:pPr lvl="1"/>
                <a:r>
                  <a:rPr lang="en-US" altLang="zh-CN" sz="2000" dirty="0">
                    <a:latin typeface="Cambria" panose="02040503050406030204" pitchFamily="18" charset="0"/>
                  </a:rPr>
                  <a:t>W[1]-hard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to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distinguish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between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1-list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and</a:t>
                </a:r>
                <a:r>
                  <a:rPr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[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not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even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i="1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average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-list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 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Cambria" panose="02040503050406030204" pitchFamily="18" charset="0"/>
                  </a:rPr>
                  <a:t>satisfiable</a:t>
                </a:r>
                <a:r>
                  <a:rPr lang="en-US" altLang="zh-CN" sz="2000" dirty="0">
                    <a:latin typeface="Cambria" panose="02040503050406030204" pitchFamily="18" charset="0"/>
                  </a:rPr>
                  <a:t>]</a:t>
                </a: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Proof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Idea: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using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error-correcting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codes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with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large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collision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numbers</a:t>
                </a:r>
              </a:p>
              <a:p>
                <a:pPr lvl="1"/>
                <a:r>
                  <a:rPr kumimoji="1" lang="en-US" altLang="zh-CN" sz="2000" dirty="0">
                    <a:latin typeface="Cambria" panose="02040503050406030204" pitchFamily="18" charset="0"/>
                  </a:rPr>
                  <a:t>Average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Baby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PIH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constant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inapproximability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of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-</a:t>
                </a:r>
                <a:r>
                  <a:rPr kumimoji="1" lang="en-US" altLang="zh-CN" sz="2000" dirty="0" err="1">
                    <a:latin typeface="Cambria" panose="02040503050406030204" pitchFamily="18" charset="0"/>
                  </a:rPr>
                  <a:t>ExactCover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,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zh-CN" sz="2000" dirty="0">
                    <a:latin typeface="Cambria" panose="02040503050406030204" pitchFamily="18" charset="0"/>
                  </a:rPr>
                  <a:t>-Nearest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Codeword</a:t>
                </a:r>
                <a:r>
                  <a:rPr kumimoji="1" lang="zh-CN" altLang="en-US" sz="2000" dirty="0">
                    <a:latin typeface="Cambria" panose="02040503050406030204" pitchFamily="18" charset="0"/>
                  </a:rPr>
                  <a:t> </a:t>
                </a:r>
                <a:r>
                  <a:rPr kumimoji="1" lang="en-US" altLang="zh-CN" sz="2000" dirty="0">
                    <a:latin typeface="Cambria" panose="02040503050406030204" pitchFamily="18" charset="0"/>
                  </a:rPr>
                  <a:t>Problem</a:t>
                </a:r>
                <a:endParaRPr kumimoji="1" lang="en-US" altLang="zh-CN" sz="2200" dirty="0">
                  <a:latin typeface="Cambria" panose="02040503050406030204" pitchFamily="18" charset="0"/>
                </a:endParaRPr>
              </a:p>
              <a:p>
                <a:pPr lvl="1"/>
                <a:endParaRPr kumimoji="1" lang="en-US" altLang="zh-CN" sz="2200" dirty="0">
                  <a:latin typeface="Cambria" panose="02040503050406030204" pitchFamily="18" charset="0"/>
                </a:endParaRPr>
              </a:p>
              <a:p>
                <a:r>
                  <a:rPr kumimoji="1" lang="en-US" altLang="zh-CN" sz="2200" dirty="0">
                    <a:latin typeface="Cambria" panose="02040503050406030204" pitchFamily="18" charset="0"/>
                  </a:rPr>
                  <a:t>Thanks!</a:t>
                </a:r>
                <a:endParaRPr kumimoji="1" lang="zh-CN" altLang="en-US" sz="22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FA855D-7C83-C7EE-C190-50442905B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831" y="2171650"/>
                <a:ext cx="10917837" cy="4050792"/>
              </a:xfrm>
              <a:blipFill>
                <a:blip r:embed="rId2"/>
                <a:stretch>
                  <a:fillRect l="-348" t="-1869" r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465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材纹理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{B33EF26F-7C25-3444-8E26-6CE606BF6C1C}tf10001070</Template>
  <TotalTime>5746</TotalTime>
  <Words>4132</Words>
  <Application>Microsoft Macintosh PowerPoint</Application>
  <PresentationFormat>宽屏</PresentationFormat>
  <Paragraphs>707</Paragraphs>
  <Slides>54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7" baseType="lpstr">
      <vt:lpstr>等线</vt:lpstr>
      <vt:lpstr>Arial</vt:lpstr>
      <vt:lpstr>Calibri</vt:lpstr>
      <vt:lpstr>Cambria</vt:lpstr>
      <vt:lpstr>Cambria Math</vt:lpstr>
      <vt:lpstr>Consolas</vt:lpstr>
      <vt:lpstr>Palatino</vt:lpstr>
      <vt:lpstr>Rockwell</vt:lpstr>
      <vt:lpstr>Rockwell Condensed</vt:lpstr>
      <vt:lpstr>Rockwell Extra Bold</vt:lpstr>
      <vt:lpstr>Verdana</vt:lpstr>
      <vt:lpstr>Wingdings</vt:lpstr>
      <vt:lpstr>木材纹理</vt:lpstr>
      <vt:lpstr>Parameterized Inapproximability for Min-CSP:  From Baby PIH to Average Baby PIH</vt:lpstr>
      <vt:lpstr>Outline</vt:lpstr>
      <vt:lpstr>Outline</vt:lpstr>
      <vt:lpstr>Parameterized Complexity</vt:lpstr>
      <vt:lpstr>Parameterized Complexity</vt:lpstr>
      <vt:lpstr>Parameterized Approximation</vt:lpstr>
      <vt:lpstr>PowerPoint 演示文稿</vt:lpstr>
      <vt:lpstr>Parameterized Hardness of Approximation</vt:lpstr>
      <vt:lpstr>PowerPoint 演示文稿</vt:lpstr>
      <vt:lpstr>Recall: PCP Theorem</vt:lpstr>
      <vt:lpstr>Parameterized Inapproximability Hypothesis</vt:lpstr>
      <vt:lpstr>Parameterized Inapproximability Hypothesis</vt:lpstr>
      <vt:lpstr>Outline</vt:lpstr>
      <vt:lpstr>List Satisfiability of CSP</vt:lpstr>
      <vt:lpstr>List Satisfiability of CSP</vt:lpstr>
      <vt:lpstr>List Satisfiability of CSP</vt:lpstr>
      <vt:lpstr>List Satisfiability of CSP</vt:lpstr>
      <vt:lpstr>List Satisfiability of CSP</vt:lpstr>
      <vt:lpstr>List Satisfiability of CSP</vt:lpstr>
      <vt:lpstr>List Satisfiability of CSP</vt:lpstr>
      <vt:lpstr>List Satisfiability of CSP</vt:lpstr>
      <vt:lpstr>Baby PCP</vt:lpstr>
      <vt:lpstr>Baby PCP</vt:lpstr>
      <vt:lpstr>Baby PCP</vt:lpstr>
      <vt:lpstr>Baby PIH</vt:lpstr>
      <vt:lpstr>Baby PIH</vt:lpstr>
      <vt:lpstr>PowerPoint 演示文稿</vt:lpstr>
      <vt:lpstr>PowerPoint 演示文稿</vt:lpstr>
      <vt:lpstr>Baby PIH</vt:lpstr>
      <vt:lpstr>Outline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Proof Overview – Baby PIH</vt:lpstr>
      <vt:lpstr>Outline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Proof Overview – Average Baby PIH</vt:lpstr>
      <vt:lpstr>Takeaway</vt:lpstr>
      <vt:lpstr>Takeaway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 PIH: Parameterized Inapproximability of Min CSP</dc:title>
  <dc:creator>轩笛 任</dc:creator>
  <cp:lastModifiedBy>轩笛 任</cp:lastModifiedBy>
  <cp:revision>33</cp:revision>
  <dcterms:created xsi:type="dcterms:W3CDTF">2023-09-16T17:55:42Z</dcterms:created>
  <dcterms:modified xsi:type="dcterms:W3CDTF">2025-07-23T00:36:11Z</dcterms:modified>
</cp:coreProperties>
</file>