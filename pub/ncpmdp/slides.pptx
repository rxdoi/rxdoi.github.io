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1"/>
  </p:sldMasterIdLst>
  <p:notesMasterIdLst>
    <p:notesMasterId r:id="rId22"/>
  </p:notesMasterIdLst>
  <p:sldIdLst>
    <p:sldId id="256" r:id="rId2"/>
    <p:sldId id="257" r:id="rId3"/>
    <p:sldId id="278" r:id="rId4"/>
    <p:sldId id="273" r:id="rId5"/>
    <p:sldId id="274" r:id="rId6"/>
    <p:sldId id="259" r:id="rId7"/>
    <p:sldId id="262" r:id="rId8"/>
    <p:sldId id="264" r:id="rId9"/>
    <p:sldId id="263" r:id="rId10"/>
    <p:sldId id="277" r:id="rId11"/>
    <p:sldId id="266" r:id="rId12"/>
    <p:sldId id="275" r:id="rId13"/>
    <p:sldId id="276" r:id="rId14"/>
    <p:sldId id="269" r:id="rId15"/>
    <p:sldId id="265" r:id="rId16"/>
    <p:sldId id="267" r:id="rId17"/>
    <p:sldId id="268" r:id="rId18"/>
    <p:sldId id="270" r:id="rId19"/>
    <p:sldId id="271" r:id="rId20"/>
    <p:sldId id="272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15"/>
    <p:restoredTop sz="94740"/>
  </p:normalViewPr>
  <p:slideViewPr>
    <p:cSldViewPr snapToGrid="0">
      <p:cViewPr varScale="1">
        <p:scale>
          <a:sx n="137" d="100"/>
          <a:sy n="137" d="100"/>
        </p:scale>
        <p:origin x="8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E39A10-85BB-B84E-A52C-F27E14390A36}" type="datetimeFigureOut">
              <a:rPr kumimoji="1" lang="zh-CN" altLang="en-US" smtClean="0"/>
              <a:t>2025/5/21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FC3FCD-B2E2-134F-BDF3-0B187484A6E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4115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C3FCD-B2E2-134F-BDF3-0B187484A6ED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14755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C3FCD-B2E2-134F-BDF3-0B187484A6ED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2868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495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107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434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528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386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007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029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294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191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80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631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73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456DBD1-1048-5A22-C973-3E5FA83F5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D7B0AE8-22E5-0FCD-94C4-33D7AB733C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48706" y="1052713"/>
            <a:ext cx="7538405" cy="2774393"/>
          </a:xfrm>
        </p:spPr>
        <p:txBody>
          <a:bodyPr>
            <a:normAutofit/>
          </a:bodyPr>
          <a:lstStyle/>
          <a:p>
            <a:r>
              <a:rPr lang="en-US" altLang="zh-CN" sz="4600" b="0" i="0" dirty="0">
                <a:effectLst/>
                <a:highlight>
                  <a:srgbClr val="FFFFFF"/>
                </a:highlight>
                <a:latin typeface="Fira Sans" panose="020F0502020204030204" pitchFamily="34" charset="0"/>
              </a:rPr>
              <a:t>PCP-free Inapproximability of Nearest Codeword and Minimum Distance</a:t>
            </a:r>
            <a:endParaRPr kumimoji="1" lang="zh-CN" altLang="en-US" sz="46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671A7FF-ED2F-AA20-900C-088A88A959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7060" y="4027211"/>
            <a:ext cx="8722795" cy="2244280"/>
          </a:xfrm>
        </p:spPr>
        <p:txBody>
          <a:bodyPr>
            <a:normAutofit fontScale="85000" lnSpcReduction="20000"/>
          </a:bodyPr>
          <a:lstStyle/>
          <a:p>
            <a:r>
              <a:rPr kumimoji="1" lang="en-US" altLang="zh-CN" sz="2600" i="1" dirty="0" err="1">
                <a:latin typeface="Cambria" panose="02040503050406030204" pitchFamily="18" charset="0"/>
              </a:rPr>
              <a:t>Xuandi</a:t>
            </a:r>
            <a:r>
              <a:rPr kumimoji="1" lang="zh-CN" altLang="en-US" sz="2600" i="1" dirty="0">
                <a:latin typeface="Cambria" panose="02040503050406030204" pitchFamily="18" charset="0"/>
              </a:rPr>
              <a:t> </a:t>
            </a:r>
            <a:r>
              <a:rPr kumimoji="1" lang="en-US" altLang="zh-CN" sz="2600" i="1" dirty="0">
                <a:latin typeface="Cambria" panose="02040503050406030204" pitchFamily="18" charset="0"/>
              </a:rPr>
              <a:t>Ren</a:t>
            </a:r>
          </a:p>
          <a:p>
            <a:r>
              <a:rPr kumimoji="1" lang="en-US" altLang="zh-CN" sz="2600" dirty="0">
                <a:latin typeface="Cambria" panose="02040503050406030204" pitchFamily="18" charset="0"/>
              </a:rPr>
              <a:t>UC</a:t>
            </a:r>
            <a:r>
              <a:rPr kumimoji="1" lang="zh-CN" altLang="en-US" sz="2600" dirty="0">
                <a:latin typeface="Cambria" panose="02040503050406030204" pitchFamily="18" charset="0"/>
              </a:rPr>
              <a:t> </a:t>
            </a:r>
            <a:r>
              <a:rPr kumimoji="1" lang="en-US" altLang="zh-CN" sz="2600" dirty="0">
                <a:latin typeface="Cambria" panose="02040503050406030204" pitchFamily="18" charset="0"/>
              </a:rPr>
              <a:t>Berkeley</a:t>
            </a:r>
          </a:p>
          <a:p>
            <a:endParaRPr kumimoji="1" lang="en-US" altLang="zh-CN" sz="2400" dirty="0">
              <a:latin typeface="Cambria" panose="02040503050406030204" pitchFamily="18" charset="0"/>
            </a:endParaRPr>
          </a:p>
          <a:p>
            <a:r>
              <a:rPr kumimoji="1" lang="en-US" altLang="zh-CN" sz="2400" dirty="0">
                <a:latin typeface="Cambria" panose="02040503050406030204" pitchFamily="18" charset="0"/>
              </a:rPr>
              <a:t>Based</a:t>
            </a:r>
            <a:r>
              <a:rPr kumimoji="1" lang="zh-CN" altLang="en-US" sz="2400" dirty="0"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latin typeface="Cambria" panose="02040503050406030204" pitchFamily="18" charset="0"/>
              </a:rPr>
              <a:t>on</a:t>
            </a:r>
            <a:r>
              <a:rPr kumimoji="1" lang="zh-CN" altLang="en-US" sz="2400" dirty="0"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latin typeface="Cambria" panose="02040503050406030204" pitchFamily="18" charset="0"/>
              </a:rPr>
              <a:t>a</a:t>
            </a:r>
            <a:r>
              <a:rPr kumimoji="1" lang="zh-CN" altLang="en-US" sz="2400" dirty="0"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latin typeface="Cambria" panose="02040503050406030204" pitchFamily="18" charset="0"/>
              </a:rPr>
              <a:t>joint</a:t>
            </a:r>
            <a:r>
              <a:rPr kumimoji="1" lang="zh-CN" altLang="en-US" sz="2400" dirty="0"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latin typeface="Cambria" panose="02040503050406030204" pitchFamily="18" charset="0"/>
              </a:rPr>
              <a:t>work</a:t>
            </a:r>
            <a:r>
              <a:rPr kumimoji="1" lang="zh-CN" altLang="en-US" sz="2400" dirty="0"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latin typeface="Cambria" panose="02040503050406030204" pitchFamily="18" charset="0"/>
              </a:rPr>
              <a:t>with</a:t>
            </a:r>
          </a:p>
          <a:p>
            <a:r>
              <a:rPr lang="en-US" altLang="zh-CN" sz="2400" b="0" i="1" dirty="0">
                <a:solidFill>
                  <a:srgbClr val="282828"/>
                </a:solidFill>
                <a:effectLst/>
                <a:highlight>
                  <a:srgbClr val="FFFFFF"/>
                </a:highlight>
                <a:latin typeface="Cambria" panose="02040503050406030204" pitchFamily="18" charset="0"/>
              </a:rPr>
              <a:t>Vijay Bhattiprolu</a:t>
            </a:r>
            <a:r>
              <a:rPr lang="en-US" altLang="zh-CN" sz="2400" b="0" i="0" dirty="0">
                <a:solidFill>
                  <a:srgbClr val="282828"/>
                </a:solidFill>
                <a:effectLst/>
                <a:highlight>
                  <a:srgbClr val="FFFFFF"/>
                </a:highlight>
                <a:latin typeface="Cambria" panose="02040503050406030204" pitchFamily="18" charset="0"/>
              </a:rPr>
              <a:t>, </a:t>
            </a:r>
            <a:r>
              <a:rPr lang="en-US" altLang="zh-CN" sz="2400" b="0" i="1" dirty="0">
                <a:solidFill>
                  <a:srgbClr val="282828"/>
                </a:solidFill>
                <a:effectLst/>
                <a:highlight>
                  <a:srgbClr val="FFFFFF"/>
                </a:highlight>
                <a:latin typeface="Cambria" panose="02040503050406030204" pitchFamily="18" charset="0"/>
              </a:rPr>
              <a:t>Venkat Guruswami</a:t>
            </a:r>
            <a:r>
              <a:rPr lang="en-US" altLang="zh-CN" sz="2400" b="0" i="0" dirty="0">
                <a:solidFill>
                  <a:srgbClr val="282828"/>
                </a:solidFill>
                <a:effectLst/>
                <a:highlight>
                  <a:srgbClr val="FFFFFF"/>
                </a:highlight>
                <a:latin typeface="Cambria" panose="02040503050406030204" pitchFamily="18" charset="0"/>
              </a:rPr>
              <a:t>, </a:t>
            </a:r>
            <a:r>
              <a:rPr lang="en-US" altLang="zh-CN" sz="2400" b="0" dirty="0">
                <a:solidFill>
                  <a:srgbClr val="282828"/>
                </a:solidFill>
                <a:effectLst/>
                <a:highlight>
                  <a:srgbClr val="FFFFFF"/>
                </a:highlight>
                <a:latin typeface="Cambria" panose="02040503050406030204" pitchFamily="18" charset="0"/>
              </a:rPr>
              <a:t>and </a:t>
            </a:r>
            <a:r>
              <a:rPr lang="en-US" altLang="zh-CN" sz="2400" b="0" i="1" dirty="0" err="1">
                <a:solidFill>
                  <a:srgbClr val="282828"/>
                </a:solidFill>
                <a:effectLst/>
                <a:highlight>
                  <a:srgbClr val="FFFFFF"/>
                </a:highlight>
                <a:latin typeface="Cambria" panose="02040503050406030204" pitchFamily="18" charset="0"/>
              </a:rPr>
              <a:t>Euiwoong</a:t>
            </a:r>
            <a:r>
              <a:rPr lang="en-US" altLang="zh-CN" sz="2400" b="0" i="1" dirty="0">
                <a:solidFill>
                  <a:srgbClr val="282828"/>
                </a:solidFill>
                <a:effectLst/>
                <a:highlight>
                  <a:srgbClr val="FFFFFF"/>
                </a:highlight>
                <a:latin typeface="Cambria" panose="02040503050406030204" pitchFamily="18" charset="0"/>
              </a:rPr>
              <a:t> Lee</a:t>
            </a:r>
            <a:endParaRPr kumimoji="1" lang="zh-CN" altLang="en-US" sz="2400" i="1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562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1FD214-372C-9A5F-D92A-97B1CE049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Error-correcting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Codes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EA3118E-0EBA-946A-E630-A4C9C88AE0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b="1" i="1" dirty="0">
                    <a:latin typeface="Cambria" panose="02040503050406030204" pitchFamily="18" charset="0"/>
                  </a:rPr>
                  <a:t>Error-correcting</a:t>
                </a:r>
                <a:r>
                  <a:rPr kumimoji="1" lang="zh-CN" altLang="en-US" b="1" i="1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b="1" i="1" dirty="0">
                    <a:latin typeface="Cambria" panose="02040503050406030204" pitchFamily="18" charset="0"/>
                  </a:rPr>
                  <a:t>Codes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:</m:t>
                    </m:r>
                    <m:sSubSup>
                      <m:sSub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kumimoji="1" lang="el-GR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kumimoji="1"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such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that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kumimoji="1"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kumimoji="1" lang="zh-CN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d>
                              <m:dPr>
                                <m:ctrlPr>
                                  <a:rPr kumimoji="1"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d>
                              <m:dPr>
                                <m:ctrlPr>
                                  <a:rPr kumimoji="1"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we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focus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case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where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b="1" i="1" dirty="0">
                    <a:latin typeface="Cambria" panose="02040503050406030204" pitchFamily="18" charset="0"/>
                  </a:rPr>
                  <a:t>linear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and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l-GR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r>
                  <a:rPr kumimoji="1" lang="en-US" altLang="zh-CN" dirty="0">
                    <a:latin typeface="Cambria" panose="02040503050406030204" pitchFamily="18" charset="0"/>
                  </a:rPr>
                  <a:t>Widely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used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 err="1">
                    <a:latin typeface="Cambria" panose="02040503050406030204" pitchFamily="18" charset="0"/>
                  </a:rPr>
                  <a:t>complxity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theory,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cryptography,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optimization,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and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so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on.</a:t>
                </a:r>
              </a:p>
              <a:p>
                <a:r>
                  <a:rPr kumimoji="1" lang="en-US" altLang="zh-CN" dirty="0">
                    <a:latin typeface="Cambria" panose="02040503050406030204" pitchFamily="18" charset="0"/>
                  </a:rPr>
                  <a:t>Connection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to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CSPs: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used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PCP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theorem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–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hardness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approximating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CSPs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local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testing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some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properties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ECC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can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be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viewed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CSPs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…</a:t>
                </a:r>
              </a:p>
              <a:p>
                <a:pPr lvl="1"/>
                <a:endParaRPr kumimoji="1" lang="en-US" altLang="zh-CN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EA3118E-0EBA-946A-E630-A4C9C88AE0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4227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D0D8A02C-61D9-DC4F-AFF0-D88D36D87806}"/>
              </a:ext>
            </a:extLst>
          </p:cNvPr>
          <p:cNvSpPr/>
          <p:nvPr/>
        </p:nvSpPr>
        <p:spPr>
          <a:xfrm>
            <a:off x="612647" y="1680898"/>
            <a:ext cx="9105094" cy="1492608"/>
          </a:xfrm>
          <a:prstGeom prst="roundRect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91FD214-372C-9A5F-D92A-97B1CE049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Problems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EA3118E-0EBA-946A-E630-A4C9C88AE0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b="1" dirty="0">
                    <a:latin typeface="Cambria" panose="02040503050406030204" pitchFamily="18" charset="0"/>
                    <a:ea typeface="Verdana" panose="020B0604030504040204" pitchFamily="34" charset="0"/>
                    <a:cs typeface="Consolas" panose="020B0609020204030204" pitchFamily="49" charset="0"/>
                  </a:rPr>
                  <a:t>Nearest</a:t>
                </a:r>
                <a:r>
                  <a:rPr kumimoji="1" lang="zh-CN" altLang="en-US" b="1" dirty="0">
                    <a:latin typeface="Cambria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b="1" dirty="0">
                    <a:latin typeface="Cambria" panose="02040503050406030204" pitchFamily="18" charset="0"/>
                    <a:ea typeface="Verdana" panose="020B0604030504040204" pitchFamily="34" charset="0"/>
                    <a:cs typeface="Consolas" panose="020B0609020204030204" pitchFamily="49" charset="0"/>
                  </a:rPr>
                  <a:t>Codeword</a:t>
                </a:r>
                <a:r>
                  <a:rPr kumimoji="1" lang="zh-CN" altLang="en-US" b="1" dirty="0">
                    <a:latin typeface="Cambria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b="1" dirty="0">
                    <a:latin typeface="Cambria" panose="02040503050406030204" pitchFamily="18" charset="0"/>
                    <a:ea typeface="Verdana" panose="020B0604030504040204" pitchFamily="34" charset="0"/>
                    <a:cs typeface="Consolas" panose="020B0609020204030204" pitchFamily="49" charset="0"/>
                  </a:rPr>
                  <a:t>Problem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Input: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linear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code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sSubSup>
                      <m:sSubSup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kumimoji="1" lang="en-US" altLang="zh-CN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CN" alt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and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vector</a:t>
                </a:r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.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Output: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minimum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distance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from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to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any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codeword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i.e.,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kumimoji="1" lang="en-US" altLang="zh-CN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lim>
                        </m:limLow>
                      </m:fName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func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EA3118E-0EBA-946A-E630-A4C9C88AE0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8822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ED78909B-A133-B00F-244F-5C6D6AF5C26F}"/>
              </a:ext>
            </a:extLst>
          </p:cNvPr>
          <p:cNvSpPr/>
          <p:nvPr/>
        </p:nvSpPr>
        <p:spPr>
          <a:xfrm>
            <a:off x="612647" y="1680898"/>
            <a:ext cx="9105094" cy="1492608"/>
          </a:xfrm>
          <a:prstGeom prst="roundRect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91FD214-372C-9A5F-D92A-97B1CE049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Problems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EA3118E-0EBA-946A-E630-A4C9C88AE0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b="1" dirty="0">
                    <a:latin typeface="Cambria" panose="02040503050406030204" pitchFamily="18" charset="0"/>
                    <a:ea typeface="Verdana" panose="020B0604030504040204" pitchFamily="34" charset="0"/>
                    <a:cs typeface="Consolas" panose="020B0609020204030204" pitchFamily="49" charset="0"/>
                  </a:rPr>
                  <a:t>Nearest</a:t>
                </a:r>
                <a:r>
                  <a:rPr kumimoji="1" lang="zh-CN" altLang="en-US" b="1" dirty="0">
                    <a:latin typeface="Cambria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b="1" dirty="0">
                    <a:latin typeface="Cambria" panose="02040503050406030204" pitchFamily="18" charset="0"/>
                    <a:ea typeface="Verdana" panose="020B0604030504040204" pitchFamily="34" charset="0"/>
                    <a:cs typeface="Consolas" panose="020B0609020204030204" pitchFamily="49" charset="0"/>
                  </a:rPr>
                  <a:t>Codeword</a:t>
                </a:r>
                <a:r>
                  <a:rPr kumimoji="1" lang="zh-CN" altLang="en-US" b="1" dirty="0">
                    <a:latin typeface="Cambria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b="1" dirty="0">
                    <a:latin typeface="Cambria" panose="02040503050406030204" pitchFamily="18" charset="0"/>
                    <a:ea typeface="Verdana" panose="020B0604030504040204" pitchFamily="34" charset="0"/>
                    <a:cs typeface="Consolas" panose="020B0609020204030204" pitchFamily="49" charset="0"/>
                  </a:rPr>
                  <a:t>Problem (An Equivalent View)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Input: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affine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subspace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kumimoji="1" lang="en-US" altLang="zh-C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sSubSup>
                      <m:sSubSup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.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Output: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minimum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Hamming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weight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vector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kumimoji="1" lang="en-US" altLang="zh-CN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EA3118E-0EBA-946A-E630-A4C9C88AE0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1114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>
            <a:extLst>
              <a:ext uri="{FF2B5EF4-FFF2-40B4-BE49-F238E27FC236}">
                <a16:creationId xmlns:a16="http://schemas.microsoft.com/office/drawing/2014/main" id="{6EB1FD1B-A9FE-307C-76DE-873BB633527A}"/>
              </a:ext>
            </a:extLst>
          </p:cNvPr>
          <p:cNvSpPr/>
          <p:nvPr/>
        </p:nvSpPr>
        <p:spPr>
          <a:xfrm>
            <a:off x="612647" y="1680898"/>
            <a:ext cx="9105094" cy="1492608"/>
          </a:xfrm>
          <a:prstGeom prst="roundRect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4D034AF-BF2E-A655-6672-8DBAC541DD28}"/>
              </a:ext>
            </a:extLst>
          </p:cNvPr>
          <p:cNvSpPr/>
          <p:nvPr/>
        </p:nvSpPr>
        <p:spPr>
          <a:xfrm>
            <a:off x="612647" y="3521344"/>
            <a:ext cx="9105094" cy="1492608"/>
          </a:xfrm>
          <a:prstGeom prst="roundRect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EA3118E-0EBA-946A-E630-A4C9C88AE0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b="1" dirty="0">
                    <a:latin typeface="Cambria" panose="02040503050406030204" pitchFamily="18" charset="0"/>
                    <a:ea typeface="Verdana" panose="020B0604030504040204" pitchFamily="34" charset="0"/>
                    <a:cs typeface="Consolas" panose="020B0609020204030204" pitchFamily="49" charset="0"/>
                  </a:rPr>
                  <a:t>Nearest</a:t>
                </a:r>
                <a:r>
                  <a:rPr kumimoji="1" lang="zh-CN" altLang="en-US" b="1" dirty="0">
                    <a:latin typeface="Cambria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b="1" dirty="0">
                    <a:latin typeface="Cambria" panose="02040503050406030204" pitchFamily="18" charset="0"/>
                    <a:ea typeface="Verdana" panose="020B0604030504040204" pitchFamily="34" charset="0"/>
                    <a:cs typeface="Consolas" panose="020B0609020204030204" pitchFamily="49" charset="0"/>
                  </a:rPr>
                  <a:t>Codeword</a:t>
                </a:r>
                <a:r>
                  <a:rPr kumimoji="1" lang="zh-CN" altLang="en-US" b="1" dirty="0">
                    <a:latin typeface="Cambria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b="1" dirty="0">
                    <a:latin typeface="Cambria" panose="02040503050406030204" pitchFamily="18" charset="0"/>
                    <a:ea typeface="Verdana" panose="020B0604030504040204" pitchFamily="34" charset="0"/>
                    <a:cs typeface="Consolas" panose="020B0609020204030204" pitchFamily="49" charset="0"/>
                  </a:rPr>
                  <a:t>Problem (An Equivalent View)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Input: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affine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subspace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sSubSup>
                      <m:sSubSup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.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Output: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minimum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Hamming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weight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vector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r>
                  <a:rPr kumimoji="1" lang="en-US" altLang="zh-CN" b="1" dirty="0">
                    <a:latin typeface="Cambria" panose="02040503050406030204" pitchFamily="18" charset="0"/>
                    <a:cs typeface="Consolas" panose="020B0609020204030204" pitchFamily="49" charset="0"/>
                  </a:rPr>
                  <a:t>Minimum</a:t>
                </a:r>
                <a:r>
                  <a:rPr kumimoji="1" lang="zh-CN" altLang="en-US" b="1" dirty="0">
                    <a:latin typeface="Cambria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b="1" dirty="0">
                    <a:latin typeface="Cambria" panose="02040503050406030204" pitchFamily="18" charset="0"/>
                    <a:cs typeface="Consolas" panose="020B0609020204030204" pitchFamily="49" charset="0"/>
                  </a:rPr>
                  <a:t>Distance</a:t>
                </a:r>
                <a:r>
                  <a:rPr kumimoji="1" lang="zh-CN" altLang="en-US" b="1" dirty="0">
                    <a:latin typeface="Cambria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b="1" dirty="0">
                    <a:latin typeface="Cambria" panose="02040503050406030204" pitchFamily="18" charset="0"/>
                    <a:cs typeface="Consolas" panose="020B0609020204030204" pitchFamily="49" charset="0"/>
                  </a:rPr>
                  <a:t>Problem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Input: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linear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code (a.k.a. subspace)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sSubSup>
                      <m:sSubSup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.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Output: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minimum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Hamming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weight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non-zero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codeword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EA3118E-0EBA-946A-E630-A4C9C88AE0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491FD214-372C-9A5F-D92A-97B1CE049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Problems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9648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D37956-1D58-10EC-394B-CB71F196D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Hardness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NCP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MDP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ED1F28-BDA4-6487-3D04-5D686B376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b="1" dirty="0">
                <a:latin typeface="Cambria" panose="02040503050406030204" pitchFamily="18" charset="0"/>
              </a:rPr>
              <a:t>NP-hardness</a:t>
            </a:r>
            <a:r>
              <a:rPr kumimoji="1" lang="zh-CN" altLang="en-US" b="1" dirty="0">
                <a:latin typeface="Cambria" panose="02040503050406030204" pitchFamily="18" charset="0"/>
              </a:rPr>
              <a:t> </a:t>
            </a:r>
            <a:r>
              <a:rPr kumimoji="1" lang="en-US" altLang="zh-CN" b="1" dirty="0">
                <a:latin typeface="Cambria" panose="02040503050406030204" pitchFamily="18" charset="0"/>
              </a:rPr>
              <a:t>of</a:t>
            </a:r>
            <a:r>
              <a:rPr kumimoji="1" lang="zh-CN" altLang="en-US" b="1" dirty="0">
                <a:latin typeface="Cambria" panose="02040503050406030204" pitchFamily="18" charset="0"/>
              </a:rPr>
              <a:t> </a:t>
            </a:r>
            <a:r>
              <a:rPr kumimoji="1" lang="en-US" altLang="zh-CN" b="1" dirty="0">
                <a:latin typeface="Cambria" panose="02040503050406030204" pitchFamily="18" charset="0"/>
              </a:rPr>
              <a:t>NCP</a:t>
            </a:r>
            <a:r>
              <a:rPr kumimoji="1" lang="en-US" altLang="zh-CN" dirty="0">
                <a:latin typeface="Cambria" panose="02040503050406030204" pitchFamily="18" charset="0"/>
              </a:rPr>
              <a:t>:</a:t>
            </a:r>
          </a:p>
          <a:p>
            <a:pPr lvl="1"/>
            <a:r>
              <a:rPr kumimoji="1" lang="en-US" altLang="zh-CN" dirty="0">
                <a:latin typeface="Cambria" panose="02040503050406030204" pitchFamily="18" charset="0"/>
              </a:rPr>
              <a:t>reducing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from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 err="1">
                <a:latin typeface="Cambria" panose="02040503050406030204" pitchFamily="18" charset="0"/>
              </a:rPr>
              <a:t>ExactCover</a:t>
            </a:r>
            <a:r>
              <a:rPr kumimoji="1" lang="en-US" altLang="zh-CN" dirty="0">
                <a:latin typeface="Cambria" panose="02040503050406030204" pitchFamily="18" charset="0"/>
              </a:rPr>
              <a:t>.</a:t>
            </a:r>
          </a:p>
          <a:p>
            <a:r>
              <a:rPr kumimoji="1" lang="en-US" altLang="zh-CN" b="1" dirty="0">
                <a:latin typeface="Cambria" panose="02040503050406030204" pitchFamily="18" charset="0"/>
              </a:rPr>
              <a:t>NP-hardness</a:t>
            </a:r>
            <a:r>
              <a:rPr kumimoji="1" lang="zh-CN" altLang="en-US" b="1" dirty="0">
                <a:latin typeface="Cambria" panose="02040503050406030204" pitchFamily="18" charset="0"/>
              </a:rPr>
              <a:t> </a:t>
            </a:r>
            <a:r>
              <a:rPr kumimoji="1" lang="en-US" altLang="zh-CN" b="1" dirty="0">
                <a:latin typeface="Cambria" panose="02040503050406030204" pitchFamily="18" charset="0"/>
              </a:rPr>
              <a:t>of</a:t>
            </a:r>
            <a:r>
              <a:rPr kumimoji="1" lang="zh-CN" altLang="en-US" b="1" dirty="0">
                <a:latin typeface="Cambria" panose="02040503050406030204" pitchFamily="18" charset="0"/>
              </a:rPr>
              <a:t> </a:t>
            </a:r>
            <a:r>
              <a:rPr kumimoji="1" lang="en-US" altLang="zh-CN" b="1" dirty="0">
                <a:latin typeface="Cambria" panose="02040503050406030204" pitchFamily="18" charset="0"/>
              </a:rPr>
              <a:t>MDP</a:t>
            </a:r>
            <a:r>
              <a:rPr kumimoji="1" lang="en-US" altLang="zh-CN" dirty="0">
                <a:latin typeface="Cambria" panose="02040503050406030204" pitchFamily="18" charset="0"/>
              </a:rPr>
              <a:t>:</a:t>
            </a:r>
          </a:p>
          <a:p>
            <a:pPr lvl="1"/>
            <a:r>
              <a:rPr kumimoji="1" lang="en-US" altLang="zh-CN" dirty="0">
                <a:latin typeface="Cambria" panose="02040503050406030204" pitchFamily="18" charset="0"/>
              </a:rPr>
              <a:t>[Vardy’97],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using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as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a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gadget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a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Reed-Solomon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code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concatenated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with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Hadamard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code.</a:t>
            </a:r>
          </a:p>
          <a:p>
            <a:endParaRPr kumimoji="1" lang="en-US" altLang="zh-CN" dirty="0">
              <a:latin typeface="Cambria" panose="02040503050406030204" pitchFamily="18" charset="0"/>
            </a:endParaRPr>
          </a:p>
          <a:p>
            <a:r>
              <a:rPr kumimoji="1" lang="en-US" altLang="zh-CN" b="1" dirty="0">
                <a:latin typeface="Cambria" panose="02040503050406030204" pitchFamily="18" charset="0"/>
              </a:rPr>
              <a:t>NP-hardness</a:t>
            </a:r>
            <a:r>
              <a:rPr kumimoji="1" lang="zh-CN" altLang="en-US" b="1" dirty="0">
                <a:latin typeface="Cambria" panose="02040503050406030204" pitchFamily="18" charset="0"/>
              </a:rPr>
              <a:t> </a:t>
            </a:r>
            <a:r>
              <a:rPr kumimoji="1" lang="en-US" altLang="zh-CN" b="1" dirty="0">
                <a:latin typeface="Cambria" panose="02040503050406030204" pitchFamily="18" charset="0"/>
              </a:rPr>
              <a:t>of</a:t>
            </a:r>
            <a:r>
              <a:rPr kumimoji="1" lang="zh-CN" altLang="en-US" b="1" dirty="0">
                <a:latin typeface="Cambria" panose="02040503050406030204" pitchFamily="18" charset="0"/>
              </a:rPr>
              <a:t> </a:t>
            </a:r>
            <a:r>
              <a:rPr kumimoji="1" lang="en-US" altLang="zh-CN" b="1" dirty="0">
                <a:latin typeface="Cambria" panose="02040503050406030204" pitchFamily="18" charset="0"/>
              </a:rPr>
              <a:t>approximating</a:t>
            </a:r>
            <a:r>
              <a:rPr kumimoji="1" lang="zh-CN" altLang="en-US" b="1" dirty="0">
                <a:latin typeface="Cambria" panose="02040503050406030204" pitchFamily="18" charset="0"/>
              </a:rPr>
              <a:t> </a:t>
            </a:r>
            <a:r>
              <a:rPr kumimoji="1" lang="en-US" altLang="zh-CN" b="1" dirty="0">
                <a:latin typeface="Cambria" panose="02040503050406030204" pitchFamily="18" charset="0"/>
              </a:rPr>
              <a:t>NCP</a:t>
            </a:r>
            <a:r>
              <a:rPr kumimoji="1" lang="en-US" altLang="zh-CN" dirty="0">
                <a:latin typeface="Cambria" panose="02040503050406030204" pitchFamily="18" charset="0"/>
              </a:rPr>
              <a:t>:</a:t>
            </a:r>
          </a:p>
          <a:p>
            <a:pPr lvl="1"/>
            <a:r>
              <a:rPr kumimoji="1" lang="en-US" altLang="zh-CN" dirty="0">
                <a:latin typeface="Cambria" panose="02040503050406030204" pitchFamily="18" charset="0"/>
              </a:rPr>
              <a:t>still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from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 err="1">
                <a:latin typeface="Cambria" panose="02040503050406030204" pitchFamily="18" charset="0"/>
              </a:rPr>
              <a:t>ExactCover</a:t>
            </a:r>
            <a:r>
              <a:rPr kumimoji="1" lang="en-US" altLang="zh-CN" dirty="0">
                <a:latin typeface="Cambria" panose="02040503050406030204" pitchFamily="18" charset="0"/>
              </a:rPr>
              <a:t>,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a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corollary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of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PCP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theorem</a:t>
            </a:r>
          </a:p>
          <a:p>
            <a:r>
              <a:rPr kumimoji="1" lang="en-US" altLang="zh-CN" b="1" dirty="0">
                <a:latin typeface="Cambria" panose="02040503050406030204" pitchFamily="18" charset="0"/>
              </a:rPr>
              <a:t>NP-hardness</a:t>
            </a:r>
            <a:r>
              <a:rPr kumimoji="1" lang="zh-CN" altLang="en-US" b="1" dirty="0">
                <a:latin typeface="Cambria" panose="02040503050406030204" pitchFamily="18" charset="0"/>
              </a:rPr>
              <a:t> </a:t>
            </a:r>
            <a:r>
              <a:rPr kumimoji="1" lang="en-US" altLang="zh-CN" b="1" dirty="0">
                <a:latin typeface="Cambria" panose="02040503050406030204" pitchFamily="18" charset="0"/>
              </a:rPr>
              <a:t>of</a:t>
            </a:r>
            <a:r>
              <a:rPr kumimoji="1" lang="zh-CN" altLang="en-US" b="1" dirty="0">
                <a:latin typeface="Cambria" panose="02040503050406030204" pitchFamily="18" charset="0"/>
              </a:rPr>
              <a:t> </a:t>
            </a:r>
            <a:r>
              <a:rPr kumimoji="1" lang="en-US" altLang="zh-CN" b="1" dirty="0">
                <a:latin typeface="Cambria" panose="02040503050406030204" pitchFamily="18" charset="0"/>
              </a:rPr>
              <a:t>approximating</a:t>
            </a:r>
            <a:r>
              <a:rPr kumimoji="1" lang="zh-CN" altLang="en-US" b="1" dirty="0">
                <a:latin typeface="Cambria" panose="02040503050406030204" pitchFamily="18" charset="0"/>
              </a:rPr>
              <a:t> </a:t>
            </a:r>
            <a:r>
              <a:rPr kumimoji="1" lang="en-US" altLang="zh-CN" b="1" dirty="0">
                <a:latin typeface="Cambria" panose="02040503050406030204" pitchFamily="18" charset="0"/>
              </a:rPr>
              <a:t>MDP:</a:t>
            </a:r>
          </a:p>
          <a:p>
            <a:pPr marL="457200" lvl="2">
              <a:spcBef>
                <a:spcPts val="1000"/>
              </a:spcBef>
            </a:pPr>
            <a:r>
              <a:rPr kumimoji="1" lang="en-US" altLang="zh-CN" sz="1800" dirty="0">
                <a:latin typeface="Cambria" panose="02040503050406030204" pitchFamily="18" charset="0"/>
              </a:rPr>
              <a:t>[Dumer-Micciancio-Sudan’03],</a:t>
            </a:r>
            <a:r>
              <a:rPr kumimoji="1" lang="zh-CN" altLang="en-US" sz="1800" dirty="0">
                <a:latin typeface="Cambria" panose="02040503050406030204" pitchFamily="18" charset="0"/>
              </a:rPr>
              <a:t> </a:t>
            </a:r>
            <a:r>
              <a:rPr kumimoji="1" lang="en-US" altLang="zh-CN" sz="1800" dirty="0">
                <a:latin typeface="Cambria" panose="02040503050406030204" pitchFamily="18" charset="0"/>
              </a:rPr>
              <a:t>a</a:t>
            </a:r>
            <a:r>
              <a:rPr kumimoji="1" lang="zh-CN" altLang="en-US" sz="1800" dirty="0">
                <a:latin typeface="Cambria" panose="02040503050406030204" pitchFamily="18" charset="0"/>
              </a:rPr>
              <a:t> </a:t>
            </a:r>
            <a:r>
              <a:rPr kumimoji="1" lang="en-US" altLang="zh-CN" sz="1800" dirty="0">
                <a:latin typeface="Cambria" panose="02040503050406030204" pitchFamily="18" charset="0"/>
              </a:rPr>
              <a:t>randomized</a:t>
            </a:r>
            <a:r>
              <a:rPr kumimoji="1" lang="zh-CN" altLang="en-US" sz="1800" dirty="0">
                <a:latin typeface="Cambria" panose="02040503050406030204" pitchFamily="18" charset="0"/>
              </a:rPr>
              <a:t> </a:t>
            </a:r>
            <a:r>
              <a:rPr kumimoji="1" lang="en-US" altLang="zh-CN" sz="1800" dirty="0">
                <a:latin typeface="Cambria" panose="02040503050406030204" pitchFamily="18" charset="0"/>
              </a:rPr>
              <a:t>reduction,</a:t>
            </a:r>
            <a:r>
              <a:rPr kumimoji="1" lang="zh-CN" altLang="en-US" sz="1800" dirty="0">
                <a:latin typeface="Cambria" panose="02040503050406030204" pitchFamily="18" charset="0"/>
              </a:rPr>
              <a:t> </a:t>
            </a:r>
            <a:r>
              <a:rPr kumimoji="1" lang="en-US" altLang="zh-CN" sz="1800" dirty="0">
                <a:latin typeface="Cambria" panose="02040503050406030204" pitchFamily="18" charset="0"/>
              </a:rPr>
              <a:t>using</a:t>
            </a:r>
            <a:r>
              <a:rPr kumimoji="1" lang="zh-CN" altLang="en-US" sz="1800" dirty="0">
                <a:latin typeface="Cambria" panose="02040503050406030204" pitchFamily="18" charset="0"/>
              </a:rPr>
              <a:t> </a:t>
            </a:r>
            <a:r>
              <a:rPr kumimoji="1" lang="en-US" altLang="zh-CN" sz="1800" i="1" dirty="0">
                <a:latin typeface="Cambria" panose="02040503050406030204" pitchFamily="18" charset="0"/>
              </a:rPr>
              <a:t>locally</a:t>
            </a:r>
            <a:r>
              <a:rPr kumimoji="1" lang="zh-CN" altLang="en-US" sz="1800" i="1" dirty="0">
                <a:latin typeface="Cambria" panose="02040503050406030204" pitchFamily="18" charset="0"/>
              </a:rPr>
              <a:t> </a:t>
            </a:r>
            <a:r>
              <a:rPr kumimoji="1" lang="en-US" altLang="zh-CN" sz="1800" i="1" dirty="0">
                <a:latin typeface="Cambria" panose="02040503050406030204" pitchFamily="18" charset="0"/>
              </a:rPr>
              <a:t>dense</a:t>
            </a:r>
            <a:r>
              <a:rPr kumimoji="1" lang="zh-CN" altLang="en-US" sz="1800" i="1" dirty="0">
                <a:latin typeface="Cambria" panose="02040503050406030204" pitchFamily="18" charset="0"/>
              </a:rPr>
              <a:t> </a:t>
            </a:r>
            <a:r>
              <a:rPr kumimoji="1" lang="en-US" altLang="zh-CN" sz="1800" i="1" dirty="0">
                <a:latin typeface="Cambria" panose="02040503050406030204" pitchFamily="18" charset="0"/>
              </a:rPr>
              <a:t>code</a:t>
            </a:r>
            <a:r>
              <a:rPr kumimoji="1" lang="zh-CN" altLang="en-US" sz="1800" i="1" dirty="0">
                <a:latin typeface="Cambria" panose="02040503050406030204" pitchFamily="18" charset="0"/>
              </a:rPr>
              <a:t> </a:t>
            </a:r>
            <a:r>
              <a:rPr kumimoji="1" lang="en-US" altLang="zh-CN" sz="1800" dirty="0">
                <a:latin typeface="Cambria" panose="02040503050406030204" pitchFamily="18" charset="0"/>
              </a:rPr>
              <a:t>as</a:t>
            </a:r>
            <a:r>
              <a:rPr kumimoji="1" lang="zh-CN" altLang="en-US" sz="1800" dirty="0">
                <a:latin typeface="Cambria" panose="02040503050406030204" pitchFamily="18" charset="0"/>
              </a:rPr>
              <a:t> </a:t>
            </a:r>
            <a:r>
              <a:rPr kumimoji="1" lang="en-US" altLang="zh-CN" sz="1800" dirty="0">
                <a:latin typeface="Cambria" panose="02040503050406030204" pitchFamily="18" charset="0"/>
              </a:rPr>
              <a:t>a</a:t>
            </a:r>
            <a:r>
              <a:rPr kumimoji="1" lang="zh-CN" altLang="en-US" sz="1800" dirty="0">
                <a:latin typeface="Cambria" panose="02040503050406030204" pitchFamily="18" charset="0"/>
              </a:rPr>
              <a:t> </a:t>
            </a:r>
            <a:r>
              <a:rPr kumimoji="1" lang="en-US" altLang="zh-CN" sz="1800" dirty="0">
                <a:latin typeface="Cambria" panose="02040503050406030204" pitchFamily="18" charset="0"/>
              </a:rPr>
              <a:t>gadget</a:t>
            </a:r>
          </a:p>
          <a:p>
            <a:pPr marL="457200" lvl="2">
              <a:spcBef>
                <a:spcPts val="1000"/>
              </a:spcBef>
            </a:pPr>
            <a:r>
              <a:rPr kumimoji="1" lang="en-US" altLang="zh-CN" sz="1800" dirty="0">
                <a:latin typeface="Cambria" panose="02040503050406030204" pitchFamily="18" charset="0"/>
              </a:rPr>
              <a:t>derandomized</a:t>
            </a:r>
            <a:r>
              <a:rPr kumimoji="1" lang="zh-CN" altLang="en-US" sz="1800" dirty="0">
                <a:latin typeface="Cambria" panose="02040503050406030204" pitchFamily="18" charset="0"/>
              </a:rPr>
              <a:t> </a:t>
            </a:r>
            <a:r>
              <a:rPr kumimoji="1" lang="en-US" altLang="zh-CN" sz="1800" dirty="0">
                <a:latin typeface="Cambria" panose="02040503050406030204" pitchFamily="18" charset="0"/>
              </a:rPr>
              <a:t>by</a:t>
            </a:r>
            <a:r>
              <a:rPr kumimoji="1" lang="zh-CN" altLang="en-US" sz="1800" dirty="0">
                <a:latin typeface="Cambria" panose="02040503050406030204" pitchFamily="18" charset="0"/>
              </a:rPr>
              <a:t> </a:t>
            </a:r>
            <a:r>
              <a:rPr kumimoji="1" lang="en-US" altLang="zh-CN" sz="1800" dirty="0">
                <a:latin typeface="Cambria" panose="02040503050406030204" pitchFamily="18" charset="0"/>
              </a:rPr>
              <a:t>[Cheng-Wan’12,</a:t>
            </a:r>
            <a:r>
              <a:rPr kumimoji="1" lang="zh-CN" altLang="en-US" sz="1800" dirty="0">
                <a:latin typeface="Cambria" panose="02040503050406030204" pitchFamily="18" charset="0"/>
              </a:rPr>
              <a:t> </a:t>
            </a:r>
            <a:r>
              <a:rPr kumimoji="1" lang="en-US" altLang="zh-CN" sz="1800" dirty="0">
                <a:latin typeface="Cambria" panose="02040503050406030204" pitchFamily="18" charset="0"/>
              </a:rPr>
              <a:t>Austrin-Khot’14,</a:t>
            </a:r>
            <a:r>
              <a:rPr kumimoji="1" lang="zh-CN" altLang="en-US" sz="1800" dirty="0">
                <a:latin typeface="Cambria" panose="02040503050406030204" pitchFamily="18" charset="0"/>
              </a:rPr>
              <a:t> </a:t>
            </a:r>
            <a:r>
              <a:rPr kumimoji="1" lang="en-US" altLang="zh-CN" sz="1800" dirty="0">
                <a:latin typeface="Cambria" panose="02040503050406030204" pitchFamily="18" charset="0"/>
              </a:rPr>
              <a:t>Micciancio’14]</a:t>
            </a:r>
          </a:p>
          <a:p>
            <a:endParaRPr kumimoji="1" lang="zh-CN" altLang="en-US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077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31DE4EAC-7F08-E76F-8421-55368258C262}"/>
              </a:ext>
            </a:extLst>
          </p:cNvPr>
          <p:cNvSpPr/>
          <p:nvPr/>
        </p:nvSpPr>
        <p:spPr>
          <a:xfrm>
            <a:off x="612647" y="1715532"/>
            <a:ext cx="10524565" cy="884233"/>
          </a:xfrm>
          <a:prstGeom prst="roundRect">
            <a:avLst/>
          </a:prstGeom>
          <a:solidFill>
            <a:schemeClr val="accent2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AA44DDE-3E1E-9BA0-F1A9-8B9B8F397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Results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95190C1-EFDD-340F-060F-559F9CEB50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simple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deterministic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reduction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showing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inapproximability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NCP/MDP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(over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any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constant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i="1" smtClean="0">
                            <a:latin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)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within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any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constant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factors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assuming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NP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P</a:t>
                </a:r>
              </a:p>
              <a:p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r>
                  <a:rPr kumimoji="1" lang="en-US" altLang="zh-CN" dirty="0">
                    <a:latin typeface="Cambria" panose="02040503050406030204" pitchFamily="18" charset="0"/>
                  </a:rPr>
                  <a:t>PCP-free</a:t>
                </a:r>
              </a:p>
              <a:p>
                <a:r>
                  <a:rPr kumimoji="1" lang="en-US" altLang="zh-CN" dirty="0">
                    <a:latin typeface="Cambria" panose="02040503050406030204" pitchFamily="18" charset="0"/>
                  </a:rPr>
                  <a:t>Deterministic</a:t>
                </a:r>
              </a:p>
              <a:p>
                <a:r>
                  <a:rPr kumimoji="1" lang="en-US" altLang="zh-CN" dirty="0">
                    <a:latin typeface="Cambria" panose="02040503050406030204" pitchFamily="18" charset="0"/>
                  </a:rPr>
                  <a:t>Homogenization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reverse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way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–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MDP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-&gt;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NCP</a:t>
                </a:r>
                <a:endParaRPr kumimoji="1" lang="zh-CN" altLang="en-US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95190C1-EFDD-340F-060F-559F9CEB50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1942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43A1F3-2D7A-B152-9F22-05306D5F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Proof</a:t>
            </a:r>
            <a:r>
              <a:rPr kumimoji="1" lang="zh-CN" altLang="en-US" dirty="0"/>
              <a:t> </a:t>
            </a:r>
            <a:r>
              <a:rPr kumimoji="1" lang="en-US" altLang="zh-CN" dirty="0"/>
              <a:t>Overview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554C4CE-3B5A-1A42-8CD1-64E3898D79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>
                    <a:latin typeface="Cambria" panose="02040503050406030204" pitchFamily="18" charset="0"/>
                  </a:rPr>
                  <a:t>Starting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Point: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satisfiability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system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homogeneous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quadratic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equations</a:t>
                </a:r>
              </a:p>
              <a:p>
                <a:r>
                  <a:rPr kumimoji="1" lang="en-US" altLang="zh-CN" dirty="0">
                    <a:latin typeface="Cambria" panose="02040503050406030204" pitchFamily="18" charset="0"/>
                  </a:rPr>
                  <a:t>Key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tools: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bound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2</a:t>
                </a:r>
                <a:r>
                  <a:rPr kumimoji="1" lang="en-US" altLang="zh-CN" baseline="30000" dirty="0">
                    <a:latin typeface="Cambria" panose="02040503050406030204" pitchFamily="18" charset="0"/>
                  </a:rPr>
                  <a:t>nd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generalized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Hamming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weight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any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code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rank-1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testing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matrix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tensor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code,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via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Hamming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weight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an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-balanced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code</a:t>
                </a:r>
              </a:p>
              <a:p>
                <a:r>
                  <a:rPr kumimoji="1" lang="en-US" altLang="zh-CN" dirty="0">
                    <a:latin typeface="Cambria" panose="02040503050406030204" pitchFamily="18" charset="0"/>
                  </a:rPr>
                  <a:t>Idea: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rewrite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 err="1">
                    <a:latin typeface="Cambria" panose="02040503050406030204" pitchFamily="18" charset="0"/>
                  </a:rPr>
                  <a:t>QuadEQ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rank-1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testing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use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-balanced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code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to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ensure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(YES)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case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have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low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weight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use the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bound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2</a:t>
                </a:r>
                <a:r>
                  <a:rPr kumimoji="1" lang="en-US" altLang="zh-CN" baseline="30000" dirty="0">
                    <a:latin typeface="Cambria" panose="02040503050406030204" pitchFamily="18" charset="0"/>
                  </a:rPr>
                  <a:t>nd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generalized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Hamming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weight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to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argue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(NO)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case,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every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solution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has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high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weight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554C4CE-3B5A-1A42-8CD1-64E3898D79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35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5FF443-2F10-3130-FDD3-1D04C5F71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en-US" altLang="zh-CN" baseline="30000" dirty="0"/>
              <a:t>nd</a:t>
            </a:r>
            <a:r>
              <a:rPr kumimoji="1" lang="zh-CN" altLang="en-US" dirty="0"/>
              <a:t> </a:t>
            </a:r>
            <a:r>
              <a:rPr kumimoji="1" lang="en-US" altLang="zh-CN" dirty="0"/>
              <a:t>Generalized</a:t>
            </a:r>
            <a:r>
              <a:rPr kumimoji="1" lang="zh-CN" altLang="en-US" dirty="0"/>
              <a:t> </a:t>
            </a:r>
            <a:r>
              <a:rPr kumimoji="1" lang="en-US" altLang="zh-CN" dirty="0"/>
              <a:t>Hamming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Weight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1ECF7D4-17FB-2E82-BF09-37071D3BCE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2647" y="1715532"/>
                <a:ext cx="10653579" cy="5142468"/>
              </a:xfrm>
            </p:spPr>
            <p:txBody>
              <a:bodyPr>
                <a:normAutofit/>
              </a:bodyPr>
              <a:lstStyle/>
              <a:p>
                <a:r>
                  <a:rPr kumimoji="1" lang="en-US" altLang="zh-CN" sz="1800" dirty="0">
                    <a:latin typeface="Cambria" panose="02040503050406030204" pitchFamily="18" charset="0"/>
                  </a:rPr>
                  <a:t>For</a:t>
                </a:r>
                <a:r>
                  <a:rPr kumimoji="1" lang="zh-CN" altLang="en-US" sz="18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800" dirty="0">
                    <a:latin typeface="Cambria" panose="02040503050406030204" pitchFamily="18" charset="0"/>
                  </a:rPr>
                  <a:t>any</a:t>
                </a:r>
                <a:r>
                  <a:rPr kumimoji="1" lang="zh-CN" altLang="en-US" sz="18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800" dirty="0">
                    <a:latin typeface="Cambria" panose="02040503050406030204" pitchFamily="18" charset="0"/>
                  </a:rPr>
                  <a:t>linear</a:t>
                </a:r>
                <a:r>
                  <a:rPr kumimoji="1" lang="zh-CN" altLang="en-US" sz="18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800" dirty="0">
                    <a:latin typeface="Cambria" panose="02040503050406030204" pitchFamily="18" charset="0"/>
                  </a:rPr>
                  <a:t>code</a:t>
                </a:r>
                <a:r>
                  <a:rPr kumimoji="1" lang="zh-CN" altLang="en-US" sz="18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sSubSup>
                      <m:sSubSupPr>
                        <m:ctrlPr>
                          <a:rPr kumimoji="1"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kumimoji="1"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kumimoji="1"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kumimoji="1" lang="zh-CN" altLang="en-US" sz="18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800" dirty="0">
                    <a:latin typeface="Cambria" panose="02040503050406030204" pitchFamily="18" charset="0"/>
                  </a:rPr>
                  <a:t>with</a:t>
                </a:r>
                <a:r>
                  <a:rPr kumimoji="1" lang="zh-CN" altLang="en-US" sz="18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800" dirty="0">
                    <a:latin typeface="Cambria" panose="02040503050406030204" pitchFamily="18" charset="0"/>
                  </a:rPr>
                  <a:t>distance</a:t>
                </a:r>
                <a:r>
                  <a:rPr kumimoji="1" lang="zh-CN" altLang="en-US" sz="18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1800" dirty="0">
                    <a:latin typeface="Cambria" panose="02040503050406030204" pitchFamily="18" charset="0"/>
                  </a:rPr>
                  <a:t>,</a:t>
                </a:r>
                <a:r>
                  <a:rPr kumimoji="1" lang="zh-CN" altLang="en-US" sz="18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800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sz="18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800" b="1" i="1" dirty="0">
                    <a:latin typeface="Cambria" panose="02040503050406030204" pitchFamily="18" charset="0"/>
                  </a:rPr>
                  <a:t>2</a:t>
                </a:r>
                <a:r>
                  <a:rPr kumimoji="1" lang="en-US" altLang="zh-CN" sz="1800" b="1" i="1" baseline="30000" dirty="0">
                    <a:latin typeface="Cambria" panose="02040503050406030204" pitchFamily="18" charset="0"/>
                  </a:rPr>
                  <a:t>nd</a:t>
                </a:r>
                <a:r>
                  <a:rPr kumimoji="1" lang="zh-CN" altLang="en-US" sz="1800" b="1" i="1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800" b="1" i="1" dirty="0">
                    <a:latin typeface="Cambria" panose="02040503050406030204" pitchFamily="18" charset="0"/>
                  </a:rPr>
                  <a:t>generalized</a:t>
                </a:r>
                <a:r>
                  <a:rPr kumimoji="1" lang="zh-CN" altLang="en-US" sz="1800" b="1" i="1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800" b="1" i="1" dirty="0">
                    <a:latin typeface="Cambria" panose="02040503050406030204" pitchFamily="18" charset="0"/>
                  </a:rPr>
                  <a:t>Hamming</a:t>
                </a:r>
                <a:r>
                  <a:rPr kumimoji="1" lang="zh-CN" altLang="en-US" sz="1800" b="1" i="1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800" b="1" i="1" dirty="0">
                    <a:latin typeface="Cambria" panose="02040503050406030204" pitchFamily="18" charset="0"/>
                  </a:rPr>
                  <a:t>weight</a:t>
                </a:r>
                <a:r>
                  <a:rPr kumimoji="1" lang="en-US" altLang="zh-CN" sz="1800" dirty="0">
                    <a:latin typeface="Cambria" panose="02040503050406030204" pitchFamily="18" charset="0"/>
                  </a:rPr>
                  <a:t>,</a:t>
                </a:r>
                <a:r>
                  <a:rPr kumimoji="1" lang="zh-CN" altLang="en-US" sz="18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800" dirty="0">
                    <a:latin typeface="Cambria" panose="02040503050406030204" pitchFamily="18" charset="0"/>
                  </a:rPr>
                  <a:t>written</a:t>
                </a:r>
                <a:r>
                  <a:rPr kumimoji="1" lang="zh-CN" altLang="en-US" sz="18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800" dirty="0">
                    <a:latin typeface="Cambria" panose="02040503050406030204" pitchFamily="18" charset="0"/>
                  </a:rPr>
                  <a:t>as</a:t>
                </a:r>
                <a:r>
                  <a:rPr kumimoji="1" lang="zh-CN" altLang="en-US" sz="18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1800" dirty="0">
                    <a:latin typeface="Cambria" panose="02040503050406030204" pitchFamily="18" charset="0"/>
                  </a:rPr>
                  <a:t>,</a:t>
                </a:r>
                <a:r>
                  <a:rPr kumimoji="1" lang="zh-CN" altLang="en-US" sz="18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800" dirty="0">
                    <a:latin typeface="Cambria" panose="02040503050406030204" pitchFamily="18" charset="0"/>
                  </a:rPr>
                  <a:t>is</a:t>
                </a:r>
                <a:r>
                  <a:rPr kumimoji="1" lang="zh-CN" altLang="en-US" sz="18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800" dirty="0">
                    <a:latin typeface="Cambria" panose="02040503050406030204" pitchFamily="18" charset="0"/>
                  </a:rPr>
                  <a:t>defined</a:t>
                </a:r>
                <a:r>
                  <a:rPr kumimoji="1" lang="zh-CN" altLang="en-US" sz="18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800" dirty="0">
                    <a:latin typeface="Cambria" panose="02040503050406030204" pitchFamily="18" charset="0"/>
                  </a:rPr>
                  <a:t>as</a:t>
                </a:r>
                <a:r>
                  <a:rPr kumimoji="1" lang="zh-CN" altLang="en-US" sz="18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800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sz="18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800" dirty="0">
                    <a:latin typeface="Cambria" panose="02040503050406030204" pitchFamily="18" charset="0"/>
                  </a:rPr>
                  <a:t>minimum</a:t>
                </a:r>
                <a:r>
                  <a:rPr kumimoji="1" lang="zh-CN" altLang="en-US" sz="18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800" dirty="0">
                    <a:latin typeface="Cambria" panose="02040503050406030204" pitchFamily="18" charset="0"/>
                  </a:rPr>
                  <a:t>of</a:t>
                </a:r>
                <a:br>
                  <a:rPr kumimoji="1" lang="en-US" altLang="zh-CN" sz="1800" dirty="0">
                    <a:latin typeface="Cambria" panose="02040503050406030204" pitchFamily="18" charset="0"/>
                  </a:rPr>
                </a:b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kumimoji="1" lang="en-US" altLang="zh-CN" sz="1800" i="1">
                            <a:latin typeface="Cambria Math" panose="02040503050406030204" pitchFamily="18" charset="0"/>
                          </a:rPr>
                          <m:t>supp</m:t>
                        </m:r>
                        <m:d>
                          <m:dPr>
                            <m:ctrlPr>
                              <a:rPr kumimoji="1"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1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kumimoji="1"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m:rPr>
                            <m:sty m:val="p"/>
                          </m:rPr>
                          <a:rPr kumimoji="1"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supp</m:t>
                        </m:r>
                        <m:d>
                          <m:dPr>
                            <m:ctrlPr>
                              <a:rPr kumimoji="1" lang="en-US" altLang="zh-C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d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br>
                  <a:rPr kumimoji="1" lang="en-US" altLang="zh-CN" sz="1800" dirty="0">
                    <a:latin typeface="Cambria" panose="02040503050406030204" pitchFamily="18" charset="0"/>
                  </a:rPr>
                </a:br>
                <a:r>
                  <a:rPr kumimoji="1" lang="en-US" altLang="zh-CN" sz="1800" dirty="0">
                    <a:latin typeface="Cambria" panose="02040503050406030204" pitchFamily="18" charset="0"/>
                  </a:rPr>
                  <a:t>for</a:t>
                </a:r>
                <a:r>
                  <a:rPr kumimoji="1" lang="zh-CN" altLang="en-US" sz="18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800" dirty="0">
                    <a:latin typeface="Cambria" panose="02040503050406030204" pitchFamily="18" charset="0"/>
                  </a:rPr>
                  <a:t>any</a:t>
                </a:r>
                <a:r>
                  <a:rPr kumimoji="1" lang="zh-CN" altLang="en-US" sz="18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800" dirty="0">
                    <a:latin typeface="Cambria" panose="02040503050406030204" pitchFamily="18" charset="0"/>
                  </a:rPr>
                  <a:t>linearly</a:t>
                </a:r>
                <a:r>
                  <a:rPr kumimoji="1" lang="zh-CN" altLang="en-US" sz="18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800" dirty="0">
                    <a:latin typeface="Cambria" panose="02040503050406030204" pitchFamily="18" charset="0"/>
                  </a:rPr>
                  <a:t>independent</a:t>
                </a:r>
                <a:r>
                  <a:rPr kumimoji="1" lang="zh-CN" altLang="en-US" sz="18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800" dirty="0">
                    <a:latin typeface="Cambria" panose="02040503050406030204" pitchFamily="18" charset="0"/>
                  </a:rPr>
                  <a:t>codewords</a:t>
                </a:r>
                <a:r>
                  <a:rPr kumimoji="1" lang="zh-CN" altLang="en-US" sz="18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1" lang="en-US" altLang="zh-CN" sz="1800" dirty="0">
                    <a:latin typeface="Cambria" panose="02040503050406030204" pitchFamily="18" charset="0"/>
                  </a:rPr>
                  <a:t>.</a:t>
                </a:r>
              </a:p>
              <a:p>
                <a:endParaRPr kumimoji="1" lang="en-US" altLang="zh-CN" sz="1800" dirty="0">
                  <a:latin typeface="Cambria" panose="02040503050406030204" pitchFamily="18" charset="0"/>
                </a:endParaRPr>
              </a:p>
              <a:p>
                <a:endParaRPr kumimoji="1" lang="en-US" altLang="zh-CN" sz="1800" dirty="0">
                  <a:latin typeface="Cambria" panose="02040503050406030204" pitchFamily="18" charset="0"/>
                </a:endParaRPr>
              </a:p>
              <a:p>
                <a:endParaRPr kumimoji="1" lang="en-US" altLang="zh-CN" sz="1800" dirty="0">
                  <a:latin typeface="Cambria" panose="02040503050406030204" pitchFamily="18" charset="0"/>
                </a:endParaRPr>
              </a:p>
              <a:p>
                <a:endParaRPr kumimoji="1" lang="en-US" altLang="zh-CN" sz="1800" dirty="0">
                  <a:latin typeface="Cambria" panose="02040503050406030204" pitchFamily="18" charset="0"/>
                </a:endParaRPr>
              </a:p>
              <a:p>
                <a:endParaRPr kumimoji="1" lang="en-US" altLang="zh-CN" sz="1800" dirty="0">
                  <a:latin typeface="Cambria" panose="02040503050406030204" pitchFamily="18" charset="0"/>
                </a:endParaRPr>
              </a:p>
              <a:p>
                <a:endParaRPr kumimoji="1" lang="en-US" altLang="zh-CN" sz="1800" dirty="0">
                  <a:latin typeface="Cambria" panose="02040503050406030204" pitchFamily="18" charset="0"/>
                </a:endParaRPr>
              </a:p>
              <a:p>
                <a:endParaRPr kumimoji="1" lang="en-US" altLang="zh-CN" sz="1800" dirty="0">
                  <a:latin typeface="Cambria" panose="02040503050406030204" pitchFamily="18" charset="0"/>
                </a:endParaRPr>
              </a:p>
              <a:p>
                <a:endParaRPr kumimoji="1" lang="en-US" altLang="zh-CN" sz="1800" dirty="0">
                  <a:latin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kumimoji="1" lang="en-US" altLang="zh-CN" sz="18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1ECF7D4-17FB-2E82-BF09-37071D3BCE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2647" y="1715532"/>
                <a:ext cx="10653579" cy="5142468"/>
              </a:xfrm>
              <a:blipFill>
                <a:blip r:embed="rId2"/>
                <a:stretch>
                  <a:fillRect l="-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圆角矩形 4">
            <a:extLst>
              <a:ext uri="{FF2B5EF4-FFF2-40B4-BE49-F238E27FC236}">
                <a16:creationId xmlns:a16="http://schemas.microsoft.com/office/drawing/2014/main" id="{ED2227D7-9350-14AE-69E9-88BCA11AED0E}"/>
              </a:ext>
            </a:extLst>
          </p:cNvPr>
          <p:cNvSpPr/>
          <p:nvPr/>
        </p:nvSpPr>
        <p:spPr>
          <a:xfrm>
            <a:off x="612647" y="1680898"/>
            <a:ext cx="10569636" cy="1474678"/>
          </a:xfrm>
          <a:prstGeom prst="roundRect">
            <a:avLst/>
          </a:prstGeom>
          <a:solidFill>
            <a:schemeClr val="accent6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37965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5FF443-2F10-3130-FDD3-1D04C5F71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en-US" altLang="zh-CN" baseline="30000" dirty="0"/>
              <a:t>nd</a:t>
            </a:r>
            <a:r>
              <a:rPr kumimoji="1" lang="zh-CN" altLang="en-US" dirty="0"/>
              <a:t> </a:t>
            </a:r>
            <a:r>
              <a:rPr kumimoji="1" lang="en-US" altLang="zh-CN" dirty="0"/>
              <a:t>Generalized</a:t>
            </a:r>
            <a:r>
              <a:rPr kumimoji="1" lang="zh-CN" altLang="en-US" dirty="0"/>
              <a:t> </a:t>
            </a:r>
            <a:r>
              <a:rPr kumimoji="1" lang="en-US" altLang="zh-CN" dirty="0"/>
              <a:t>Hamming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Weight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1ECF7D4-17FB-2E82-BF09-37071D3BCE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2647" y="1715532"/>
                <a:ext cx="10653579" cy="514246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kumimoji="1" lang="en-US" altLang="zh-CN" sz="1900" dirty="0">
                    <a:latin typeface="Cambria" panose="02040503050406030204" pitchFamily="18" charset="0"/>
                  </a:rPr>
                  <a:t>For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dirty="0">
                    <a:latin typeface="Cambria" panose="02040503050406030204" pitchFamily="18" charset="0"/>
                  </a:rPr>
                  <a:t>any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dirty="0">
                    <a:latin typeface="Cambria" panose="02040503050406030204" pitchFamily="18" charset="0"/>
                  </a:rPr>
                  <a:t>linear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dirty="0">
                    <a:latin typeface="Cambria" panose="02040503050406030204" pitchFamily="18" charset="0"/>
                  </a:rPr>
                  <a:t>code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19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sSubSup>
                      <m:sSubSupPr>
                        <m:ctrlPr>
                          <a:rPr kumimoji="1" lang="en-US" altLang="zh-CN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kumimoji="1" lang="en-US" altLang="zh-CN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kumimoji="1" lang="en-US" altLang="zh-CN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dirty="0">
                    <a:latin typeface="Cambria" panose="02040503050406030204" pitchFamily="18" charset="0"/>
                  </a:rPr>
                  <a:t>with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dirty="0">
                    <a:latin typeface="Cambria" panose="02040503050406030204" pitchFamily="18" charset="0"/>
                  </a:rPr>
                  <a:t>distance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19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kumimoji="1" lang="en-US" altLang="zh-CN" sz="19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19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sz="19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1900" dirty="0">
                    <a:latin typeface="Cambria" panose="02040503050406030204" pitchFamily="18" charset="0"/>
                  </a:rPr>
                  <a:t>,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b="1" i="1" dirty="0">
                    <a:latin typeface="Cambria" panose="02040503050406030204" pitchFamily="18" charset="0"/>
                  </a:rPr>
                  <a:t>2</a:t>
                </a:r>
                <a:r>
                  <a:rPr kumimoji="1" lang="en-US" altLang="zh-CN" sz="1900" b="1" i="1" baseline="30000" dirty="0">
                    <a:latin typeface="Cambria" panose="02040503050406030204" pitchFamily="18" charset="0"/>
                  </a:rPr>
                  <a:t>nd</a:t>
                </a:r>
                <a:r>
                  <a:rPr kumimoji="1" lang="zh-CN" altLang="en-US" sz="1900" b="1" i="1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b="1" i="1" dirty="0">
                    <a:latin typeface="Cambria" panose="02040503050406030204" pitchFamily="18" charset="0"/>
                  </a:rPr>
                  <a:t>generalized</a:t>
                </a:r>
                <a:r>
                  <a:rPr kumimoji="1" lang="zh-CN" altLang="en-US" sz="1900" b="1" i="1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b="1" i="1" dirty="0">
                    <a:latin typeface="Cambria" panose="02040503050406030204" pitchFamily="18" charset="0"/>
                  </a:rPr>
                  <a:t>Hamming</a:t>
                </a:r>
                <a:r>
                  <a:rPr kumimoji="1" lang="zh-CN" altLang="en-US" sz="1900" b="1" i="1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b="1" i="1" dirty="0">
                    <a:latin typeface="Cambria" panose="02040503050406030204" pitchFamily="18" charset="0"/>
                  </a:rPr>
                  <a:t>weight</a:t>
                </a:r>
                <a:r>
                  <a:rPr kumimoji="1" lang="en-US" altLang="zh-CN" sz="1900" dirty="0">
                    <a:latin typeface="Cambria" panose="02040503050406030204" pitchFamily="18" charset="0"/>
                  </a:rPr>
                  <a:t>,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dirty="0">
                    <a:latin typeface="Cambria" panose="02040503050406030204" pitchFamily="18" charset="0"/>
                  </a:rPr>
                  <a:t>written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dirty="0">
                    <a:latin typeface="Cambria" panose="02040503050406030204" pitchFamily="18" charset="0"/>
                  </a:rPr>
                  <a:t>as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9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kumimoji="1" lang="en-US" altLang="zh-CN" sz="19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CN" sz="19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19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sz="19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1900" dirty="0">
                    <a:latin typeface="Cambria" panose="02040503050406030204" pitchFamily="18" charset="0"/>
                  </a:rPr>
                  <a:t>,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dirty="0">
                    <a:latin typeface="Cambria" panose="02040503050406030204" pitchFamily="18" charset="0"/>
                  </a:rPr>
                  <a:t>is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dirty="0">
                    <a:latin typeface="Cambria" panose="02040503050406030204" pitchFamily="18" charset="0"/>
                  </a:rPr>
                  <a:t>defined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dirty="0">
                    <a:latin typeface="Cambria" panose="02040503050406030204" pitchFamily="18" charset="0"/>
                  </a:rPr>
                  <a:t>as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dirty="0">
                    <a:latin typeface="Cambria" panose="02040503050406030204" pitchFamily="18" charset="0"/>
                  </a:rPr>
                  <a:t>minimum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dirty="0">
                    <a:latin typeface="Cambria" panose="02040503050406030204" pitchFamily="18" charset="0"/>
                  </a:rPr>
                  <a:t>of</a:t>
                </a:r>
                <a:br>
                  <a:rPr kumimoji="1" lang="en-US" altLang="zh-CN" sz="1900" dirty="0">
                    <a:latin typeface="Cambria" panose="02040503050406030204" pitchFamily="18" charset="0"/>
                  </a:rPr>
                </a:b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en-US" altLang="zh-CN" sz="1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kumimoji="1" lang="en-US" altLang="zh-CN" sz="1900" i="1">
                            <a:latin typeface="Cambria Math" panose="02040503050406030204" pitchFamily="18" charset="0"/>
                          </a:rPr>
                          <m:t>supp</m:t>
                        </m:r>
                        <m:d>
                          <m:dPr>
                            <m:ctrlPr>
                              <a:rPr kumimoji="1" lang="en-US" altLang="zh-CN" sz="19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19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kumimoji="1" lang="en-US" altLang="zh-CN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m:rPr>
                            <m:sty m:val="p"/>
                          </m:rPr>
                          <a:rPr kumimoji="1" lang="en-US" altLang="zh-CN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supp</m:t>
                        </m:r>
                        <m:d>
                          <m:dPr>
                            <m:ctrlPr>
                              <a:rPr kumimoji="1" lang="en-US" altLang="zh-CN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d>
                    <m:r>
                      <a:rPr kumimoji="1" lang="en-US" altLang="zh-CN" sz="19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br>
                  <a:rPr kumimoji="1" lang="en-US" altLang="zh-CN" sz="1900" dirty="0">
                    <a:latin typeface="Cambria" panose="02040503050406030204" pitchFamily="18" charset="0"/>
                  </a:rPr>
                </a:br>
                <a:r>
                  <a:rPr kumimoji="1" lang="en-US" altLang="zh-CN" sz="1900" dirty="0">
                    <a:latin typeface="Cambria" panose="02040503050406030204" pitchFamily="18" charset="0"/>
                  </a:rPr>
                  <a:t>for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dirty="0">
                    <a:latin typeface="Cambria" panose="02040503050406030204" pitchFamily="18" charset="0"/>
                  </a:rPr>
                  <a:t>any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dirty="0">
                    <a:latin typeface="Cambria" panose="02040503050406030204" pitchFamily="18" charset="0"/>
                  </a:rPr>
                  <a:t>linearly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dirty="0">
                    <a:latin typeface="Cambria" panose="02040503050406030204" pitchFamily="18" charset="0"/>
                  </a:rPr>
                  <a:t>independent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dirty="0">
                    <a:latin typeface="Cambria" panose="02040503050406030204" pitchFamily="18" charset="0"/>
                  </a:rPr>
                  <a:t>codewords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19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kumimoji="1" lang="en-US" altLang="zh-CN" sz="19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19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kumimoji="1" lang="en-US" altLang="zh-CN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kumimoji="1" lang="en-US" altLang="zh-CN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1" lang="en-US" altLang="zh-CN" sz="1900" dirty="0">
                    <a:latin typeface="Cambria" panose="02040503050406030204" pitchFamily="18" charset="0"/>
                  </a:rPr>
                  <a:t>.</a:t>
                </a:r>
              </a:p>
              <a:p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r>
                  <a:rPr kumimoji="1" lang="en-US" altLang="zh-CN" dirty="0">
                    <a:latin typeface="Cambria" panose="02040503050406030204" pitchFamily="18" charset="0"/>
                  </a:rPr>
                  <a:t>Fact: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)≥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.</a:t>
                </a:r>
              </a:p>
              <a:p>
                <a:r>
                  <a:rPr kumimoji="1" lang="en-US" altLang="zh-CN" dirty="0">
                    <a:latin typeface="Cambria" panose="02040503050406030204" pitchFamily="18" charset="0"/>
                  </a:rPr>
                  <a:t>Proof: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Since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linear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code,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i="1" smtClean="0">
                            <a:latin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also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belongs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to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sparsest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vector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𝑢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among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all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choices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has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weight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br>
                  <a:rPr kumimoji="1" lang="en-US" altLang="zh-CN" dirty="0">
                    <a:latin typeface="Cambria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e>
                    </m:d>
                    <m:d>
                      <m:dPr>
                        <m:begChr m:val="|"/>
                        <m:endChr m:val="|"/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kumimoji="1" lang="en-US" altLang="zh-CN" i="1">
                            <a:latin typeface="Cambria Math" panose="02040503050406030204" pitchFamily="18" charset="0"/>
                          </a:rPr>
                          <m:t>supp</m:t>
                        </m:r>
                        <m:d>
                          <m:dPr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m:rPr>
                            <m:sty m:val="p"/>
                          </m:r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supp</m:t>
                        </m:r>
                        <m:d>
                          <m:dPr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d>
                  </m:oMath>
                </a14:m>
                <a:br>
                  <a:rPr kumimoji="1" lang="en-US" altLang="zh-CN" dirty="0">
                    <a:latin typeface="Cambria" panose="02040503050406030204" pitchFamily="18" charset="0"/>
                  </a:rPr>
                </a:br>
                <a:r>
                  <a:rPr kumimoji="1" lang="en-US" altLang="zh-CN" dirty="0">
                    <a:latin typeface="Cambria" panose="02040503050406030204" pitchFamily="18" charset="0"/>
                  </a:rPr>
                  <a:t>by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pigeonhole,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but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this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should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be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Rearranging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gives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desired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bound</a:t>
                </a:r>
                <a:br>
                  <a:rPr kumimoji="1" lang="en-US" altLang="zh-CN" dirty="0">
                    <a:latin typeface="Cambria" panose="02040503050406030204" pitchFamily="18" charset="0"/>
                  </a:rPr>
                </a:br>
                <a:endParaRPr kumimoji="1" lang="en-US" altLang="zh-CN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1ECF7D4-17FB-2E82-BF09-37071D3BCE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2647" y="1715532"/>
                <a:ext cx="10653579" cy="5142468"/>
              </a:xfrm>
              <a:blipFill>
                <a:blip r:embed="rId2"/>
                <a:stretch>
                  <a:fillRect l="-476" t="-2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圆角矩形 3">
            <a:extLst>
              <a:ext uri="{FF2B5EF4-FFF2-40B4-BE49-F238E27FC236}">
                <a16:creationId xmlns:a16="http://schemas.microsoft.com/office/drawing/2014/main" id="{4EB70FD1-BE71-3906-C189-CCF12889447D}"/>
              </a:ext>
            </a:extLst>
          </p:cNvPr>
          <p:cNvSpPr/>
          <p:nvPr/>
        </p:nvSpPr>
        <p:spPr>
          <a:xfrm>
            <a:off x="612647" y="3573688"/>
            <a:ext cx="3448365" cy="564776"/>
          </a:xfrm>
          <a:prstGeom prst="roundRect">
            <a:avLst/>
          </a:prstGeom>
          <a:solidFill>
            <a:schemeClr val="accent6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D2227D7-9350-14AE-69E9-88BCA11AED0E}"/>
              </a:ext>
            </a:extLst>
          </p:cNvPr>
          <p:cNvSpPr/>
          <p:nvPr/>
        </p:nvSpPr>
        <p:spPr>
          <a:xfrm>
            <a:off x="612647" y="1680898"/>
            <a:ext cx="10569636" cy="1474678"/>
          </a:xfrm>
          <a:prstGeom prst="roundRect">
            <a:avLst/>
          </a:prstGeom>
          <a:solidFill>
            <a:schemeClr val="accent6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2AA22BF-CC6F-187F-EFC5-528508DD2EFD}"/>
                  </a:ext>
                </a:extLst>
              </p:cNvPr>
              <p:cNvSpPr/>
              <p:nvPr/>
            </p:nvSpPr>
            <p:spPr>
              <a:xfrm>
                <a:off x="8213744" y="3774707"/>
                <a:ext cx="1981200" cy="363757"/>
              </a:xfrm>
              <a:prstGeom prst="rect">
                <a:avLst/>
              </a:prstGeom>
              <a:solidFill>
                <a:srgbClr val="92D050">
                  <a:alpha val="50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supp</m:t>
                      </m:r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2AA22BF-CC6F-187F-EFC5-528508DD2E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3744" y="3774707"/>
                <a:ext cx="1981200" cy="363757"/>
              </a:xfrm>
              <a:prstGeom prst="rect">
                <a:avLst/>
              </a:prstGeom>
              <a:blipFill>
                <a:blip r:embed="rId3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6AFE62AE-7D41-6B31-B44D-756206611885}"/>
                  </a:ext>
                </a:extLst>
              </p:cNvPr>
              <p:cNvSpPr/>
              <p:nvPr/>
            </p:nvSpPr>
            <p:spPr>
              <a:xfrm>
                <a:off x="9204344" y="4346265"/>
                <a:ext cx="1981200" cy="36375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supp</m:t>
                      </m:r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6AFE62AE-7D41-6B31-B44D-7562066118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4344" y="4346265"/>
                <a:ext cx="1981200" cy="363757"/>
              </a:xfrm>
              <a:prstGeom prst="rect">
                <a:avLst/>
              </a:prstGeom>
              <a:blipFill>
                <a:blip r:embed="rId4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0D921752-266B-5B5F-A7EA-F8F791E507D1}"/>
              </a:ext>
            </a:extLst>
          </p:cNvPr>
          <p:cNvSpPr/>
          <p:nvPr/>
        </p:nvSpPr>
        <p:spPr>
          <a:xfrm>
            <a:off x="10194944" y="3774707"/>
            <a:ext cx="990600" cy="36375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9E66C62-DDFF-9E13-51CF-3EA01EC64B78}"/>
              </a:ext>
            </a:extLst>
          </p:cNvPr>
          <p:cNvSpPr/>
          <p:nvPr/>
        </p:nvSpPr>
        <p:spPr>
          <a:xfrm>
            <a:off x="8213744" y="4346265"/>
            <a:ext cx="990600" cy="36375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C8C7091-C3B1-E51A-EDA9-0E43236DEC00}"/>
                  </a:ext>
                </a:extLst>
              </p:cNvPr>
              <p:cNvSpPr txBox="1"/>
              <p:nvPr/>
            </p:nvSpPr>
            <p:spPr>
              <a:xfrm>
                <a:off x="11379555" y="3774707"/>
                <a:ext cx="1997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C8C7091-C3B1-E51A-EDA9-0E43236DE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9555" y="3774707"/>
                <a:ext cx="199798" cy="276999"/>
              </a:xfrm>
              <a:prstGeom prst="rect">
                <a:avLst/>
              </a:prstGeom>
              <a:blipFill>
                <a:blip r:embed="rId5"/>
                <a:stretch>
                  <a:fillRect l="-17647" r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706BCFC-3709-BE92-0872-B07CDABC85C7}"/>
                  </a:ext>
                </a:extLst>
              </p:cNvPr>
              <p:cNvSpPr txBox="1"/>
              <p:nvPr/>
            </p:nvSpPr>
            <p:spPr>
              <a:xfrm>
                <a:off x="11379555" y="4318450"/>
                <a:ext cx="1997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706BCFC-3709-BE92-0872-B07CDABC8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9555" y="4318450"/>
                <a:ext cx="199798" cy="276999"/>
              </a:xfrm>
              <a:prstGeom prst="rect">
                <a:avLst/>
              </a:prstGeom>
              <a:blipFill>
                <a:blip r:embed="rId6"/>
                <a:stretch>
                  <a:fillRect l="-17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4B3B9F6-58F9-34BE-7EA9-FA8AA11AF8D2}"/>
                  </a:ext>
                </a:extLst>
              </p:cNvPr>
              <p:cNvSpPr txBox="1"/>
              <p:nvPr/>
            </p:nvSpPr>
            <p:spPr>
              <a:xfrm>
                <a:off x="11212338" y="4945641"/>
                <a:ext cx="7275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zh-CN" altLang="en-US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4B3B9F6-58F9-34BE-7EA9-FA8AA11AF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2338" y="4945641"/>
                <a:ext cx="727507" cy="276999"/>
              </a:xfrm>
              <a:prstGeom prst="rect">
                <a:avLst/>
              </a:prstGeom>
              <a:blipFill>
                <a:blip r:embed="rId7"/>
                <a:stretch>
                  <a:fillRect l="-3390" r="-1695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4D637E89-238A-362E-D637-A4D62673272C}"/>
              </a:ext>
            </a:extLst>
          </p:cNvPr>
          <p:cNvSpPr/>
          <p:nvPr/>
        </p:nvSpPr>
        <p:spPr>
          <a:xfrm>
            <a:off x="10191683" y="4945642"/>
            <a:ext cx="990600" cy="363756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FD74473-D920-56E6-CAD9-05B155E05780}"/>
              </a:ext>
            </a:extLst>
          </p:cNvPr>
          <p:cNvSpPr/>
          <p:nvPr/>
        </p:nvSpPr>
        <p:spPr>
          <a:xfrm>
            <a:off x="8213744" y="4945643"/>
            <a:ext cx="990600" cy="363756"/>
          </a:xfrm>
          <a:prstGeom prst="rect">
            <a:avLst/>
          </a:prstGeom>
          <a:solidFill>
            <a:srgbClr val="92D05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16D1F7F-76E6-C990-A8DF-8B69BC7DBBA8}"/>
              </a:ext>
            </a:extLst>
          </p:cNvPr>
          <p:cNvSpPr/>
          <p:nvPr/>
        </p:nvSpPr>
        <p:spPr>
          <a:xfrm>
            <a:off x="9204344" y="4945642"/>
            <a:ext cx="755444" cy="363756"/>
          </a:xfrm>
          <a:prstGeom prst="rect">
            <a:avLst/>
          </a:prstGeom>
          <a:pattFill prst="wdUpDiag">
            <a:fgClr>
              <a:schemeClr val="accent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0FD4B5F-56FF-50B6-44FE-5BE4345A3860}"/>
              </a:ext>
            </a:extLst>
          </p:cNvPr>
          <p:cNvSpPr/>
          <p:nvPr/>
        </p:nvSpPr>
        <p:spPr>
          <a:xfrm>
            <a:off x="9956527" y="4945642"/>
            <a:ext cx="235156" cy="36375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16DC80F-950F-C0F7-6A20-F365DA4E551A}"/>
                  </a:ext>
                </a:extLst>
              </p:cNvPr>
              <p:cNvSpPr txBox="1"/>
              <p:nvPr/>
            </p:nvSpPr>
            <p:spPr>
              <a:xfrm>
                <a:off x="8851308" y="5631819"/>
                <a:ext cx="2624515" cy="5041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kumimoji="1" lang="en-US" altLang="zh-CN" sz="16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kumimoji="1" lang="en-US" altLang="zh-CN" sz="1600" i="1" smtClean="0">
                          <a:latin typeface="Cambria Math" panose="02040503050406030204" pitchFamily="18" charset="0"/>
                        </a:rPr>
                        <m:t>supp</m:t>
                      </m:r>
                      <m:r>
                        <a:rPr kumimoji="1" lang="en-US" altLang="zh-CN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16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kumimoji="1" lang="en-US" altLang="zh-CN" sz="1600" b="0" i="1" smtClean="0">
                          <a:latin typeface="Cambria Math" panose="02040503050406030204" pitchFamily="18" charset="0"/>
                        </a:rPr>
                        <m:t>)∩</m:t>
                      </m:r>
                      <m:r>
                        <m:rPr>
                          <m:sty m:val="p"/>
                        </m:rPr>
                        <a:rPr kumimoji="1" lang="en-US" altLang="zh-CN" sz="1600" i="1" smtClean="0">
                          <a:latin typeface="Cambria Math" panose="02040503050406030204" pitchFamily="18" charset="0"/>
                        </a:rPr>
                        <m:t>supp</m:t>
                      </m:r>
                      <m:r>
                        <a:rPr kumimoji="1" lang="en-US" altLang="zh-CN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16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kumimoji="1" lang="en-US" altLang="zh-CN" sz="1600" b="0" i="1" smtClean="0">
                          <a:latin typeface="Cambria Math" panose="02040503050406030204" pitchFamily="18" charset="0"/>
                        </a:rPr>
                        <m:t>)|</m:t>
                      </m:r>
                    </m:oMath>
                  </m:oMathPara>
                </a14:m>
                <a:endParaRPr kumimoji="1" lang="zh-CN" altLang="en-US" sz="16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16DC80F-950F-C0F7-6A20-F365DA4E55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1308" y="5631819"/>
                <a:ext cx="2624515" cy="504112"/>
              </a:xfrm>
              <a:prstGeom prst="rect">
                <a:avLst/>
              </a:prstGeom>
              <a:blipFill>
                <a:blip r:embed="rId8"/>
                <a:stretch>
                  <a:fillRect t="-2439" r="-962" b="-14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4826C554-15CD-0B4E-830B-A8ED1ECFB03A}"/>
              </a:ext>
            </a:extLst>
          </p:cNvPr>
          <p:cNvCxnSpPr/>
          <p:nvPr/>
        </p:nvCxnSpPr>
        <p:spPr>
          <a:xfrm>
            <a:off x="10074211" y="5417382"/>
            <a:ext cx="0" cy="2832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8732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/>
      <p:bldP spid="11" grpId="0"/>
      <p:bldP spid="12" grpId="0"/>
      <p:bldP spid="13" grpId="0" animBg="1"/>
      <p:bldP spid="14" grpId="0" animBg="1"/>
      <p:bldP spid="15" grpId="0" animBg="1"/>
      <p:bldP spid="16" grpId="0" animBg="1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1182DC3C-47C2-BB8D-AE92-EC190B866C47}"/>
              </a:ext>
            </a:extLst>
          </p:cNvPr>
          <p:cNvSpPr/>
          <p:nvPr/>
        </p:nvSpPr>
        <p:spPr>
          <a:xfrm>
            <a:off x="612647" y="1715532"/>
            <a:ext cx="9992600" cy="1484868"/>
          </a:xfrm>
          <a:prstGeom prst="roundRect">
            <a:avLst/>
          </a:prstGeom>
          <a:solidFill>
            <a:schemeClr val="accent6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25FF443-2F10-3130-FDD3-1D04C5F71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Rank-1</a:t>
            </a:r>
            <a:r>
              <a:rPr kumimoji="1" lang="zh-CN" altLang="en-US" dirty="0"/>
              <a:t> </a:t>
            </a:r>
            <a:r>
              <a:rPr kumimoji="1" lang="en-US" altLang="zh-CN" dirty="0"/>
              <a:t>Testing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via</a:t>
            </a:r>
            <a:r>
              <a:rPr kumimoji="1" lang="zh-CN" altLang="en-US" dirty="0"/>
              <a:t> </a:t>
            </a:r>
            <a:r>
              <a:rPr kumimoji="1" lang="en-US" altLang="zh-CN" dirty="0"/>
              <a:t>Hamming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Weights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1ECF7D4-17FB-2E82-BF09-37071D3BCE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>
                    <a:latin typeface="Cambria" panose="02040503050406030204" pitchFamily="18" charset="0"/>
                  </a:rPr>
                  <a:t>For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any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linear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code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sSubSup>
                      <m:sSubSup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with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distance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consider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tensor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code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⨂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have: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(1)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Some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rank-1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matrix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⨂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achieves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.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(2)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Every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rank-(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2)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matrix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𝑀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⨂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has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.</a:t>
                </a:r>
              </a:p>
              <a:p>
                <a:pPr lvl="1"/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pPr lvl="1"/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pPr lvl="1"/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r>
                  <a:rPr kumimoji="1" lang="en-US" altLang="zh-CN" dirty="0">
                    <a:latin typeface="Cambria" panose="02040503050406030204" pitchFamily="18" charset="0"/>
                  </a:rPr>
                  <a:t>Proof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(2):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Any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matrix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rank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has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two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linearly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independent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rows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endParaRPr kumimoji="1" lang="en-US" altLang="zh-CN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1ECF7D4-17FB-2E82-BF09-37071D3BCE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6535116D-1A3D-D960-4807-EE14AE5D1ABD}"/>
              </a:ext>
            </a:extLst>
          </p:cNvPr>
          <p:cNvSpPr/>
          <p:nvPr/>
        </p:nvSpPr>
        <p:spPr>
          <a:xfrm>
            <a:off x="8366747" y="3505200"/>
            <a:ext cx="1777254" cy="1609725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8E2006-C3C7-A045-2FF9-08BEC3FB4D17}"/>
              </a:ext>
            </a:extLst>
          </p:cNvPr>
          <p:cNvSpPr/>
          <p:nvPr/>
        </p:nvSpPr>
        <p:spPr>
          <a:xfrm>
            <a:off x="8366747" y="3915616"/>
            <a:ext cx="1777254" cy="218234"/>
          </a:xfrm>
          <a:prstGeom prst="rect">
            <a:avLst/>
          </a:prstGeom>
          <a:solidFill>
            <a:srgbClr val="92D05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80CAA48-00EB-0B1D-3750-F336C57E3897}"/>
              </a:ext>
            </a:extLst>
          </p:cNvPr>
          <p:cNvSpPr/>
          <p:nvPr/>
        </p:nvSpPr>
        <p:spPr>
          <a:xfrm>
            <a:off x="8366747" y="4563316"/>
            <a:ext cx="1777254" cy="218234"/>
          </a:xfrm>
          <a:prstGeom prst="rect">
            <a:avLst/>
          </a:prstGeom>
          <a:solidFill>
            <a:srgbClr val="92D05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CBBBF77-B716-466A-F7FC-5C03A14533FD}"/>
                  </a:ext>
                </a:extLst>
              </p:cNvPr>
              <p:cNvSpPr txBox="1"/>
              <p:nvPr/>
            </p:nvSpPr>
            <p:spPr>
              <a:xfrm>
                <a:off x="6942585" y="3858557"/>
                <a:ext cx="249600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CBBBF77-B716-466A-F7FC-5C03A1453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2585" y="3858557"/>
                <a:ext cx="2496003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578448B-7B29-B61A-1AEE-D7D83A7CC816}"/>
                  </a:ext>
                </a:extLst>
              </p:cNvPr>
              <p:cNvSpPr txBox="1"/>
              <p:nvPr/>
            </p:nvSpPr>
            <p:spPr>
              <a:xfrm>
                <a:off x="6942585" y="4486741"/>
                <a:ext cx="249600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578448B-7B29-B61A-1AEE-D7D83A7CC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2585" y="4486741"/>
                <a:ext cx="2496003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7345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1182DC3C-47C2-BB8D-AE92-EC190B866C47}"/>
              </a:ext>
            </a:extLst>
          </p:cNvPr>
          <p:cNvSpPr/>
          <p:nvPr/>
        </p:nvSpPr>
        <p:spPr>
          <a:xfrm>
            <a:off x="612647" y="1715532"/>
            <a:ext cx="9992600" cy="1484868"/>
          </a:xfrm>
          <a:prstGeom prst="roundRect">
            <a:avLst/>
          </a:prstGeom>
          <a:solidFill>
            <a:schemeClr val="accent6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EAF5F938-A9C2-2716-7E0A-10D579A5856A}"/>
                  </a:ext>
                </a:extLst>
              </p:cNvPr>
              <p:cNvSpPr txBox="1"/>
              <p:nvPr/>
            </p:nvSpPr>
            <p:spPr>
              <a:xfrm>
                <a:off x="6885943" y="4486741"/>
                <a:ext cx="249600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EAF5F938-A9C2-2716-7E0A-10D579A585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5943" y="4486741"/>
                <a:ext cx="2496003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825FF443-2F10-3130-FDD3-1D04C5F71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Rank-1</a:t>
            </a:r>
            <a:r>
              <a:rPr kumimoji="1" lang="zh-CN" altLang="en-US" dirty="0"/>
              <a:t> </a:t>
            </a:r>
            <a:r>
              <a:rPr kumimoji="1" lang="en-US" altLang="zh-CN" dirty="0"/>
              <a:t>Testing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via</a:t>
            </a:r>
            <a:r>
              <a:rPr kumimoji="1" lang="zh-CN" altLang="en-US" dirty="0"/>
              <a:t> </a:t>
            </a:r>
            <a:r>
              <a:rPr kumimoji="1" lang="en-US" altLang="zh-CN" dirty="0"/>
              <a:t>Hamming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Weights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1ECF7D4-17FB-2E82-BF09-37071D3BCE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>
                    <a:latin typeface="Cambria" panose="02040503050406030204" pitchFamily="18" charset="0"/>
                  </a:rPr>
                  <a:t>For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any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linear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code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sSubSup>
                      <m:sSubSup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with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distance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𝑑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consider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tensor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code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⨂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have: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(1)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Some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rank-1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matrix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𝑀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⨂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achieves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.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(2)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Every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rank-(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2)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matrix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𝑀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⨂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has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d>
                      <m:d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.</a:t>
                </a:r>
              </a:p>
              <a:p>
                <a:pPr lvl="1"/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pPr lvl="1"/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pPr lvl="1"/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r>
                  <a:rPr kumimoji="1" lang="en-US" altLang="zh-CN" dirty="0">
                    <a:latin typeface="Cambria" panose="02040503050406030204" pitchFamily="18" charset="0"/>
                  </a:rPr>
                  <a:t>Proof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(2):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Any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matrix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rank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has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two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linearly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independent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rows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By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bound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2</a:t>
                </a:r>
                <a:r>
                  <a:rPr kumimoji="1" lang="en-US" altLang="zh-CN" baseline="30000" dirty="0">
                    <a:latin typeface="Cambria" panose="02040503050406030204" pitchFamily="18" charset="0"/>
                  </a:rPr>
                  <a:t>nd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generalized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Hamming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weight,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have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joint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support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size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≥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pPr marL="228600" lvl="1" indent="0">
                  <a:buNone/>
                </a:pP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endParaRPr kumimoji="1" lang="en-US" altLang="zh-CN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1ECF7D4-17FB-2E82-BF09-37071D3BCE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6535116D-1A3D-D960-4807-EE14AE5D1ABD}"/>
              </a:ext>
            </a:extLst>
          </p:cNvPr>
          <p:cNvSpPr/>
          <p:nvPr/>
        </p:nvSpPr>
        <p:spPr>
          <a:xfrm>
            <a:off x="8310105" y="3505200"/>
            <a:ext cx="1777254" cy="1609725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8E2006-C3C7-A045-2FF9-08BEC3FB4D17}"/>
              </a:ext>
            </a:extLst>
          </p:cNvPr>
          <p:cNvSpPr/>
          <p:nvPr/>
        </p:nvSpPr>
        <p:spPr>
          <a:xfrm>
            <a:off x="8310105" y="3915616"/>
            <a:ext cx="1777254" cy="218234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80CAA48-00EB-0B1D-3750-F336C57E3897}"/>
              </a:ext>
            </a:extLst>
          </p:cNvPr>
          <p:cNvSpPr/>
          <p:nvPr/>
        </p:nvSpPr>
        <p:spPr>
          <a:xfrm>
            <a:off x="8310105" y="4563316"/>
            <a:ext cx="1777254" cy="218234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8F7269-8869-E21A-33DC-609FCDA457BE}"/>
              </a:ext>
            </a:extLst>
          </p:cNvPr>
          <p:cNvSpPr/>
          <p:nvPr/>
        </p:nvSpPr>
        <p:spPr>
          <a:xfrm>
            <a:off x="8497160" y="3915616"/>
            <a:ext cx="424227" cy="218234"/>
          </a:xfrm>
          <a:prstGeom prst="rect">
            <a:avLst/>
          </a:prstGeom>
          <a:pattFill prst="wdUpDiag">
            <a:fgClr>
              <a:schemeClr val="accent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884755B-12D1-C115-D04D-FCE7D8811D09}"/>
              </a:ext>
            </a:extLst>
          </p:cNvPr>
          <p:cNvSpPr/>
          <p:nvPr/>
        </p:nvSpPr>
        <p:spPr>
          <a:xfrm>
            <a:off x="8723026" y="4563316"/>
            <a:ext cx="399168" cy="218234"/>
          </a:xfrm>
          <a:prstGeom prst="rect">
            <a:avLst/>
          </a:prstGeom>
          <a:pattFill prst="wdUpDiag">
            <a:fgClr>
              <a:schemeClr val="accent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9F97945-6C16-EAF0-D353-41858D80FE01}"/>
              </a:ext>
            </a:extLst>
          </p:cNvPr>
          <p:cNvSpPr/>
          <p:nvPr/>
        </p:nvSpPr>
        <p:spPr>
          <a:xfrm>
            <a:off x="9371528" y="3915616"/>
            <a:ext cx="197559" cy="218234"/>
          </a:xfrm>
          <a:prstGeom prst="rect">
            <a:avLst/>
          </a:prstGeom>
          <a:pattFill prst="wdUpDiag">
            <a:fgClr>
              <a:schemeClr val="accent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F52C196-5FEC-88EC-9D7D-122BAD0FD476}"/>
              </a:ext>
            </a:extLst>
          </p:cNvPr>
          <p:cNvSpPr/>
          <p:nvPr/>
        </p:nvSpPr>
        <p:spPr>
          <a:xfrm>
            <a:off x="9901892" y="4563317"/>
            <a:ext cx="185467" cy="218234"/>
          </a:xfrm>
          <a:prstGeom prst="rect">
            <a:avLst/>
          </a:prstGeom>
          <a:pattFill prst="wdUpDiag">
            <a:fgClr>
              <a:schemeClr val="accent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0" name="肘形连接符 19">
            <a:extLst>
              <a:ext uri="{FF2B5EF4-FFF2-40B4-BE49-F238E27FC236}">
                <a16:creationId xmlns:a16="http://schemas.microsoft.com/office/drawing/2014/main" id="{A2A56365-4C80-F6A0-44E6-D2DBBAB77DAE}"/>
              </a:ext>
            </a:extLst>
          </p:cNvPr>
          <p:cNvCxnSpPr>
            <a:stCxn id="8" idx="2"/>
          </p:cNvCxnSpPr>
          <p:nvPr/>
        </p:nvCxnSpPr>
        <p:spPr>
          <a:xfrm rot="16200000" flipH="1">
            <a:off x="9431641" y="3411482"/>
            <a:ext cx="176212" cy="1620947"/>
          </a:xfrm>
          <a:prstGeom prst="bentConnector2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肘形连接符 20">
            <a:extLst>
              <a:ext uri="{FF2B5EF4-FFF2-40B4-BE49-F238E27FC236}">
                <a16:creationId xmlns:a16="http://schemas.microsoft.com/office/drawing/2014/main" id="{59993C6B-1801-9F9D-B1D1-2D7AEB5D7153}"/>
              </a:ext>
            </a:extLst>
          </p:cNvPr>
          <p:cNvCxnSpPr>
            <a:cxnSpLocks/>
            <a:stCxn id="10" idx="2"/>
          </p:cNvCxnSpPr>
          <p:nvPr/>
        </p:nvCxnSpPr>
        <p:spPr>
          <a:xfrm rot="16200000" flipH="1">
            <a:off x="9747864" y="3856293"/>
            <a:ext cx="304800" cy="859913"/>
          </a:xfrm>
          <a:prstGeom prst="bentConnector2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肘形连接符 23">
            <a:extLst>
              <a:ext uri="{FF2B5EF4-FFF2-40B4-BE49-F238E27FC236}">
                <a16:creationId xmlns:a16="http://schemas.microsoft.com/office/drawing/2014/main" id="{8378719F-05CA-65C4-EE46-B6DE994CCB5D}"/>
              </a:ext>
            </a:extLst>
          </p:cNvPr>
          <p:cNvCxnSpPr>
            <a:cxnSpLocks/>
            <a:stCxn id="9" idx="2"/>
          </p:cNvCxnSpPr>
          <p:nvPr/>
        </p:nvCxnSpPr>
        <p:spPr>
          <a:xfrm rot="16200000" flipH="1">
            <a:off x="9564082" y="4140078"/>
            <a:ext cx="124668" cy="1407612"/>
          </a:xfrm>
          <a:prstGeom prst="bentConnector2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7553A979-C299-0BA1-E8B6-5C1C13BFD212}"/>
                  </a:ext>
                </a:extLst>
              </p:cNvPr>
              <p:cNvSpPr txBox="1"/>
              <p:nvPr/>
            </p:nvSpPr>
            <p:spPr>
              <a:xfrm>
                <a:off x="6885943" y="3858557"/>
                <a:ext cx="249600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7553A979-C299-0BA1-E8B6-5C1C13BFD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5943" y="3858557"/>
                <a:ext cx="2496003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肘形连接符 32">
            <a:extLst>
              <a:ext uri="{FF2B5EF4-FFF2-40B4-BE49-F238E27FC236}">
                <a16:creationId xmlns:a16="http://schemas.microsoft.com/office/drawing/2014/main" id="{B90D494C-05F6-379E-093F-61FE2BED76DD}"/>
              </a:ext>
            </a:extLst>
          </p:cNvPr>
          <p:cNvCxnSpPr>
            <a:cxnSpLocks/>
            <a:stCxn id="11" idx="2"/>
          </p:cNvCxnSpPr>
          <p:nvPr/>
        </p:nvCxnSpPr>
        <p:spPr>
          <a:xfrm rot="16200000" flipH="1">
            <a:off x="10053308" y="4722868"/>
            <a:ext cx="218231" cy="335595"/>
          </a:xfrm>
          <a:prstGeom prst="bentConnector2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4EFDE0EB-4745-65BF-2FAB-E10BF86F7D73}"/>
                  </a:ext>
                </a:extLst>
              </p:cNvPr>
              <p:cNvSpPr txBox="1"/>
              <p:nvPr/>
            </p:nvSpPr>
            <p:spPr>
              <a:xfrm>
                <a:off x="10065400" y="4304895"/>
                <a:ext cx="2002133" cy="648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kumimoji="1" lang="en-US" altLang="zh-CN" sz="1400" dirty="0">
                    <a:latin typeface="Cambria" panose="02040503050406030204" pitchFamily="18" charset="0"/>
                  </a:rPr>
                  <a:t>joint</a:t>
                </a:r>
                <a:r>
                  <a:rPr kumimoji="1" lang="zh-CN" altLang="en-US" sz="14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400" dirty="0">
                    <a:latin typeface="Cambria" panose="02040503050406030204" pitchFamily="18" charset="0"/>
                  </a:rPr>
                  <a:t>support</a:t>
                </a:r>
                <a:r>
                  <a:rPr kumimoji="1" lang="zh-CN" altLang="en-US" sz="14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400" dirty="0">
                    <a:latin typeface="Cambria" panose="02040503050406030204" pitchFamily="18" charset="0"/>
                  </a:rPr>
                  <a:t>size</a:t>
                </a:r>
                <a:r>
                  <a:rPr kumimoji="1" lang="zh-CN" altLang="en-US" sz="14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1400" i="1" smtClean="0">
                        <a:latin typeface="Cambria Math" panose="02040503050406030204" pitchFamily="18" charset="0"/>
                      </a:rPr>
                      <m:t>≥</m:t>
                    </m:r>
                    <m:d>
                      <m:dPr>
                        <m:ctrlP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a:rPr kumimoji="1" lang="en-US" altLang="zh-CN" sz="1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CN" sz="14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4EFDE0EB-4745-65BF-2FAB-E10BF86F7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5400" y="4304895"/>
                <a:ext cx="2002133" cy="648511"/>
              </a:xfrm>
              <a:prstGeom prst="rect">
                <a:avLst/>
              </a:prstGeom>
              <a:blipFill>
                <a:blip r:embed="rId5"/>
                <a:stretch>
                  <a:fillRect t="-18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左大括号 37">
            <a:extLst>
              <a:ext uri="{FF2B5EF4-FFF2-40B4-BE49-F238E27FC236}">
                <a16:creationId xmlns:a16="http://schemas.microsoft.com/office/drawing/2014/main" id="{F21733B4-DBAA-8707-6EE9-F9402C52DEA8}"/>
              </a:ext>
            </a:extLst>
          </p:cNvPr>
          <p:cNvSpPr/>
          <p:nvPr/>
        </p:nvSpPr>
        <p:spPr>
          <a:xfrm rot="10800000">
            <a:off x="10369892" y="4293748"/>
            <a:ext cx="116635" cy="706032"/>
          </a:xfrm>
          <a:prstGeom prst="leftBrac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0566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1182DC3C-47C2-BB8D-AE92-EC190B866C47}"/>
              </a:ext>
            </a:extLst>
          </p:cNvPr>
          <p:cNvSpPr/>
          <p:nvPr/>
        </p:nvSpPr>
        <p:spPr>
          <a:xfrm>
            <a:off x="612647" y="1715532"/>
            <a:ext cx="9992600" cy="1484868"/>
          </a:xfrm>
          <a:prstGeom prst="roundRect">
            <a:avLst/>
          </a:prstGeom>
          <a:solidFill>
            <a:schemeClr val="accent6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25FF443-2F10-3130-FDD3-1D04C5F71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Rank-1</a:t>
            </a:r>
            <a:r>
              <a:rPr kumimoji="1" lang="zh-CN" altLang="en-US" dirty="0"/>
              <a:t> </a:t>
            </a:r>
            <a:r>
              <a:rPr kumimoji="1" lang="en-US" altLang="zh-CN" dirty="0"/>
              <a:t>Testing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via</a:t>
            </a:r>
            <a:r>
              <a:rPr kumimoji="1" lang="zh-CN" altLang="en-US" dirty="0"/>
              <a:t> </a:t>
            </a:r>
            <a:r>
              <a:rPr kumimoji="1" lang="en-US" altLang="zh-CN" dirty="0"/>
              <a:t>Hamming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Weights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1ECF7D4-17FB-2E82-BF09-37071D3BCE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>
                    <a:latin typeface="Cambria" panose="02040503050406030204" pitchFamily="18" charset="0"/>
                  </a:rPr>
                  <a:t>For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any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linear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code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sSubSup>
                      <m:sSubSup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with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distance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𝑑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consider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tensor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code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⨂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have: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(1)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Some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rank-1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matrix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𝑀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⨂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achieves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.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(2)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Every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rank-(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2)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matrix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𝑀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⨂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has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d>
                      <m:d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.</a:t>
                </a:r>
              </a:p>
              <a:p>
                <a:pPr lvl="1"/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pPr lvl="1"/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pPr lvl="1"/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r>
                  <a:rPr kumimoji="1" lang="en-US" altLang="zh-CN" dirty="0">
                    <a:latin typeface="Cambria" panose="02040503050406030204" pitchFamily="18" charset="0"/>
                  </a:rPr>
                  <a:t>Proof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(2):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Any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matrix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rank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has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two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linearly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independent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rows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By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bound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2</a:t>
                </a:r>
                <a:r>
                  <a:rPr kumimoji="1" lang="en-US" altLang="zh-CN" baseline="30000" dirty="0">
                    <a:latin typeface="Cambria" panose="02040503050406030204" pitchFamily="18" charset="0"/>
                  </a:rPr>
                  <a:t>nd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generalized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Hamming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weight,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have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joint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support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size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≥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For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each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column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their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joint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support,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has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weight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since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𝑀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⨂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endParaRPr kumimoji="1" lang="en-US" altLang="zh-CN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1ECF7D4-17FB-2E82-BF09-37071D3BCE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6535116D-1A3D-D960-4807-EE14AE5D1ABD}"/>
              </a:ext>
            </a:extLst>
          </p:cNvPr>
          <p:cNvSpPr/>
          <p:nvPr/>
        </p:nvSpPr>
        <p:spPr>
          <a:xfrm>
            <a:off x="8310105" y="3505200"/>
            <a:ext cx="1777254" cy="1609725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8E2006-C3C7-A045-2FF9-08BEC3FB4D17}"/>
              </a:ext>
            </a:extLst>
          </p:cNvPr>
          <p:cNvSpPr/>
          <p:nvPr/>
        </p:nvSpPr>
        <p:spPr>
          <a:xfrm>
            <a:off x="8310105" y="3915616"/>
            <a:ext cx="1777254" cy="218234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80CAA48-00EB-0B1D-3750-F336C57E3897}"/>
              </a:ext>
            </a:extLst>
          </p:cNvPr>
          <p:cNvSpPr/>
          <p:nvPr/>
        </p:nvSpPr>
        <p:spPr>
          <a:xfrm>
            <a:off x="8310105" y="4563316"/>
            <a:ext cx="1777254" cy="218234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8F7269-8869-E21A-33DC-609FCDA457BE}"/>
              </a:ext>
            </a:extLst>
          </p:cNvPr>
          <p:cNvSpPr/>
          <p:nvPr/>
        </p:nvSpPr>
        <p:spPr>
          <a:xfrm>
            <a:off x="8497160" y="3915616"/>
            <a:ext cx="424227" cy="218234"/>
          </a:xfrm>
          <a:prstGeom prst="rect">
            <a:avLst/>
          </a:prstGeom>
          <a:pattFill prst="wdUpDiag">
            <a:fgClr>
              <a:schemeClr val="accent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9F97945-6C16-EAF0-D353-41858D80FE01}"/>
              </a:ext>
            </a:extLst>
          </p:cNvPr>
          <p:cNvSpPr/>
          <p:nvPr/>
        </p:nvSpPr>
        <p:spPr>
          <a:xfrm>
            <a:off x="9371528" y="3915616"/>
            <a:ext cx="197559" cy="218234"/>
          </a:xfrm>
          <a:prstGeom prst="rect">
            <a:avLst/>
          </a:prstGeom>
          <a:pattFill prst="wdUpDiag">
            <a:fgClr>
              <a:schemeClr val="accent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B567106-402F-69B2-1FF7-9132CED06509}"/>
              </a:ext>
            </a:extLst>
          </p:cNvPr>
          <p:cNvSpPr/>
          <p:nvPr/>
        </p:nvSpPr>
        <p:spPr>
          <a:xfrm rot="5400000">
            <a:off x="7805229" y="4197130"/>
            <a:ext cx="1609725" cy="225865"/>
          </a:xfrm>
          <a:prstGeom prst="rect">
            <a:avLst/>
          </a:prstGeom>
          <a:solidFill>
            <a:schemeClr val="accent1">
              <a:lumMod val="40000"/>
              <a:lumOff val="6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8B747C7-67AD-DA25-42C5-762186BBEC83}"/>
              </a:ext>
            </a:extLst>
          </p:cNvPr>
          <p:cNvSpPr/>
          <p:nvPr/>
        </p:nvSpPr>
        <p:spPr>
          <a:xfrm>
            <a:off x="8723026" y="4563316"/>
            <a:ext cx="399168" cy="218234"/>
          </a:xfrm>
          <a:prstGeom prst="rect">
            <a:avLst/>
          </a:prstGeom>
          <a:pattFill prst="wdUpDiag">
            <a:fgClr>
              <a:schemeClr val="accent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5493CC5-B0B0-479B-4974-094D6F30AC9F}"/>
              </a:ext>
            </a:extLst>
          </p:cNvPr>
          <p:cNvSpPr/>
          <p:nvPr/>
        </p:nvSpPr>
        <p:spPr>
          <a:xfrm>
            <a:off x="9901892" y="4563317"/>
            <a:ext cx="185467" cy="218234"/>
          </a:xfrm>
          <a:prstGeom prst="rect">
            <a:avLst/>
          </a:prstGeom>
          <a:pattFill prst="wdUpDiag">
            <a:fgClr>
              <a:schemeClr val="accent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E80A9E8-5FBB-68C8-DC89-1560D7FFF9C2}"/>
              </a:ext>
            </a:extLst>
          </p:cNvPr>
          <p:cNvSpPr/>
          <p:nvPr/>
        </p:nvSpPr>
        <p:spPr>
          <a:xfrm rot="5400000">
            <a:off x="8016145" y="4211284"/>
            <a:ext cx="1609725" cy="197558"/>
          </a:xfrm>
          <a:prstGeom prst="rect">
            <a:avLst/>
          </a:prstGeom>
          <a:solidFill>
            <a:schemeClr val="accent1">
              <a:lumMod val="60000"/>
              <a:lumOff val="4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5800BB9-30C2-FE3B-CDCA-868ED70C1111}"/>
              </a:ext>
            </a:extLst>
          </p:cNvPr>
          <p:cNvSpPr/>
          <p:nvPr/>
        </p:nvSpPr>
        <p:spPr>
          <a:xfrm rot="5400000">
            <a:off x="8213708" y="4211284"/>
            <a:ext cx="1609725" cy="197558"/>
          </a:xfrm>
          <a:prstGeom prst="rect">
            <a:avLst/>
          </a:prstGeom>
          <a:solidFill>
            <a:schemeClr val="accent1">
              <a:lumMod val="60000"/>
              <a:lumOff val="4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856714F-0E98-FF2A-B9AE-67A0ED81B6AB}"/>
              </a:ext>
            </a:extLst>
          </p:cNvPr>
          <p:cNvSpPr/>
          <p:nvPr/>
        </p:nvSpPr>
        <p:spPr>
          <a:xfrm rot="5400000">
            <a:off x="8665444" y="4211283"/>
            <a:ext cx="1609725" cy="197558"/>
          </a:xfrm>
          <a:prstGeom prst="rect">
            <a:avLst/>
          </a:prstGeom>
          <a:solidFill>
            <a:schemeClr val="accent1">
              <a:lumMod val="60000"/>
              <a:lumOff val="4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23" name="肘形连接符 22">
            <a:extLst>
              <a:ext uri="{FF2B5EF4-FFF2-40B4-BE49-F238E27FC236}">
                <a16:creationId xmlns:a16="http://schemas.microsoft.com/office/drawing/2014/main" id="{35D058C1-70A7-54D3-1DCB-D5409163460E}"/>
              </a:ext>
            </a:extLst>
          </p:cNvPr>
          <p:cNvCxnSpPr>
            <a:cxnSpLocks/>
          </p:cNvCxnSpPr>
          <p:nvPr/>
        </p:nvCxnSpPr>
        <p:spPr>
          <a:xfrm>
            <a:off x="10097302" y="3756007"/>
            <a:ext cx="402180" cy="377843"/>
          </a:xfrm>
          <a:prstGeom prst="bentConnector3">
            <a:avLst>
              <a:gd name="adj1" fmla="val 99731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4B63A876-F4AE-2048-6D13-04E9654DFE97}"/>
                  </a:ext>
                </a:extLst>
              </p:cNvPr>
              <p:cNvSpPr txBox="1"/>
              <p:nvPr/>
            </p:nvSpPr>
            <p:spPr>
              <a:xfrm>
                <a:off x="9697099" y="4133850"/>
                <a:ext cx="194355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kumimoji="1" lang="en-US" altLang="zh-CN" sz="1400" dirty="0">
                    <a:latin typeface="Cambria" panose="02040503050406030204" pitchFamily="18" charset="0"/>
                  </a:rPr>
                  <a:t>every</a:t>
                </a:r>
                <a:r>
                  <a:rPr kumimoji="1" lang="zh-CN" altLang="en-US" sz="14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400" dirty="0">
                    <a:latin typeface="Cambria" panose="02040503050406030204" pitchFamily="18" charset="0"/>
                  </a:rPr>
                  <a:t>column</a:t>
                </a:r>
                <a:r>
                  <a:rPr kumimoji="1" lang="zh-CN" altLang="en-US" sz="14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400" dirty="0">
                    <a:latin typeface="Cambria" panose="02040503050406030204" pitchFamily="18" charset="0"/>
                  </a:rPr>
                  <a:t>also</a:t>
                </a:r>
                <a:r>
                  <a:rPr kumimoji="1" lang="zh-CN" altLang="en-US" sz="14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400" dirty="0">
                    <a:latin typeface="Cambria" panose="02040503050406030204" pitchFamily="18" charset="0"/>
                  </a:rPr>
                  <a:t>belongs</a:t>
                </a:r>
                <a:r>
                  <a:rPr kumimoji="1" lang="zh-CN" altLang="en-US" sz="14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400" dirty="0">
                    <a:latin typeface="Cambria" panose="02040503050406030204" pitchFamily="18" charset="0"/>
                  </a:rPr>
                  <a:t>to</a:t>
                </a:r>
                <a:r>
                  <a:rPr kumimoji="1" lang="zh-CN" altLang="en-US" sz="14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14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kumimoji="1" lang="en-US" altLang="zh-CN" sz="14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4B63A876-F4AE-2048-6D13-04E9654DF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7099" y="4133850"/>
                <a:ext cx="1943553" cy="523220"/>
              </a:xfrm>
              <a:prstGeom prst="rect">
                <a:avLst/>
              </a:prstGeom>
              <a:blipFill>
                <a:blip r:embed="rId3"/>
                <a:stretch>
                  <a:fillRect t="-2381" b="-119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>
            <a:extLst>
              <a:ext uri="{FF2B5EF4-FFF2-40B4-BE49-F238E27FC236}">
                <a16:creationId xmlns:a16="http://schemas.microsoft.com/office/drawing/2014/main" id="{2A5912C4-8A77-D6F6-FC38-D1F548396626}"/>
              </a:ext>
            </a:extLst>
          </p:cNvPr>
          <p:cNvSpPr/>
          <p:nvPr/>
        </p:nvSpPr>
        <p:spPr>
          <a:xfrm rot="5400000">
            <a:off x="9189762" y="4217329"/>
            <a:ext cx="1609725" cy="185467"/>
          </a:xfrm>
          <a:prstGeom prst="rect">
            <a:avLst/>
          </a:prstGeom>
          <a:solidFill>
            <a:schemeClr val="accent1">
              <a:lumMod val="60000"/>
              <a:lumOff val="4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105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40D16FC3-8D90-B9D9-4B7A-C64C213A0B8F}"/>
              </a:ext>
            </a:extLst>
          </p:cNvPr>
          <p:cNvSpPr/>
          <p:nvPr/>
        </p:nvSpPr>
        <p:spPr>
          <a:xfrm>
            <a:off x="612647" y="1715532"/>
            <a:ext cx="10575306" cy="875268"/>
          </a:xfrm>
          <a:prstGeom prst="roundRect">
            <a:avLst/>
          </a:prstGeom>
          <a:solidFill>
            <a:schemeClr val="accent6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825FF443-2F10-3130-FDD3-1D04C5F71FE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kumimoji="1" lang="en-US" altLang="zh-CN" dirty="0"/>
                  <a:t>-Balanced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Codes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825FF443-2F10-3130-FDD3-1D04C5F71F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8" t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1ECF7D4-17FB-2E82-BF09-37071D3BCE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linear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code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sSubSup>
                      <m:sSubSup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with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distance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said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to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be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-balanced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Hamming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weight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any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non-zero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codeword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.</a:t>
                </a:r>
              </a:p>
              <a:p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r>
                  <a:rPr kumimoji="1" lang="en-US" altLang="zh-CN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construction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-balanced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code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over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i="1" smtClean="0">
                            <a:latin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: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Take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Reed-Solomon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code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with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degree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𝜀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(it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has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distance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kumimoji="1" lang="zh-CN" alt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and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thus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-balanced)</a:t>
                </a:r>
              </a:p>
              <a:p>
                <a:pPr lvl="2"/>
                <a:r>
                  <a:rPr kumimoji="1" lang="en-US" altLang="zh-CN" i="1" dirty="0">
                    <a:latin typeface="Cambria" panose="02040503050406030204" pitchFamily="18" charset="0"/>
                  </a:rPr>
                  <a:t>Reed-Solomon</a:t>
                </a:r>
                <a:r>
                  <a:rPr kumimoji="1" lang="zh-CN" altLang="en-US" i="1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i="1" dirty="0">
                    <a:latin typeface="Cambria" panose="02040503050406030204" pitchFamily="18" charset="0"/>
                  </a:rPr>
                  <a:t>code:</a:t>
                </a:r>
                <a:r>
                  <a:rPr kumimoji="1" lang="zh-CN" altLang="en-US" i="1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i="1" dirty="0">
                    <a:latin typeface="Cambria" panose="02040503050406030204" pitchFamily="18" charset="0"/>
                  </a:rPr>
                  <a:t>truth</a:t>
                </a:r>
                <a:r>
                  <a:rPr kumimoji="1" lang="zh-CN" altLang="en-US" i="1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i="1" dirty="0">
                    <a:latin typeface="Cambria" panose="02040503050406030204" pitchFamily="18" charset="0"/>
                  </a:rPr>
                  <a:t>table</a:t>
                </a:r>
                <a:r>
                  <a:rPr kumimoji="1" lang="zh-CN" altLang="en-US" i="1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i="1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i="1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i="1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i="1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i="1" dirty="0">
                    <a:latin typeface="Cambria" panose="02040503050406030204" pitchFamily="18" charset="0"/>
                  </a:rPr>
                  <a:t>univariate</a:t>
                </a:r>
                <a:r>
                  <a:rPr kumimoji="1" lang="zh-CN" altLang="en-US" i="1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i="1" dirty="0">
                    <a:latin typeface="Cambria" panose="02040503050406030204" pitchFamily="18" charset="0"/>
                  </a:rPr>
                  <a:t>polynomial</a:t>
                </a:r>
                <a:r>
                  <a:rPr kumimoji="1" lang="zh-CN" altLang="en-US" i="1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i="1" dirty="0">
                    <a:latin typeface="Cambria" panose="02040503050406030204" pitchFamily="18" charset="0"/>
                  </a:rPr>
                  <a:t>(with</a:t>
                </a:r>
                <a:r>
                  <a:rPr kumimoji="1" lang="zh-CN" altLang="en-US" i="1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i="1" dirty="0">
                    <a:latin typeface="Cambria" panose="02040503050406030204" pitchFamily="18" charset="0"/>
                  </a:rPr>
                  <a:t>degree</a:t>
                </a:r>
                <a:r>
                  <a:rPr kumimoji="1" lang="zh-CN" altLang="en-US" i="1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𝜀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i="1" dirty="0">
                    <a:latin typeface="Cambria" panose="02040503050406030204" pitchFamily="18" charset="0"/>
                  </a:rPr>
                  <a:t>over</a:t>
                </a:r>
                <a:r>
                  <a:rPr kumimoji="1" lang="zh-CN" altLang="en-US" i="1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i="1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i="1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i="1" dirty="0">
                    <a:latin typeface="Cambria" panose="02040503050406030204" pitchFamily="18" charset="0"/>
                  </a:rPr>
                  <a:t>field</a:t>
                </a:r>
                <a:r>
                  <a:rPr kumimoji="1" lang="zh-CN" altLang="en-US" i="1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i="1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i="1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i="1" dirty="0">
                    <a:latin typeface="Cambria" panose="02040503050406030204" pitchFamily="18" charset="0"/>
                  </a:rPr>
                  <a:t>size</a:t>
                </a:r>
                <a:r>
                  <a:rPr kumimoji="1" lang="zh-CN" altLang="en-US" i="1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en-US" altLang="zh-CN" i="1" dirty="0">
                    <a:latin typeface="Cambria" panose="02040503050406030204" pitchFamily="18" charset="0"/>
                  </a:rPr>
                  <a:t>)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Concatenate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with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Hadamard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code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over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i="1" smtClean="0">
                            <a:latin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kumimoji="1" lang="en-US" altLang="zh-CN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1ECF7D4-17FB-2E82-BF09-37071D3BCE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5011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34F7DF22-77FA-4872-FE6E-2EC27B69A4C8}"/>
              </a:ext>
            </a:extLst>
          </p:cNvPr>
          <p:cNvSpPr/>
          <p:nvPr/>
        </p:nvSpPr>
        <p:spPr>
          <a:xfrm>
            <a:off x="612646" y="1680898"/>
            <a:ext cx="10082247" cy="2129102"/>
          </a:xfrm>
          <a:prstGeom prst="roundRect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CF35BF2-E1F4-D960-D2FB-B2B823DE5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NP-hardness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QuadEQ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A0A4A7-DE22-794C-11DD-EE68C01820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en-US" altLang="zh-CN" b="1" dirty="0">
                    <a:latin typeface="Cambria" panose="02040503050406030204" pitchFamily="18" charset="0"/>
                  </a:rPr>
                  <a:t>(Non-homogeneous)</a:t>
                </a:r>
                <a:r>
                  <a:rPr kumimoji="1" lang="zh-CN" altLang="en-US" b="1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b="1" dirty="0" err="1">
                    <a:latin typeface="Cambria" panose="02040503050406030204" pitchFamily="18" charset="0"/>
                  </a:rPr>
                  <a:t>QuadEQ</a:t>
                </a:r>
                <a:r>
                  <a:rPr kumimoji="1" lang="en-US" altLang="zh-CN" b="1" dirty="0">
                    <a:latin typeface="Cambria" panose="02040503050406030204" pitchFamily="18" charset="0"/>
                  </a:rPr>
                  <a:t>: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Input: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system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quadratic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equations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variables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over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i="1" smtClean="0">
                            <a:latin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:</a:t>
                </a:r>
                <a:br>
                  <a:rPr kumimoji="1" lang="en-US" altLang="zh-CN" dirty="0">
                    <a:latin typeface="Cambria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kumimoji="1" lang="zh-CN" alt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sub>
                              <m:sup/>
                              <m:e>
                                <m:sSubSup>
                                  <m:sSubSupPr>
                                    <m:ctrlP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sup>
                                </m:sSubSup>
                                <m:sSub>
                                  <m:sSubPr>
                                    <m:ctrlP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brk m:alnAt="7"/>
                          </m:r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b>
                    </m:sSub>
                  </m:oMath>
                </a14:m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Output: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whether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there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solution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pPr lvl="1"/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r>
                  <a:rPr kumimoji="1" lang="en-US" altLang="zh-CN" dirty="0">
                    <a:latin typeface="Cambria" panose="02040503050406030204" pitchFamily="18" charset="0"/>
                  </a:rPr>
                  <a:t>NP-hardness: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Reduce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from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Circuit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Satisfiability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Add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equation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for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each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variable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to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ensure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takes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Boolean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value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Add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equation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constraining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each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gate’s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computation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(e.g.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for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AND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gate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add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equation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A0A4A7-DE22-794C-11DD-EE68C01820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6" t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9681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F40D84E6-85AD-FB67-4293-A4A365274744}"/>
              </a:ext>
            </a:extLst>
          </p:cNvPr>
          <p:cNvSpPr/>
          <p:nvPr/>
        </p:nvSpPr>
        <p:spPr>
          <a:xfrm>
            <a:off x="612646" y="1680898"/>
            <a:ext cx="10082247" cy="2129102"/>
          </a:xfrm>
          <a:prstGeom prst="roundRect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CF35BF2-E1F4-D960-D2FB-B2B823DE5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NP-hardness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QuadEQ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A0A4A7-DE22-794C-11DD-EE68C01820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kumimoji="1" lang="en-US" altLang="zh-CN" sz="2200" b="1" dirty="0">
                    <a:latin typeface="Cambria" panose="02040503050406030204" pitchFamily="18" charset="0"/>
                  </a:rPr>
                  <a:t>(Homogeneous)</a:t>
                </a:r>
                <a:r>
                  <a:rPr kumimoji="1" lang="zh-CN" altLang="en-US" sz="2200" b="1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200" b="1" dirty="0" err="1">
                    <a:latin typeface="Cambria" panose="02040503050406030204" pitchFamily="18" charset="0"/>
                  </a:rPr>
                  <a:t>QuadEQ</a:t>
                </a:r>
                <a:r>
                  <a:rPr kumimoji="1" lang="en-US" altLang="zh-CN" sz="2200" b="1" dirty="0">
                    <a:latin typeface="Cambria" panose="02040503050406030204" pitchFamily="18" charset="0"/>
                  </a:rPr>
                  <a:t>:</a:t>
                </a:r>
              </a:p>
              <a:p>
                <a:pPr lvl="1"/>
                <a:r>
                  <a:rPr kumimoji="1" lang="en-US" altLang="zh-CN" sz="1900" dirty="0">
                    <a:latin typeface="Cambria" panose="02040503050406030204" pitchFamily="18" charset="0"/>
                  </a:rPr>
                  <a:t>Input: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dirty="0">
                    <a:latin typeface="Cambria" panose="02040503050406030204" pitchFamily="18" charset="0"/>
                  </a:rPr>
                  <a:t>system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19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dirty="0">
                    <a:latin typeface="Cambria" panose="02040503050406030204" pitchFamily="18" charset="0"/>
                  </a:rPr>
                  <a:t>quadratic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dirty="0">
                    <a:latin typeface="Cambria" panose="02040503050406030204" pitchFamily="18" charset="0"/>
                  </a:rPr>
                  <a:t>equations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dirty="0">
                    <a:latin typeface="Cambria" panose="02040503050406030204" pitchFamily="18" charset="0"/>
                  </a:rPr>
                  <a:t>on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19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dirty="0">
                    <a:latin typeface="Cambria" panose="02040503050406030204" pitchFamily="18" charset="0"/>
                  </a:rPr>
                  <a:t>variables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19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kumimoji="1" lang="en-US" altLang="zh-CN" sz="1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9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19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sz="19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kumimoji="1" lang="en-US" altLang="zh-CN" sz="1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9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19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kumimoji="1" lang="en-US" altLang="zh-CN" sz="19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dirty="0">
                    <a:latin typeface="Cambria" panose="02040503050406030204" pitchFamily="18" charset="0"/>
                  </a:rPr>
                  <a:t>over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sz="1900" i="1" smtClean="0">
                            <a:latin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kumimoji="1" lang="en-US" altLang="zh-CN" sz="19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kumimoji="1" lang="en-US" altLang="zh-CN" sz="1900" dirty="0">
                    <a:latin typeface="Cambria" panose="02040503050406030204" pitchFamily="18" charset="0"/>
                  </a:rPr>
                  <a:t>:</a:t>
                </a:r>
                <a:br>
                  <a:rPr kumimoji="1" lang="en-US" altLang="zh-CN" sz="1900" dirty="0">
                    <a:latin typeface="Cambria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1" lang="en-US" altLang="zh-CN" sz="19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kumimoji="1" lang="zh-CN" altLang="en-US" sz="190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kumimoji="1" lang="en-US" altLang="zh-CN" sz="19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zh-CN" sz="19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kumimoji="1" lang="en-US" altLang="zh-CN" sz="19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kumimoji="1" lang="en-US" altLang="zh-CN" sz="19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1" lang="en-US" altLang="zh-CN" sz="19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sz="19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sub>
                              <m:sup/>
                              <m:e>
                                <m:sSubSup>
                                  <m:sSubSupPr>
                                    <m:ctrlPr>
                                      <a:rPr kumimoji="1" lang="en-US" altLang="zh-CN" sz="1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19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1" lang="en-US" altLang="zh-CN" sz="19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kumimoji="1" lang="en-US" altLang="zh-CN" sz="1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kumimoji="1" lang="en-US" altLang="zh-CN" sz="19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kumimoji="1" lang="en-US" altLang="zh-CN" sz="1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zh-CN" sz="19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sup>
                                </m:sSubSup>
                                <m:sSub>
                                  <m:sSubPr>
                                    <m:ctrlPr>
                                      <a:rPr kumimoji="1" lang="en-US" altLang="zh-CN" sz="1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1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zh-CN" sz="19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zh-CN" sz="1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1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zh-CN" sz="19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kumimoji="1" lang="en-US" altLang="zh-CN" sz="19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</m:e>
                      <m:sub>
                        <m:r>
                          <a:rPr kumimoji="1" lang="en-US" altLang="zh-CN" sz="19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brk m:alnAt="7"/>
                          </m:rPr>
                          <a:rPr kumimoji="1" lang="en-US" altLang="zh-CN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kumimoji="1" lang="en-US" altLang="zh-CN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kumimoji="1" lang="en-US" altLang="zh-CN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kumimoji="1" lang="en-US" altLang="zh-CN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b>
                    </m:sSub>
                  </m:oMath>
                </a14:m>
                <a:endParaRPr kumimoji="1" lang="en-US" altLang="zh-CN" sz="1900" dirty="0">
                  <a:latin typeface="Cambria" panose="02040503050406030204" pitchFamily="18" charset="0"/>
                </a:endParaRPr>
              </a:p>
              <a:p>
                <a:pPr lvl="1"/>
                <a:r>
                  <a:rPr kumimoji="1" lang="en-US" altLang="zh-CN" sz="1900" dirty="0">
                    <a:latin typeface="Cambria" panose="02040503050406030204" pitchFamily="18" charset="0"/>
                  </a:rPr>
                  <a:t>Output: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dirty="0">
                    <a:latin typeface="Cambria" panose="02040503050406030204" pitchFamily="18" charset="0"/>
                  </a:rPr>
                  <a:t>whether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dirty="0">
                    <a:latin typeface="Cambria" panose="02040503050406030204" pitchFamily="18" charset="0"/>
                  </a:rPr>
                  <a:t>there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dirty="0">
                    <a:latin typeface="Cambria" panose="02040503050406030204" pitchFamily="18" charset="0"/>
                  </a:rPr>
                  <a:t>is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i="1" dirty="0">
                    <a:latin typeface="Cambria" panose="02040503050406030204" pitchFamily="18" charset="0"/>
                  </a:rPr>
                  <a:t>non-zero</a:t>
                </a:r>
                <a:r>
                  <a:rPr kumimoji="1" lang="zh-CN" altLang="en-US" sz="1900" i="1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900" dirty="0">
                    <a:latin typeface="Cambria" panose="02040503050406030204" pitchFamily="18" charset="0"/>
                  </a:rPr>
                  <a:t>solution</a:t>
                </a:r>
                <a:r>
                  <a:rPr kumimoji="1" lang="zh-CN" altLang="en-US" sz="19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19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kumimoji="1" lang="en-US" altLang="zh-CN" sz="1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9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19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sz="19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kumimoji="1" lang="en-US" altLang="zh-CN" sz="1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9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19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kumimoji="1" lang="en-US" altLang="zh-CN" sz="19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kumimoji="1" lang="en-US" altLang="zh-CN" sz="1900" dirty="0">
                  <a:latin typeface="Cambria" panose="02040503050406030204" pitchFamily="18" charset="0"/>
                </a:endParaRPr>
              </a:p>
              <a:p>
                <a:pPr lvl="1"/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r>
                  <a:rPr kumimoji="1" lang="en-US" altLang="zh-CN" dirty="0">
                    <a:latin typeface="Cambria" panose="02040503050406030204" pitchFamily="18" charset="0"/>
                  </a:rPr>
                  <a:t>NP-hardness: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Reduce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from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non-homogeneous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version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Add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variable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replacing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constant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1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Add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equation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for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each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variable,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to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ensure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takes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either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If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takes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0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some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solution,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every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also has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to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take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0,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and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this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all-0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solution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Otherwise,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brk m:alnAt="7"/>
                          </m:r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brk m:alnAt="7"/>
                              </m:rPr>
                              <a:rPr kumimoji="1"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b>
                    </m:sSub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solution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to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non-homogeneous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system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A0A4A7-DE22-794C-11DD-EE68C01820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6" t="-3030" b="-13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418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947C507E-F526-4F14-416E-C85508B43E48}"/>
              </a:ext>
            </a:extLst>
          </p:cNvPr>
          <p:cNvSpPr/>
          <p:nvPr/>
        </p:nvSpPr>
        <p:spPr>
          <a:xfrm>
            <a:off x="540931" y="3509682"/>
            <a:ext cx="9983636" cy="2680916"/>
          </a:xfrm>
          <a:prstGeom prst="roundRect">
            <a:avLst/>
          </a:prstGeom>
          <a:solidFill>
            <a:schemeClr val="accent2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998041D-B5CE-4513-993C-2FE59224F2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2647" y="1715532"/>
                <a:ext cx="11110651" cy="4593828"/>
              </a:xfrm>
            </p:spPr>
            <p:txBody>
              <a:bodyPr>
                <a:normAutofit/>
              </a:bodyPr>
              <a:lstStyle/>
              <a:p>
                <a:r>
                  <a:rPr kumimoji="1" lang="en-US" altLang="zh-CN" dirty="0">
                    <a:latin typeface="Cambria" panose="02040503050406030204" pitchFamily="18" charset="0"/>
                  </a:rPr>
                  <a:t>Take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Homo-</a:t>
                </a:r>
                <a:r>
                  <a:rPr kumimoji="1" lang="en-US" altLang="zh-CN" dirty="0" err="1">
                    <a:latin typeface="Cambria" panose="02040503050406030204" pitchFamily="18" charset="0"/>
                  </a:rPr>
                  <a:t>QuadEQ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 instance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d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kumimoji="1"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∈[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]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.</a:t>
                </a:r>
              </a:p>
              <a:p>
                <a:r>
                  <a:rPr kumimoji="1" lang="en-US" altLang="zh-CN" dirty="0">
                    <a:latin typeface="Cambria" panose="02040503050406030204" pitchFamily="18" charset="0"/>
                  </a:rPr>
                  <a:t>Let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be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generating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matrix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-balanced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code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zh-CN" alt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with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distance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.</a:t>
                </a:r>
              </a:p>
              <a:p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r>
                  <a:rPr kumimoji="1" lang="en-US" altLang="zh-CN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output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MDP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instance: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subspace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matrices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𝐺𝑋</m:t>
                      </m:r>
                      <m:sSup>
                        <m:sSupPr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CN" alt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bSup>
                        <m:sSubSupPr>
                          <m:ctrlPr>
                            <a:rPr kumimoji="1"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𝔽</m:t>
                          </m:r>
                        </m:e>
                        <m:sub>
                          <m:r>
                            <a:rPr kumimoji="1"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sub>
                        <m:sup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br>
                  <a:rPr kumimoji="1" lang="en-US" altLang="zh-CN" sz="1800" dirty="0">
                    <a:latin typeface="Cambria" panose="02040503050406030204" pitchFamily="18" charset="0"/>
                  </a:rPr>
                </a:br>
                <a:r>
                  <a:rPr kumimoji="1" lang="en-US" altLang="zh-CN" sz="1800" dirty="0">
                    <a:latin typeface="Cambria" panose="02040503050406030204" pitchFamily="18" charset="0"/>
                  </a:rPr>
                  <a:t>         with</a:t>
                </a:r>
                <a:r>
                  <a:rPr kumimoji="1" lang="zh-CN" altLang="en-US" sz="18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1800" dirty="0">
                    <a:latin typeface="Cambria" panose="02040503050406030204" pitchFamily="18" charset="0"/>
                  </a:rPr>
                  <a:t>constraints</a:t>
                </a:r>
                <a:endParaRPr kumimoji="1" lang="en-US" altLang="zh-CN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kumimoji="1" lang="en-US" altLang="zh-CN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kumimoji="1" lang="zh-CN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kumimoji="1"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brk m:alnAt="7"/>
                              </m:rPr>
                              <a:rPr kumimoji="1"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b>
                      <m:sup/>
                      <m:e>
                        <m:sSubSup>
                          <m:sSubSupPr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d>
                              <m:dPr>
                                <m:ctrlPr>
                                  <a:rPr kumimoji="1"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bSup>
                        <m:sSub>
                          <m:sSub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en-US" altLang="zh-CN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998041D-B5CE-4513-993C-2FE59224F2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2647" y="1715532"/>
                <a:ext cx="11110651" cy="4593828"/>
              </a:xfrm>
              <a:blipFill>
                <a:blip r:embed="rId2"/>
                <a:stretch>
                  <a:fillRect l="-457" b="-85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F0939844-7165-D2D3-9F63-F8C7D713F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Reducing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Homo-</a:t>
            </a:r>
            <a:r>
              <a:rPr kumimoji="1" lang="en-US" altLang="zh-CN" dirty="0" err="1"/>
              <a:t>QuadEQ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gap</a:t>
            </a:r>
            <a:r>
              <a:rPr kumimoji="1" lang="zh-CN" altLang="en-US" dirty="0"/>
              <a:t> </a:t>
            </a:r>
            <a:r>
              <a:rPr kumimoji="1" lang="en-US" altLang="zh-CN" dirty="0"/>
              <a:t>MDP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1820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939844-7165-D2D3-9F63-F8C7D713F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Reducing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Homo-</a:t>
            </a:r>
            <a:r>
              <a:rPr kumimoji="1" lang="en-US" altLang="zh-CN" dirty="0" err="1"/>
              <a:t>QuadEQ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gap</a:t>
            </a:r>
            <a:r>
              <a:rPr kumimoji="1" lang="zh-CN" altLang="en-US" dirty="0"/>
              <a:t> </a:t>
            </a:r>
            <a:r>
              <a:rPr kumimoji="1" lang="en-US" altLang="zh-CN" dirty="0"/>
              <a:t>MDP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998041D-B5CE-4513-993C-2FE59224F2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𝐺𝑋</m:t>
                        </m:r>
                        <m:sSup>
                          <m:sSupPr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kumimoji="1" lang="zh-CN" alt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kumimoji="1" lang="zh-CN" alt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zh-CN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kumimoji="1"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kumimoji="1"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brk m:alnAt="7"/>
                              </m:rPr>
                              <a:rPr kumimoji="1"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b>
                      <m:sup/>
                      <m:e>
                        <m:sSubSup>
                          <m:sSubSupPr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d>
                              <m:dPr>
                                <m:ctrlPr>
                                  <a:rPr kumimoji="1"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bSup>
                        <m:sSub>
                          <m:sSubPr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=0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r>
                  <a:rPr kumimoji="1" lang="en-US" altLang="zh-CN" dirty="0">
                    <a:latin typeface="Cambria" panose="02040503050406030204" pitchFamily="18" charset="0"/>
                  </a:rPr>
                  <a:t>(Completeness)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Let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zh-CN" altLang="en-US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be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non-zero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solution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Homo-</a:t>
                </a:r>
                <a:r>
                  <a:rPr kumimoji="1" lang="en-US" altLang="zh-CN" dirty="0" err="1">
                    <a:latin typeface="Cambria" panose="02040503050406030204" pitchFamily="18" charset="0"/>
                  </a:rPr>
                  <a:t>QuadEQ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take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kumimoji="1" lang="en-US" altLang="zh-CN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𝐺𝑋</m:t>
                    </m:r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𝐺𝑥</m:t>
                        </m:r>
                      </m:e>
                    </m:d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𝐺𝑥</m:t>
                            </m:r>
                          </m:e>
                        </m:d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which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has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weight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by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-balanced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property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998041D-B5CE-4513-993C-2FE59224F2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6" t="-74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圆角矩形 3">
            <a:extLst>
              <a:ext uri="{FF2B5EF4-FFF2-40B4-BE49-F238E27FC236}">
                <a16:creationId xmlns:a16="http://schemas.microsoft.com/office/drawing/2014/main" id="{E393743F-503D-B0E5-D2E3-77689B620B92}"/>
              </a:ext>
            </a:extLst>
          </p:cNvPr>
          <p:cNvSpPr/>
          <p:nvPr/>
        </p:nvSpPr>
        <p:spPr>
          <a:xfrm>
            <a:off x="612647" y="1680898"/>
            <a:ext cx="7661777" cy="784396"/>
          </a:xfrm>
          <a:prstGeom prst="roundRect">
            <a:avLst/>
          </a:prstGeom>
          <a:solidFill>
            <a:schemeClr val="accent2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3359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939844-7165-D2D3-9F63-F8C7D713F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Reducing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Homo-</a:t>
            </a:r>
            <a:r>
              <a:rPr kumimoji="1" lang="en-US" altLang="zh-CN" dirty="0" err="1"/>
              <a:t>QuadEQ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gap</a:t>
            </a:r>
            <a:r>
              <a:rPr kumimoji="1" lang="zh-CN" altLang="en-US" dirty="0"/>
              <a:t> </a:t>
            </a:r>
            <a:r>
              <a:rPr kumimoji="1" lang="en-US" altLang="zh-CN" dirty="0"/>
              <a:t>MDP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998041D-B5CE-4513-993C-2FE59224F2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2647" y="1715532"/>
                <a:ext cx="10745635" cy="459382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𝐺𝑋</m:t>
                        </m:r>
                        <m:sSup>
                          <m:sSupPr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kumimoji="1" lang="zh-CN" alt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kumimoji="1" lang="zh-CN" alt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zh-CN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kumimoji="1"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kumimoji="1"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brk m:alnAt="7"/>
                              </m:rPr>
                              <a:rPr kumimoji="1"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b>
                      <m:sup/>
                      <m:e>
                        <m:sSubSup>
                          <m:sSubSupPr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d>
                              <m:dPr>
                                <m:ctrlPr>
                                  <a:rPr kumimoji="1"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bSup>
                        <m:sSub>
                          <m:sSubPr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=0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r>
                  <a:rPr kumimoji="1" lang="en-US" altLang="zh-CN" dirty="0">
                    <a:latin typeface="Cambria" panose="02040503050406030204" pitchFamily="18" charset="0"/>
                  </a:rPr>
                  <a:t>(Soundness)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Suppose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Homo-</a:t>
                </a:r>
                <a:r>
                  <a:rPr kumimoji="1" lang="en-US" altLang="zh-CN" dirty="0" err="1">
                    <a:latin typeface="Cambria" panose="02040503050406030204" pitchFamily="18" charset="0"/>
                  </a:rPr>
                  <a:t>QuadEQ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has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no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non-zero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solution,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argue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)≥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.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If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rank-1,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for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some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non-zero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solution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Homo-</a:t>
                </a:r>
                <a:r>
                  <a:rPr kumimoji="1" lang="en-US" altLang="zh-CN" dirty="0" err="1">
                    <a:latin typeface="Cambria" panose="02040503050406030204" pitchFamily="18" charset="0"/>
                  </a:rPr>
                  <a:t>QuadEQ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.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If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has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rank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𝐺𝑋</m:t>
                    </m:r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matrix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⨂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with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rank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≥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.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𝐺𝑋</m:t>
                            </m:r>
                            <m:sSup>
                              <m:sSupPr>
                                <m:ctrlPr>
                                  <a:rPr kumimoji="1"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p>
                                <m:r>
                                  <a:rPr kumimoji="1" lang="en-US" altLang="zh-CN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≥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zh-CN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998041D-B5CE-4513-993C-2FE59224F2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2647" y="1715532"/>
                <a:ext cx="10745635" cy="4593828"/>
              </a:xfrm>
              <a:blipFill>
                <a:blip r:embed="rId2"/>
                <a:stretch>
                  <a:fillRect l="-472" t="-74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圆角矩形 3">
            <a:extLst>
              <a:ext uri="{FF2B5EF4-FFF2-40B4-BE49-F238E27FC236}">
                <a16:creationId xmlns:a16="http://schemas.microsoft.com/office/drawing/2014/main" id="{7B11FA5E-6D60-AB53-648F-7CA02BDBCABA}"/>
              </a:ext>
            </a:extLst>
          </p:cNvPr>
          <p:cNvSpPr/>
          <p:nvPr/>
        </p:nvSpPr>
        <p:spPr>
          <a:xfrm>
            <a:off x="612647" y="1680898"/>
            <a:ext cx="7661777" cy="784396"/>
          </a:xfrm>
          <a:prstGeom prst="roundRect">
            <a:avLst/>
          </a:prstGeom>
          <a:solidFill>
            <a:schemeClr val="accent2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9979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6EB6E-280D-839E-A2D5-C4C644F7E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Corollaries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E46779D-C126-3E50-F217-0B9F70176C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kumimoji="1" lang="en-US" altLang="zh-CN" dirty="0">
                    <a:latin typeface="Cambria" panose="02040503050406030204" pitchFamily="18" charset="0"/>
                  </a:rPr>
                  <a:t>Simple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 err="1">
                    <a:latin typeface="Cambria" panose="02040503050406030204" pitchFamily="18" charset="0"/>
                  </a:rPr>
                  <a:t>tensoring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amplifies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inapproximability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ratio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MDP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to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any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constant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assuming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NP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P;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unc>
                          <m:funcPr>
                            <m:ctrlPr>
                              <a:rPr kumimoji="1" lang="zh-CN" alt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p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sup>
                            </m:sSup>
                          </m:fName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sup>
                    </m:sSup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assuming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NP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⊈</m:t>
                    </m:r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DTIME(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unc>
                          <m:funcPr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kumimoji="1"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p>
                                <m:r>
                                  <a:rPr kumimoji="1" lang="en-US" altLang="zh-CN" i="1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kumimoji="1" lang="en-US" altLang="zh-CN" i="1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sup>
                            </m:sSup>
                          </m:fName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sup>
                    </m:sSup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)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func>
                          <m:funcPr>
                            <m:ctrlPr>
                              <a:rPr kumimoji="1" lang="zh-CN" alt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unc>
                              <m:funcPr>
                                <m:ctrlPr>
                                  <a:rPr kumimoji="1" lang="zh-CN" alt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zh-CN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e>
                        </m:func>
                      </m:sup>
                    </m:sSup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for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some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fixed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kumimoji="1" lang="en-US" altLang="zh-CN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assuming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NP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⊈</m:t>
                    </m:r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</m:e>
                      <m:sub>
                        <m:r>
                          <a:rPr kumimoji="1"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&gt;0</m:t>
                        </m:r>
                      </m:sub>
                    </m:sSub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DTIME(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kumimoji="1"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sup>
                        </m:sSup>
                      </m:sup>
                    </m:sSup>
                  </m:oMath>
                </a14:m>
                <a:r>
                  <a:rPr kumimoji="1" lang="en-US" altLang="zh-CN" dirty="0">
                    <a:latin typeface="Cambria" panose="02040503050406030204" pitchFamily="18" charset="0"/>
                  </a:rPr>
                  <a:t>)</a:t>
                </a:r>
              </a:p>
              <a:p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r>
                  <a:rPr kumimoji="1" lang="en-US" altLang="zh-CN" dirty="0">
                    <a:latin typeface="Cambria" panose="02040503050406030204" pitchFamily="18" charset="0"/>
                  </a:rPr>
                  <a:t>Same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inapproximability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ratios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for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NCP: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same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reduction,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but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from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Non-Homo-</a:t>
                </a:r>
                <a:r>
                  <a:rPr kumimoji="1" lang="en-US" altLang="zh-CN" dirty="0" err="1">
                    <a:latin typeface="Cambria" panose="02040503050406030204" pitchFamily="18" charset="0"/>
                  </a:rPr>
                  <a:t>QuadEQ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to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get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mild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constant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gap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then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amplify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gap,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which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bit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non-trivial</a:t>
                </a:r>
              </a:p>
              <a:p>
                <a:r>
                  <a:rPr kumimoji="1" lang="en-US" altLang="zh-CN" dirty="0">
                    <a:latin typeface="Cambria" panose="02040503050406030204" pitchFamily="18" charset="0"/>
                  </a:rPr>
                  <a:t>An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alternative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way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to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get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NCP: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in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our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(YES)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case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MDP,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there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coordinate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which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always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takes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1</a:t>
                </a:r>
              </a:p>
              <a:p>
                <a:pPr lvl="1"/>
                <a:r>
                  <a:rPr kumimoji="1" lang="en-US" altLang="zh-CN" dirty="0">
                    <a:latin typeface="Cambria" panose="02040503050406030204" pitchFamily="18" charset="0"/>
                  </a:rPr>
                  <a:t>don’t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need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to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worry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about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all-0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solutions</a:t>
                </a:r>
              </a:p>
              <a:p>
                <a:pPr lvl="1"/>
                <a:endParaRPr kumimoji="1" lang="en-US" altLang="zh-CN" dirty="0">
                  <a:latin typeface="Cambria" panose="02040503050406030204" pitchFamily="18" charset="0"/>
                </a:endParaRPr>
              </a:p>
              <a:p>
                <a:pPr lvl="1"/>
                <a:endParaRPr kumimoji="1" lang="en-US" altLang="zh-CN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E46779D-C126-3E50-F217-0B9F70176C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76" b="-60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24A1129E-E240-0B05-DE44-359FEA1A5294}"/>
              </a:ext>
            </a:extLst>
          </p:cNvPr>
          <p:cNvSpPr/>
          <p:nvPr/>
        </p:nvSpPr>
        <p:spPr>
          <a:xfrm>
            <a:off x="8630126" y="5420664"/>
            <a:ext cx="28565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i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Thanks!</a:t>
            </a:r>
            <a:endParaRPr lang="zh-CN" altLang="en-US" sz="5400" b="1" i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19504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Online presentation tips</Template>
  <TotalTime>2748</TotalTime>
  <Words>1608</Words>
  <Application>Microsoft Macintosh PowerPoint</Application>
  <PresentationFormat>宽屏</PresentationFormat>
  <Paragraphs>184</Paragraphs>
  <Slides>20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等线</vt:lpstr>
      <vt:lpstr>Arial</vt:lpstr>
      <vt:lpstr>Cambria</vt:lpstr>
      <vt:lpstr>Cambria Math</vt:lpstr>
      <vt:lpstr>Fira Sans</vt:lpstr>
      <vt:lpstr>Neue Haas Grotesk Text Pro</vt:lpstr>
      <vt:lpstr>VanillaVTI</vt:lpstr>
      <vt:lpstr>PCP-free Inapproximability of Nearest Codeword and Minimum Distance</vt:lpstr>
      <vt:lpstr>Error-correcting Codes</vt:lpstr>
      <vt:lpstr>Problems</vt:lpstr>
      <vt:lpstr>Problems</vt:lpstr>
      <vt:lpstr>Problems</vt:lpstr>
      <vt:lpstr>Hardness of NCP and MDP</vt:lpstr>
      <vt:lpstr>Our Results</vt:lpstr>
      <vt:lpstr>Proof Overview</vt:lpstr>
      <vt:lpstr>2nd Generalized Hamming Weight</vt:lpstr>
      <vt:lpstr>2nd Generalized Hamming Weight</vt:lpstr>
      <vt:lpstr>Rank-1 Testing via Hamming Weights</vt:lpstr>
      <vt:lpstr>Rank-1 Testing via Hamming Weights</vt:lpstr>
      <vt:lpstr>Rank-1 Testing via Hamming Weights</vt:lpstr>
      <vt:lpstr>ε-Balanced Codes</vt:lpstr>
      <vt:lpstr>NP-hardness of QuadEQ</vt:lpstr>
      <vt:lpstr>NP-hardness of QuadEQ</vt:lpstr>
      <vt:lpstr>Reducing Homo-QuadEQ to gap MDP</vt:lpstr>
      <vt:lpstr>Reducing Homo-QuadEQ to gap MDP</vt:lpstr>
      <vt:lpstr>Reducing Homo-QuadEQ to gap MDP</vt:lpstr>
      <vt:lpstr>Corollaries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轩笛 任</dc:creator>
  <cp:lastModifiedBy>轩笛 任</cp:lastModifiedBy>
  <cp:revision>22</cp:revision>
  <dcterms:created xsi:type="dcterms:W3CDTF">2025-04-22T19:22:48Z</dcterms:created>
  <dcterms:modified xsi:type="dcterms:W3CDTF">2025-05-21T22:53:02Z</dcterms:modified>
</cp:coreProperties>
</file>